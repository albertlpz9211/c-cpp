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Presentarse y encuadrar: estos temas cierran la parte de fundamentos que expusieron Abraham y David. A partir de aquí empieza la orientación a objetos, y todo lo que sigue (constructores, sobrecarga, herencia) depende de entender bien cómo se pasan los argumentos.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Insistir en que no son dos temas pegados: el bloque 8 (decaimiento) es la bisagra que los une. Anunciarlo aquí para que la sesión tenga arco.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recesos, marcados. Avisar de que habrá dos prácticas con el compilador abierto, para que traigan la computadora lista.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Fijar el vocabulario ahora ahorra confusión durante cuatro horas. En español también se dice parámetro formal y parámetro real, pero conviene usar parámetro/argumento porque es lo que aparece en la norma y en los mensajes del compilador.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 las tres llamadas en voz alta. Señalar que el argumento no tiene por qué ser una variable: puede ser cualquier expresión que produzca un valor.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 este bloque, 'por valor' y 'por referencia' se memorizan como una regla arbitraria. Con él, se deducen solas. No alargarlo: 15 minutos.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fila de la pila es la que importa hoy. La frase 'nace al llegar a su declaración y muere al salir de su ámbito' es la causa de la mitad de los errores del tema, incluidas las referencias colgantes.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marco contiene la dirección de retorno, los parámetros, las variables locales y los registros a preservar. Al volver no se borra nada: solo se mueve el puntero de pila, y la siguiente llamada reutiliza esa memoria con lo que haya quedado dentro. De ahí sale el problema de las referencias colgantes que veremos en el bloque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3 es todo el tema de hoy. Con referencia, el compilador guarda en la práctica la dirección, pero eso es un detalle de implementación: la norma solo dice que el parámetro es otro nombre del mismo objeto.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Ejecutarlo dos veces para que vean que las direcciones cambian entre ejecuciones (ASLR) pero la relación entre ellas no. Lo importante es la relación, no el valor.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Bloque largo. El clímax es el swap roto: dejar la pregunta abierta y no responderla hasta el bloque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Leerla despacio. Es la definición que hay que retener.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ejecutar, PREGUNTAR al grupo qué va a imprimir. El error esperado es creer que 'original' cambia a 999. La demostración que convence no es la explicación, son las direcciones.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que levanten la mano quienes creen que imprime 999. Sirve para medir el punto de partida del grupo.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Anticipar aquí la excepción de los arreglos crea expectativa y prepara la bisagra de la sesión. Un vector de un millón de enteros ocupa 24 bytes como objeto, pero copiarlo copia cuatro megabytes.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responder todavía. Esta pregunta abierta sostiene la primera hora y se cierra en el bloque 4 con el mismo cuerpo de función y dos símbolos de más. Dejarla escrita en el pizarrón si hay.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bloque con la pregunta en el aire. Anunciar que la respuesta llega después del receso.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cuarto punto sorprende a mucha gente: pasar un int por referencia suele ser más lento que copiarlo.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slicing es un error silencioso: compila, se ejecuta y da resultados incorrectos. Mencionarlo aquí y volver a él cuando vean herencia.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ejemplo enlaza con el tema de polimorfismo del programa del curso. Es una buena forma de mostrar que el tema de hoy no se agota hoy.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que justifica const&amp;. Si el tiempo aprieta, basta con la primera parte (contar copias).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caso además permite al compilador eliminar copias (copy elision). El tercero es semántica de movimiento: mencionarlo sin profundizar, es tema de otra sesión.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la regla que resume el bloque. Se cita en inglés porque así aparece en la guía y así la van a encontrar al buscarla.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las soluciones en voz alta al final. Si el grupo va rápido, el ejercicio 4 es el reto. Después de esto, receso de 10 minutos.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Bloque más largo de la sesión y el de mayor impacto. Empezar recordando la pregunta abierta del bloque 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reglas se derivan de la definición: si es otro nombre de algo, tiene que haber algo que nombrar desde el principio, y no puede pasar a nombrar otra cosa.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línea 'alias = otro' es la que más confunde. Insistir: una referencia no se reapunta nunca, ni con asignación ni de ninguna otra forma.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Descomentar en vivo 'int&amp; sin_inicializar;' para que vean el error del compilador: 'declaration of reference variable requires an initializer'.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momento de mayor impacto de la sesión. Mostrar los dos archivos lado a lado en el editor, no solo en la diapositiva. Hacer una pausa antes de explicar.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la versión de C obliga a escribir intercambia(&amp;x, &amp;y): la llamada avisa visualmente. En C++ la llamada se ve igual que la del paso por valor. Es el tema de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una diferencia importante frente a C, donde f(&amp;x) avisa a la vista. Es también el argumento a favor de poner const siempre que el parámetro no deba cambiar.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abrir el tema de rvalue references: es una sesión entera. Solo nombrarlo para que no les sorprenda al leer código.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Escribir const cuando el parámetro no debe cambiar convierte una intención en una garantía comprobada en compilación.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un const&amp; ligado a un temporal EXTIENDE la vida de ese temporal mientras la referencia siga viva. Es lo que permite escribir promedio({30.0, 40.0}) sin nombrar el vector.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mensajes de error de clang aquí son muy claros: 'candidate function not viable: expects an lvalue' y 'binding value of type const std::string to reference drops qualifiers'.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empieza la parte de riesgos. Es el precio de no copiar.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caso B es el más peligroso porque no hay ningún aviso. Cuando un vector supera su capacidad, reserva un bloque nuevo, mueve los elementos y libera el anterior: toda referencia, puntero o iterador al contenido queda invalidado.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contraste es la mejor explicación de qué significa 'comportamiento indefinido': no es que falle, es que no hay ninguna garantía. Ejecutar las dos versiones seguidas.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enlace estructurado (auto [a, b, c]) es de C++17 y está disponible en el estándar del curso. F.20: prefer return values to output parameters. F.21: to return multiple out values, prefer returning a struct.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Aclarar que F.20 no prohíbe T&amp;: lo que dice es que si el parámetro SOLO sale, mejor devolverlo. Si entra y sale, T&amp; es lo correcto.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Bloque de consolidación. Termina con la diapositiva que conviene que fotografíen.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la tabla de arriba abajo. Cada fila es una decisión de diseño que el lenguaje toma por ti al elegir una u otra.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 obliga a comprobar nullptr; un T&amp; te ahorra esa comprobación porque el lenguaje garantiza que hay objeto. Menos comprobaciones, menos código, menos caminos que probar.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exactamente la misma distinción de siempre, aplicada un nivel más arriba. Si lo entienden aquí, han entendido el tema completo.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regla de lectura de derecha a izquierda a partir del identificador resuelve todos los casos, incluidos los de tres niveles. Ejemplo en parámetros: void imprime(const int* datos, size_t n) promete no modificar.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Decirlo explícitamente: 'esta es la que hay que guardar'. Resume las cuatro horas en siete líneas. La última fila todavía no la hemos justificado: es el bloque 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el tiempo aprieta, este es el par de demostraciones recortable: la tabla anterior ya transmite lo esencial.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Después de esta práctica, receso de 10 minutos. Es la mitad exacta de la sesión: hasta aquí, paso de argumentos; a partir de aquí, arreglos.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mitad de la sesión. Recordar el arco: seguimos respondiendo la misma pregunta, qué le llega a la función.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Insistir: no hay ninguna otra magia. La velocidad, el índice base cero y todas las limitaciones salen de esta frase.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Algunos compiladores aceptan el VLA como extensión; con -Wpedantic avisan. Es una de las diferencias más visibles entre C y C++, y una pregunta frecuente de examen.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última fila es fuente de errores difíciles de reproducir: a veces sale cero por casualidad y el programa parece correcto.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Curiosidad que funciona bien en clase: como v[i] es *(v+i) y la suma es conmutativa, i[v] también compila y significa lo mismo. No usarlo nunca, pero explica muy bien qué es realmente el operador corchete.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for basado en rango funciona sobre un arreglo SOLO mientras el tipo conserve su tamaño. Dentro de una función que recibió el arreglo como parámetro ya no funciona. Es el anuncio del bloque 8.</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direcciones es la demostración de la contigüidad. Señalar que la diferencia entre &amp;a[0] y &amp;a[i] es siempre i*4 bytes.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Conectar con seguridad informática: este es el origen histórico del desbordamiento de búfer, una de las clases de vulnerabilidad más explotadas de la historia del software. No es un detalle académico.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14_fuera_de_rango.cpp el índice se deriva de argc precisamente para demostrar ese límite: escrito como literal, clang lo detecta; calculado en ejecución, no.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el error más frecuente del tema y el más fácil de evitar. Repetirlo como consigna: 'menor que, nunca menor o igual'.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contraste entre las dos ejecuciones es la mejor definición práctica de comportamiento indefinido que se puede dar en clase.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lista justifica el bloque 10. Guardarla: es el argumento para usar std::array en código nuevo.</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Escribir los bucles a mano primero y mostrar la biblioteca después. El orden inverso quita la práctica que necesitan para los exámenes.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Anunciarlo como el bloque bisagra. Aquí se responde por qué los dos temas de la exposición son en realidad uno.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la pregunta unos segundos. Muchos dirán 'por referencia', porque han visto que la función puede modificar el arreglo. La respuesta correcta es más interesante.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Citar la norma aquí da peso a la explicación y les enseña que el estándar es consultable: eel.is/c++draft está disponible gratis y con enlace por párrafo.</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número entre corchetes no reserva nada, no se comprueba y no impide pasar un arreglo de otro tamaño. Es puramente decorativo, y por eso engaña a tanta gente.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Clang lo detecta con -Wsizeof-array-argument. En el ejemplo 16 el aviso está silenciado con un pragma para que el proyecto compile limpio; comentarlo en vivo para mostrar el diagnóstico real.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punto contraintuitivo que hay que decir con esas palabras exactas. Enlaza con la tabla del bloque 2 donde ya se anticipó la excepción.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Descomentar en vivo una de las dos sobrecargas comentadas para mostrar el error 'redefinition of recibe_como_arreglo'.</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 la declaración con la regla de siempre: v es una referencia a un arreglo de 10 int. Es la forma idiomatica anterior a C++20.</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span no es dueño de nada: es una vista. Se pasa por valor, como un puntero, y no copia los elementos. Cuidado: puede quedar colgante igual que una referencia si el contenedor original muere o se realoja.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solo se llevan una fila, que sea la de span. Si el proyecto es C++17 o anterior, la plantilla con N deducido es la mejor alternativa.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 en el ejemplo 17 la llamada comentada que no compila: imprime_diez(tres), porque int[3] no es int[10].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Último bloque de contenido. Termina con la demostración más contundente de la sesión.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 m[i] sea una fila entera es la clave para entender el paso a funciones y el for basado en rango sobre matrices.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fórmula es la que hay que retener. Es la misma que aparece en el bloque 10 al construir una matriz sobre un vector aplanado, y la que explica la diferencia de rendimiento del final del bloque.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desplazamientos es la prueba visual de que la matriz es un solo bloque contiguo. Detenerse en ella.</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muy común. Merece la pena escribirlo mal en vivo para que vean el mensaje del compilador.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compilador necesita conocer todas las dimensiones menos la primera, porque sin el número de columnas no puede calcular i*COLUMNAS+j.</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diagrama resuelve de un golpe una de las confusiones más persistentes del tema. Dejarlo en pantalla mientras se explica.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ejemplo 21, mencionar las dos llamadas comentadas que no compilan: sumar matrices de distinto tamaño y multiplicar matrices incompatibles. Con punteros crudos esa comprobación se pierde.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partir de tres dimensiones, lo habitual en código profesional es usar un bloque lineal con la fórmula del índice, o std::mdspan, incorporado en C++23.</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la memoria se lee en bloques (líneas de caché, 64 o 128 bytes). Al leer m[i][0] el procesador trae de golpe el resto de la fila. Si el bucle avanza por la fila, esos datos ya están en caché. Si avanza por columnas, cada acceso salta a otra línea.</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la consigna que deben llevarse del bloque 9. Sirve para matrices, imágenes, tensores y cualquier dato tabulado.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Compilarlo en vivo delante del grupo. Que vean que es el mismo archivo y que solo cambia el orden de dos líneas.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rápido. El objetivo es que sepan qué escribir en código nuevo, después de haber entendido cómo funciona lo de debajo.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Insistir en que std::array no es 'más lento por ser de la biblioteca'. Es exactamente el mismo bloque de memoria, con una interfaz decente.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tercera opción es la que más se ve en trabajos de clase y la peor: N reservas independientes, memoria dispersa y un salto de puntero por fila. Decirlo explícitamente.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el resumen práctico de la sesión en veinte líneas. Si alguien pregunta por qué operator() y no operator[], decir que hasta C++23 el corchete solo admitía un argumento.</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diciendo por qué seguimos estudiando arreglos crudos: hay que saber leerlos, porque están en C, en el código heredado, en los sistemas embebidos y en las entrevistas de trabajo.</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solo recuerdan tres frases de las cuatro horas, que sean estas. Leerlas despacio.</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Mencionar que todo el material queda en el repositorio, con los ejemplos compilables y las prácticas con solución.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Tener a mano el documento 09-errores-frecuentes-y-preguntas.md, que recoge las preguntas que suele hacer el grupo con su respuesta.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Rectangle 1"/>
          <p:cNvSpPr/>
          <p:nvPr/>
        </p:nvSpPr>
        <p:spPr>
          <a:xfrm>
            <a:off x="777240" y="2148840"/>
            <a:ext cx="1828800" cy="5486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37215" cy="1645920"/>
          </a:xfrm>
          <a:prstGeom prst="rect">
            <a:avLst/>
          </a:prstGeom>
          <a:noFill/>
        </p:spPr>
        <p:txBody>
          <a:bodyPr wrap="square" lIns="0" rIns="0" tIns="0" bIns="0">
            <a:spAutoFit/>
          </a:bodyPr>
          <a:lstStyle/>
          <a:p>
            <a:r>
              <a:rPr b="1" sz="4400">
                <a:solidFill>
                  <a:srgbClr val="FFFFFF"/>
                </a:solidFill>
                <a:latin typeface="Helvetica Neue"/>
              </a:rPr>
              <a:t>Paso de argumentos y arreglos en C++</a:t>
            </a:r>
          </a:p>
        </p:txBody>
      </p:sp>
      <p:sp>
        <p:nvSpPr>
          <p:cNvPr id="4" name="TextBox 3"/>
          <p:cNvSpPr txBox="1"/>
          <p:nvPr/>
        </p:nvSpPr>
        <p:spPr>
          <a:xfrm>
            <a:off x="777240" y="3977639"/>
            <a:ext cx="10637215" cy="548640"/>
          </a:xfrm>
          <a:prstGeom prst="rect">
            <a:avLst/>
          </a:prstGeom>
          <a:noFill/>
        </p:spPr>
        <p:txBody>
          <a:bodyPr wrap="square" lIns="0" rIns="0" tIns="0" bIns="0">
            <a:spAutoFit/>
          </a:bodyPr>
          <a:lstStyle/>
          <a:p>
            <a:r>
              <a:rPr b="0" sz="2000">
                <a:solidFill>
                  <a:srgbClr val="9FC4C4"/>
                </a:solidFill>
                <a:latin typeface="Helvetica Neue"/>
              </a:rPr>
              <a:t>Por valor · por referencia · arreglos y arreglos multidimensionales</a:t>
            </a:r>
          </a:p>
        </p:txBody>
      </p:sp>
      <p:sp>
        <p:nvSpPr>
          <p:cNvPr id="5" name="TextBox 4"/>
          <p:cNvSpPr txBox="1"/>
          <p:nvPr/>
        </p:nvSpPr>
        <p:spPr>
          <a:xfrm>
            <a:off x="777240" y="5120640"/>
            <a:ext cx="10637215" cy="914400"/>
          </a:xfrm>
          <a:prstGeom prst="rect">
            <a:avLst/>
          </a:prstGeom>
          <a:noFill/>
        </p:spPr>
        <p:txBody>
          <a:bodyPr wrap="square" lIns="0" rIns="0" tIns="0" bIns="0">
            <a:spAutoFit/>
          </a:bodyPr>
          <a:lstStyle/>
          <a:p>
            <a:r>
              <a:rPr b="0" sz="1700">
                <a:solidFill>
                  <a:srgbClr val="FFFFFF"/>
                </a:solidFill>
                <a:latin typeface="Helvetica Neue"/>
              </a:rPr>
              <a:t>Alberto López</a:t>
            </a:r>
          </a:p>
          <a:p>
            <a:pPr>
              <a:spcBef>
                <a:spcPts val="600"/>
              </a:spcBef>
            </a:pPr>
            <a:r>
              <a:rPr b="0" sz="1400">
                <a:solidFill>
                  <a:srgbClr val="8E9EAB"/>
                </a:solidFill>
                <a:latin typeface="Helvetica Neue"/>
              </a:rPr>
              <a:t>Programación Avanzada · Maestría en Ciencias e Ingeniería · UACBI, UAN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Lo que vamos a ver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El hilo de la sesión</a:t>
            </a:r>
          </a:p>
        </p:txBody>
      </p:sp>
      <p:sp>
        <p:nvSpPr>
          <p:cNvPr id="5" name="TextBox 4"/>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1" sz="1900">
                <a:solidFill>
                  <a:srgbClr val="142638"/>
                </a:solidFill>
                <a:latin typeface="Helvetica Neue"/>
              </a:rPr>
              <a:t>Una sola pregunta</a:t>
            </a:r>
            <a:r>
              <a:rPr b="0" sz="1900">
                <a:solidFill>
                  <a:srgbClr val="2E3A46"/>
                </a:solidFill>
                <a:latin typeface="Helvetica Neue"/>
              </a:rPr>
              <a:t> sostiene las cuatro horas: ¿qué le llega realmente a una función cuando la llamas?</a:t>
            </a:r>
          </a:p>
          <a:p>
            <a:pPr marL="301752" indent="-301752">
              <a:spcBef>
                <a:spcPts val="1100"/>
              </a:spcBef>
            </a:pPr>
            <a:r>
              <a:rPr sz="1900">
                <a:solidFill>
                  <a:srgbClr val="0B6E6E"/>
                </a:solidFill>
                <a:latin typeface="Helvetica Neue"/>
              </a:rPr>
              <a:t>•  </a:t>
            </a:r>
            <a:r>
              <a:rPr b="0" sz="1900">
                <a:solidFill>
                  <a:srgbClr val="2E3A46"/>
                </a:solidFill>
                <a:latin typeface="Helvetica Neue"/>
              </a:rPr>
              <a:t>Tres respuestas posibles: una </a:t>
            </a:r>
            <a:r>
              <a:rPr b="1" sz="1900">
                <a:solidFill>
                  <a:srgbClr val="142638"/>
                </a:solidFill>
                <a:latin typeface="Helvetica Neue"/>
              </a:rPr>
              <a:t>copia</a:t>
            </a:r>
            <a:r>
              <a:rPr b="0" sz="1900">
                <a:solidFill>
                  <a:srgbClr val="2E3A46"/>
                </a:solidFill>
                <a:latin typeface="Helvetica Neue"/>
              </a:rPr>
              <a:t> del dato, un </a:t>
            </a:r>
            <a:r>
              <a:rPr b="1" sz="1900">
                <a:solidFill>
                  <a:srgbClr val="142638"/>
                </a:solidFill>
                <a:latin typeface="Helvetica Neue"/>
              </a:rPr>
              <a:t>alias</a:t>
            </a:r>
            <a:r>
              <a:rPr b="0" sz="1900">
                <a:solidFill>
                  <a:srgbClr val="2E3A46"/>
                </a:solidFill>
                <a:latin typeface="Helvetica Neue"/>
              </a:rPr>
              <a:t> del original, o una </a:t>
            </a:r>
            <a:r>
              <a:rPr b="1" sz="1900">
                <a:solidFill>
                  <a:srgbClr val="142638"/>
                </a:solidFill>
                <a:latin typeface="Helvetica Neue"/>
              </a:rPr>
              <a:t>dirección</a:t>
            </a:r>
            <a:r>
              <a:rPr b="0" sz="1900">
                <a:solidFill>
                  <a:srgbClr val="2E3A46"/>
                </a:solidFill>
                <a:latin typeface="Helvetica Neue"/>
              </a:rPr>
              <a:t>.</a:t>
            </a:r>
          </a:p>
          <a:p>
            <a:pPr marL="301752" indent="-301752">
              <a:spcBef>
                <a:spcPts val="1100"/>
              </a:spcBef>
            </a:pPr>
            <a:r>
              <a:rPr sz="1900">
                <a:solidFill>
                  <a:srgbClr val="0B6E6E"/>
                </a:solidFill>
                <a:latin typeface="Helvetica Neue"/>
              </a:rPr>
              <a:t>•  </a:t>
            </a:r>
            <a:r>
              <a:rPr b="0" sz="1900">
                <a:solidFill>
                  <a:srgbClr val="2E3A46"/>
                </a:solidFill>
                <a:latin typeface="Helvetica Neue"/>
              </a:rPr>
              <a:t>El paso por valor y el paso por referencia son las dos primeras.</a:t>
            </a:r>
          </a:p>
          <a:p>
            <a:pPr marL="301752" indent="-301752">
              <a:spcBef>
                <a:spcPts val="1100"/>
              </a:spcBef>
            </a:pPr>
            <a:r>
              <a:rPr sz="1900">
                <a:solidFill>
                  <a:srgbClr val="0B6E6E"/>
                </a:solidFill>
                <a:latin typeface="Helvetica Neue"/>
              </a:rPr>
              <a:t>•  </a:t>
            </a:r>
            <a:r>
              <a:rPr b="0" sz="1900">
                <a:solidFill>
                  <a:srgbClr val="2E3A46"/>
                </a:solidFill>
                <a:latin typeface="Helvetica Neue"/>
              </a:rPr>
              <a:t>Los arreglos son la tercera, y por eso se ven en la misma sesión.</a:t>
            </a:r>
          </a:p>
          <a:p>
            <a:pPr marL="301752" indent="-301752">
              <a:spcBef>
                <a:spcPts val="1100"/>
              </a:spcBef>
            </a:pPr>
            <a:r>
              <a:rPr sz="1900">
                <a:solidFill>
                  <a:srgbClr val="0B6E6E"/>
                </a:solidFill>
                <a:latin typeface="Helvetica Neue"/>
              </a:rPr>
              <a:t>•  </a:t>
            </a:r>
            <a:r>
              <a:rPr b="0" sz="1900">
                <a:solidFill>
                  <a:srgbClr val="2E3A46"/>
                </a:solidFill>
                <a:latin typeface="Helvetica Neue"/>
              </a:rPr>
              <a:t>Cada bloque termina con </a:t>
            </a:r>
            <a:r>
              <a:rPr b="1" sz="1900">
                <a:solidFill>
                  <a:srgbClr val="142638"/>
                </a:solidFill>
                <a:latin typeface="Helvetica Neue"/>
              </a:rPr>
              <a:t>código ejecutándose</a:t>
            </a:r>
            <a:r>
              <a:rPr b="0" sz="1900">
                <a:solidFill>
                  <a:srgbClr val="2E3A46"/>
                </a:solidFill>
                <a:latin typeface="Helvetica Neue"/>
              </a:rPr>
              <a:t>, no con una diapositiva.</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Programa de la sesión</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3" cy="4572000"/>
        </p:xfrm>
        <a:graphic>
          <a:graphicData uri="http://schemas.openxmlformats.org/drawingml/2006/table">
            <a:tbl>
              <a:tblPr firstRow="1" bandRow="1">
                <a:tableStyleId>{5C22544A-7EE6-4342-B048-85BDC9FD1C3A}</a:tableStyleId>
              </a:tblPr>
              <a:tblGrid>
                <a:gridCol w="1181912"/>
                <a:gridCol w="8273389"/>
                <a:gridCol w="1181912"/>
              </a:tblGrid>
              <a:tr h="326571">
                <a:tc>
                  <a:txBody>
                    <a:bodyPr/>
                    <a:lstStyle/>
                    <a:p>
                      <a:r>
                        <a:rPr b="1" sz="1300">
                          <a:solidFill>
                            <a:srgbClr val="FFFFFF"/>
                          </a:solidFill>
                          <a:latin typeface="Helvetica Neue"/>
                        </a:rPr>
                        <a:t>Bloque</a:t>
                      </a:r>
                    </a:p>
                  </a:txBody>
                  <a:tcPr anchor="ctr" marL="109728" marR="109728">
                    <a:solidFill>
                      <a:srgbClr val="142638"/>
                    </a:solidFill>
                  </a:tcPr>
                </a:tc>
                <a:tc>
                  <a:txBody>
                    <a:bodyPr/>
                    <a:lstStyle/>
                    <a:p>
                      <a:r>
                        <a:rPr b="1" sz="1300">
                          <a:solidFill>
                            <a:srgbClr val="FFFFFF"/>
                          </a:solidFill>
                          <a:latin typeface="Helvetica Neue"/>
                        </a:rPr>
                        <a:t>Contenido</a:t>
                      </a:r>
                    </a:p>
                  </a:txBody>
                  <a:tcPr anchor="ctr" marL="109728" marR="109728">
                    <a:solidFill>
                      <a:srgbClr val="142638"/>
                    </a:solidFill>
                  </a:tcPr>
                </a:tc>
                <a:tc>
                  <a:txBody>
                    <a:bodyPr/>
                    <a:lstStyle/>
                    <a:p>
                      <a:r>
                        <a:rPr b="1" sz="1300">
                          <a:solidFill>
                            <a:srgbClr val="FFFFFF"/>
                          </a:solidFill>
                          <a:latin typeface="Helvetica Neue"/>
                        </a:rPr>
                        <a:t>Min</a:t>
                      </a:r>
                    </a:p>
                  </a:txBody>
                  <a:tcPr anchor="ctr" marL="109728" marR="109728">
                    <a:solidFill>
                      <a:srgbClr val="142638"/>
                    </a:solidFill>
                  </a:tcPr>
                </a:tc>
              </a:tr>
              <a:tr h="326571">
                <a:tc>
                  <a:txBody>
                    <a:bodyPr/>
                    <a:lstStyle/>
                    <a:p>
                      <a:r>
                        <a:rPr b="0" sz="1300">
                          <a:solidFill>
                            <a:srgbClr val="2E3A46"/>
                          </a:solidFill>
                          <a:latin typeface="Helvetica Neue"/>
                        </a:rPr>
                        <a:t>0</a:t>
                      </a:r>
                    </a:p>
                  </a:txBody>
                  <a:tcPr anchor="ctr" marL="109728" marR="109728">
                    <a:solidFill>
                      <a:srgbClr val="FFFFFF"/>
                    </a:solidFill>
                  </a:tcPr>
                </a:tc>
                <a:tc>
                  <a:txBody>
                    <a:bodyPr/>
                    <a:lstStyle/>
                    <a:p>
                      <a:r>
                        <a:rPr b="0" sz="1300">
                          <a:solidFill>
                            <a:srgbClr val="2E3A46"/>
                          </a:solidFill>
                          <a:latin typeface="Helvetica Neue"/>
                        </a:rPr>
                        <a:t>Apertura y repaso de funciones</a:t>
                      </a:r>
                    </a:p>
                  </a:txBody>
                  <a:tcPr anchor="ctr" marL="109728" marR="109728">
                    <a:solidFill>
                      <a:srgbClr val="FFFFFF"/>
                    </a:solidFill>
                  </a:tcPr>
                </a:tc>
                <a:tc>
                  <a:txBody>
                    <a:bodyPr/>
                    <a:lstStyle/>
                    <a:p>
                      <a:r>
                        <a:rPr b="0" sz="1300">
                          <a:solidFill>
                            <a:srgbClr val="2E3A46"/>
                          </a:solidFill>
                          <a:latin typeface="Helvetica Neue"/>
                        </a:rPr>
                        <a:t>10</a:t>
                      </a:r>
                    </a:p>
                  </a:txBody>
                  <a:tcPr anchor="ctr" marL="109728" marR="109728">
                    <a:solidFill>
                      <a:srgbClr val="FFFFFF"/>
                    </a:solidFill>
                  </a:tcPr>
                </a:tc>
              </a:tr>
              <a:tr h="326571">
                <a:tc>
                  <a:txBody>
                    <a:bodyPr/>
                    <a:lstStyle/>
                    <a:p>
                      <a:r>
                        <a:rPr b="0" sz="1300">
                          <a:solidFill>
                            <a:srgbClr val="2E3A46"/>
                          </a:solidFill>
                          <a:latin typeface="Helvetica Neue"/>
                        </a:rPr>
                        <a:t>1</a:t>
                      </a:r>
                    </a:p>
                  </a:txBody>
                  <a:tcPr anchor="ctr" marL="109728" marR="109728">
                    <a:solidFill>
                      <a:srgbClr val="F2F4F3"/>
                    </a:solidFill>
                  </a:tcPr>
                </a:tc>
                <a:tc>
                  <a:txBody>
                    <a:bodyPr/>
                    <a:lstStyle/>
                    <a:p>
                      <a:r>
                        <a:rPr b="0" sz="1300">
                          <a:solidFill>
                            <a:srgbClr val="2E3A46"/>
                          </a:solidFill>
                          <a:latin typeface="Helvetica Neue"/>
                        </a:rPr>
                        <a:t>Modelo de memoria y mecánica de la llamada</a:t>
                      </a:r>
                    </a:p>
                  </a:txBody>
                  <a:tcPr anchor="ctr" marL="109728" marR="109728">
                    <a:solidFill>
                      <a:srgbClr val="F2F4F3"/>
                    </a:solidFill>
                  </a:tcPr>
                </a:tc>
                <a:tc>
                  <a:txBody>
                    <a:bodyPr/>
                    <a:lstStyle/>
                    <a:p>
                      <a:r>
                        <a:rPr b="0" sz="1300">
                          <a:solidFill>
                            <a:srgbClr val="2E3A46"/>
                          </a:solidFill>
                          <a:latin typeface="Helvetica Neue"/>
                        </a:rPr>
                        <a:t>15</a:t>
                      </a:r>
                    </a:p>
                  </a:txBody>
                  <a:tcPr anchor="ctr" marL="109728" marR="109728">
                    <a:solidFill>
                      <a:srgbClr val="F2F4F3"/>
                    </a:solidFill>
                  </a:tcPr>
                </a:tc>
              </a:tr>
              <a:tr h="326571">
                <a:tc>
                  <a:txBody>
                    <a:bodyPr/>
                    <a:lstStyle/>
                    <a:p>
                      <a:r>
                        <a:rPr b="0" sz="1300">
                          <a:solidFill>
                            <a:srgbClr val="2E3A46"/>
                          </a:solidFill>
                          <a:latin typeface="Helvetica Neue"/>
                        </a:rPr>
                        <a:t>2</a:t>
                      </a:r>
                    </a:p>
                  </a:txBody>
                  <a:tcPr anchor="ctr" marL="109728" marR="109728">
                    <a:solidFill>
                      <a:srgbClr val="FFFFFF"/>
                    </a:solidFill>
                  </a:tcPr>
                </a:tc>
                <a:tc>
                  <a:txBody>
                    <a:bodyPr/>
                    <a:lstStyle/>
                    <a:p>
                      <a:r>
                        <a:rPr b="0" sz="1300">
                          <a:solidFill>
                            <a:srgbClr val="2E3A46"/>
                          </a:solidFill>
                          <a:latin typeface="Helvetica Neue"/>
                        </a:rPr>
                        <a:t>Paso por valor</a:t>
                      </a:r>
                    </a:p>
                  </a:txBody>
                  <a:tcPr anchor="ctr" marL="109728" marR="109728">
                    <a:solidFill>
                      <a:srgbClr val="FFFFFF"/>
                    </a:solidFill>
                  </a:tcPr>
                </a:tc>
                <a:tc>
                  <a:txBody>
                    <a:bodyPr/>
                    <a:lstStyle/>
                    <a:p>
                      <a:r>
                        <a:rPr b="0" sz="1300">
                          <a:solidFill>
                            <a:srgbClr val="2E3A46"/>
                          </a:solidFill>
                          <a:latin typeface="Helvetica Neue"/>
                        </a:rPr>
                        <a:t>30</a:t>
                      </a:r>
                    </a:p>
                  </a:txBody>
                  <a:tcPr anchor="ctr" marL="109728" marR="109728">
                    <a:solidFill>
                      <a:srgbClr val="FFFFFF"/>
                    </a:solidFill>
                  </a:tcPr>
                </a:tc>
              </a:tr>
              <a:tr h="326571">
                <a:tc>
                  <a:txBody>
                    <a:bodyPr/>
                    <a:lstStyle/>
                    <a:p>
                      <a:r>
                        <a:rPr b="0" sz="1300">
                          <a:solidFill>
                            <a:srgbClr val="2E3A46"/>
                          </a:solidFill>
                          <a:latin typeface="Helvetica Neue"/>
                        </a:rPr>
                        <a:t>3</a:t>
                      </a:r>
                    </a:p>
                  </a:txBody>
                  <a:tcPr anchor="ctr" marL="109728" marR="109728">
                    <a:solidFill>
                      <a:srgbClr val="F2F4F3"/>
                    </a:solidFill>
                  </a:tcPr>
                </a:tc>
                <a:tc>
                  <a:txBody>
                    <a:bodyPr/>
                    <a:lstStyle/>
                    <a:p>
                      <a:r>
                        <a:rPr b="0" sz="1300">
                          <a:solidFill>
                            <a:srgbClr val="2E3A46"/>
                          </a:solidFill>
                          <a:latin typeface="Helvetica Neue"/>
                        </a:rPr>
                        <a:t>Práctica guiada 1</a:t>
                      </a:r>
                    </a:p>
                  </a:txBody>
                  <a:tcPr anchor="ctr" marL="109728" marR="109728">
                    <a:solidFill>
                      <a:srgbClr val="F2F4F3"/>
                    </a:solidFill>
                  </a:tcPr>
                </a:tc>
                <a:tc>
                  <a:txBody>
                    <a:bodyPr/>
                    <a:lstStyle/>
                    <a:p>
                      <a:r>
                        <a:rPr b="0" sz="1300">
                          <a:solidFill>
                            <a:srgbClr val="2E3A46"/>
                          </a:solidFill>
                          <a:latin typeface="Helvetica Neue"/>
                        </a:rPr>
                        <a:t>15</a:t>
                      </a:r>
                    </a:p>
                  </a:txBody>
                  <a:tcPr anchor="ctr" marL="109728" marR="109728">
                    <a:solidFill>
                      <a:srgbClr val="F2F4F3"/>
                    </a:solidFill>
                  </a:tcPr>
                </a:tc>
              </a:tr>
              <a:tr h="326571">
                <a:tc>
                  <a:txBody>
                    <a:bodyPr/>
                    <a:lstStyle/>
                    <a:p/>
                  </a:txBody>
                  <a:tcPr anchor="ctr" marL="109728" marR="109728">
                    <a:solidFill>
                      <a:srgbClr val="FFFFFF"/>
                    </a:solidFill>
                  </a:tcPr>
                </a:tc>
                <a:tc>
                  <a:txBody>
                    <a:bodyPr/>
                    <a:lstStyle/>
                    <a:p>
                      <a:r>
                        <a:rPr b="0" sz="1300">
                          <a:solidFill>
                            <a:srgbClr val="2E3A46"/>
                          </a:solidFill>
                          <a:latin typeface="Helvetica Neue"/>
                        </a:rPr>
                        <a:t>Receso</a:t>
                      </a:r>
                    </a:p>
                  </a:txBody>
                  <a:tcPr anchor="ctr" marL="109728" marR="109728">
                    <a:solidFill>
                      <a:srgbClr val="FFFFFF"/>
                    </a:solidFill>
                  </a:tcPr>
                </a:tc>
                <a:tc>
                  <a:txBody>
                    <a:bodyPr/>
                    <a:lstStyle/>
                    <a:p>
                      <a:r>
                        <a:rPr b="0" sz="1300">
                          <a:solidFill>
                            <a:srgbClr val="2E3A46"/>
                          </a:solidFill>
                          <a:latin typeface="Helvetica Neue"/>
                        </a:rPr>
                        <a:t>10</a:t>
                      </a:r>
                    </a:p>
                  </a:txBody>
                  <a:tcPr anchor="ctr" marL="109728" marR="109728">
                    <a:solidFill>
                      <a:srgbClr val="FFFFFF"/>
                    </a:solidFill>
                  </a:tcPr>
                </a:tc>
              </a:tr>
              <a:tr h="326571">
                <a:tc>
                  <a:txBody>
                    <a:bodyPr/>
                    <a:lstStyle/>
                    <a:p>
                      <a:r>
                        <a:rPr b="0" sz="1300">
                          <a:solidFill>
                            <a:srgbClr val="2E3A46"/>
                          </a:solidFill>
                          <a:latin typeface="Helvetica Neue"/>
                        </a:rPr>
                        <a:t>4</a:t>
                      </a:r>
                    </a:p>
                  </a:txBody>
                  <a:tcPr anchor="ctr" marL="109728" marR="109728">
                    <a:solidFill>
                      <a:srgbClr val="F2F4F3"/>
                    </a:solidFill>
                  </a:tcPr>
                </a:tc>
                <a:tc>
                  <a:txBody>
                    <a:bodyPr/>
                    <a:lstStyle/>
                    <a:p>
                      <a:r>
                        <a:rPr b="0" sz="1300">
                          <a:solidFill>
                            <a:srgbClr val="2E3A46"/>
                          </a:solidFill>
                          <a:latin typeface="Helvetica Neue"/>
                        </a:rPr>
                        <a:t>Paso por referencia</a:t>
                      </a:r>
                    </a:p>
                  </a:txBody>
                  <a:tcPr anchor="ctr" marL="109728" marR="109728">
                    <a:solidFill>
                      <a:srgbClr val="F2F4F3"/>
                    </a:solidFill>
                  </a:tcPr>
                </a:tc>
                <a:tc>
                  <a:txBody>
                    <a:bodyPr/>
                    <a:lstStyle/>
                    <a:p>
                      <a:r>
                        <a:rPr b="0" sz="1300">
                          <a:solidFill>
                            <a:srgbClr val="2E3A46"/>
                          </a:solidFill>
                          <a:latin typeface="Helvetica Neue"/>
                        </a:rPr>
                        <a:t>35</a:t>
                      </a:r>
                    </a:p>
                  </a:txBody>
                  <a:tcPr anchor="ctr" marL="109728" marR="109728">
                    <a:solidFill>
                      <a:srgbClr val="F2F4F3"/>
                    </a:solidFill>
                  </a:tcPr>
                </a:tc>
              </a:tr>
              <a:tr h="326571">
                <a:tc>
                  <a:txBody>
                    <a:bodyPr/>
                    <a:lstStyle/>
                    <a:p>
                      <a:r>
                        <a:rPr b="0" sz="1300">
                          <a:solidFill>
                            <a:srgbClr val="2E3A46"/>
                          </a:solidFill>
                          <a:latin typeface="Helvetica Neue"/>
                        </a:rPr>
                        <a:t>5</a:t>
                      </a:r>
                    </a:p>
                  </a:txBody>
                  <a:tcPr anchor="ctr" marL="109728" marR="109728">
                    <a:solidFill>
                      <a:srgbClr val="FFFFFF"/>
                    </a:solidFill>
                  </a:tcPr>
                </a:tc>
                <a:tc>
                  <a:txBody>
                    <a:bodyPr/>
                    <a:lstStyle/>
                    <a:p>
                      <a:r>
                        <a:rPr b="0" sz="1300">
                          <a:solidFill>
                            <a:srgbClr val="2E3A46"/>
                          </a:solidFill>
                          <a:latin typeface="Helvetica Neue"/>
                        </a:rPr>
                        <a:t>const, punteros y referencias</a:t>
                      </a:r>
                    </a:p>
                  </a:txBody>
                  <a:tcPr anchor="ctr" marL="109728" marR="109728">
                    <a:solidFill>
                      <a:srgbClr val="FFFFFF"/>
                    </a:solidFill>
                  </a:tcPr>
                </a:tc>
                <a:tc>
                  <a:txBody>
                    <a:bodyPr/>
                    <a:lstStyle/>
                    <a:p>
                      <a:r>
                        <a:rPr b="0" sz="1300">
                          <a:solidFill>
                            <a:srgbClr val="2E3A46"/>
                          </a:solidFill>
                          <a:latin typeface="Helvetica Neue"/>
                        </a:rPr>
                        <a:t>20</a:t>
                      </a:r>
                    </a:p>
                  </a:txBody>
                  <a:tcPr anchor="ctr" marL="109728" marR="109728">
                    <a:solidFill>
                      <a:srgbClr val="FFFFFF"/>
                    </a:solidFill>
                  </a:tcPr>
                </a:tc>
              </a:tr>
              <a:tr h="326571">
                <a:tc>
                  <a:txBody>
                    <a:bodyPr/>
                    <a:lstStyle/>
                    <a:p>
                      <a:r>
                        <a:rPr b="0" sz="1300">
                          <a:solidFill>
                            <a:srgbClr val="2E3A46"/>
                          </a:solidFill>
                          <a:latin typeface="Helvetica Neue"/>
                        </a:rPr>
                        <a:t>6</a:t>
                      </a:r>
                    </a:p>
                  </a:txBody>
                  <a:tcPr anchor="ctr" marL="109728" marR="109728">
                    <a:solidFill>
                      <a:srgbClr val="F2F4F3"/>
                    </a:solidFill>
                  </a:tcPr>
                </a:tc>
                <a:tc>
                  <a:txBody>
                    <a:bodyPr/>
                    <a:lstStyle/>
                    <a:p>
                      <a:r>
                        <a:rPr b="0" sz="1300">
                          <a:solidFill>
                            <a:srgbClr val="2E3A46"/>
                          </a:solidFill>
                          <a:latin typeface="Helvetica Neue"/>
                        </a:rPr>
                        <a:t>Práctica guiada 2</a:t>
                      </a:r>
                    </a:p>
                  </a:txBody>
                  <a:tcPr anchor="ctr" marL="109728" marR="109728">
                    <a:solidFill>
                      <a:srgbClr val="F2F4F3"/>
                    </a:solidFill>
                  </a:tcPr>
                </a:tc>
                <a:tc>
                  <a:txBody>
                    <a:bodyPr/>
                    <a:lstStyle/>
                    <a:p>
                      <a:r>
                        <a:rPr b="0" sz="1300">
                          <a:solidFill>
                            <a:srgbClr val="2E3A46"/>
                          </a:solidFill>
                          <a:latin typeface="Helvetica Neue"/>
                        </a:rPr>
                        <a:t>15</a:t>
                      </a:r>
                    </a:p>
                  </a:txBody>
                  <a:tcPr anchor="ctr" marL="109728" marR="109728">
                    <a:solidFill>
                      <a:srgbClr val="F2F4F3"/>
                    </a:solidFill>
                  </a:tcPr>
                </a:tc>
              </a:tr>
              <a:tr h="326571">
                <a:tc>
                  <a:txBody>
                    <a:bodyPr/>
                    <a:lstStyle/>
                    <a:p/>
                  </a:txBody>
                  <a:tcPr anchor="ctr" marL="109728" marR="109728">
                    <a:solidFill>
                      <a:srgbClr val="FFFFFF"/>
                    </a:solidFill>
                  </a:tcPr>
                </a:tc>
                <a:tc>
                  <a:txBody>
                    <a:bodyPr/>
                    <a:lstStyle/>
                    <a:p>
                      <a:r>
                        <a:rPr b="0" sz="1300">
                          <a:solidFill>
                            <a:srgbClr val="2E3A46"/>
                          </a:solidFill>
                          <a:latin typeface="Helvetica Neue"/>
                        </a:rPr>
                        <a:t>Receso</a:t>
                      </a:r>
                    </a:p>
                  </a:txBody>
                  <a:tcPr anchor="ctr" marL="109728" marR="109728">
                    <a:solidFill>
                      <a:srgbClr val="FFFFFF"/>
                    </a:solidFill>
                  </a:tcPr>
                </a:tc>
                <a:tc>
                  <a:txBody>
                    <a:bodyPr/>
                    <a:lstStyle/>
                    <a:p>
                      <a:r>
                        <a:rPr b="0" sz="1300">
                          <a:solidFill>
                            <a:srgbClr val="2E3A46"/>
                          </a:solidFill>
                          <a:latin typeface="Helvetica Neue"/>
                        </a:rPr>
                        <a:t>10</a:t>
                      </a:r>
                    </a:p>
                  </a:txBody>
                  <a:tcPr anchor="ctr" marL="109728" marR="109728">
                    <a:solidFill>
                      <a:srgbClr val="FFFFFF"/>
                    </a:solidFill>
                  </a:tcPr>
                </a:tc>
              </a:tr>
              <a:tr h="326571">
                <a:tc>
                  <a:txBody>
                    <a:bodyPr/>
                    <a:lstStyle/>
                    <a:p>
                      <a:r>
                        <a:rPr b="0" sz="1300">
                          <a:solidFill>
                            <a:srgbClr val="2E3A46"/>
                          </a:solidFill>
                          <a:latin typeface="Helvetica Neue"/>
                        </a:rPr>
                        <a:t>7</a:t>
                      </a:r>
                    </a:p>
                  </a:txBody>
                  <a:tcPr anchor="ctr" marL="109728" marR="109728">
                    <a:solidFill>
                      <a:srgbClr val="F2F4F3"/>
                    </a:solidFill>
                  </a:tcPr>
                </a:tc>
                <a:tc>
                  <a:txBody>
                    <a:bodyPr/>
                    <a:lstStyle/>
                    <a:p>
                      <a:r>
                        <a:rPr b="0" sz="1300">
                          <a:solidFill>
                            <a:srgbClr val="2E3A46"/>
                          </a:solidFill>
                          <a:latin typeface="Helvetica Neue"/>
                        </a:rPr>
                        <a:t>Arreglos unidimensionales</a:t>
                      </a:r>
                    </a:p>
                  </a:txBody>
                  <a:tcPr anchor="ctr" marL="109728" marR="109728">
                    <a:solidFill>
                      <a:srgbClr val="F2F4F3"/>
                    </a:solidFill>
                  </a:tcPr>
                </a:tc>
                <a:tc>
                  <a:txBody>
                    <a:bodyPr/>
                    <a:lstStyle/>
                    <a:p>
                      <a:r>
                        <a:rPr b="0" sz="1300">
                          <a:solidFill>
                            <a:srgbClr val="2E3A46"/>
                          </a:solidFill>
                          <a:latin typeface="Helvetica Neue"/>
                        </a:rPr>
                        <a:t>25</a:t>
                      </a:r>
                    </a:p>
                  </a:txBody>
                  <a:tcPr anchor="ctr" marL="109728" marR="109728">
                    <a:solidFill>
                      <a:srgbClr val="F2F4F3"/>
                    </a:solidFill>
                  </a:tcPr>
                </a:tc>
              </a:tr>
              <a:tr h="326571">
                <a:tc>
                  <a:txBody>
                    <a:bodyPr/>
                    <a:lstStyle/>
                    <a:p>
                      <a:r>
                        <a:rPr b="0" sz="1300">
                          <a:solidFill>
                            <a:srgbClr val="2E3A46"/>
                          </a:solidFill>
                          <a:latin typeface="Helvetica Neue"/>
                        </a:rPr>
                        <a:t>8</a:t>
                      </a:r>
                    </a:p>
                  </a:txBody>
                  <a:tcPr anchor="ctr" marL="109728" marR="109728">
                    <a:solidFill>
                      <a:srgbClr val="FFFFFF"/>
                    </a:solidFill>
                  </a:tcPr>
                </a:tc>
                <a:tc>
                  <a:txBody>
                    <a:bodyPr/>
                    <a:lstStyle/>
                    <a:p>
                      <a:r>
                        <a:rPr b="0" sz="1300">
                          <a:solidFill>
                            <a:srgbClr val="2E3A46"/>
                          </a:solidFill>
                          <a:latin typeface="Helvetica Neue"/>
                        </a:rPr>
                        <a:t>Arreglos como parámetros: el decaimiento</a:t>
                      </a:r>
                    </a:p>
                  </a:txBody>
                  <a:tcPr anchor="ctr" marL="109728" marR="109728">
                    <a:solidFill>
                      <a:srgbClr val="FFFFFF"/>
                    </a:solidFill>
                  </a:tcPr>
                </a:tc>
                <a:tc>
                  <a:txBody>
                    <a:bodyPr/>
                    <a:lstStyle/>
                    <a:p>
                      <a:r>
                        <a:rPr b="0" sz="1300">
                          <a:solidFill>
                            <a:srgbClr val="2E3A46"/>
                          </a:solidFill>
                          <a:latin typeface="Helvetica Neue"/>
                        </a:rPr>
                        <a:t>20</a:t>
                      </a:r>
                    </a:p>
                  </a:txBody>
                  <a:tcPr anchor="ctr" marL="109728" marR="109728">
                    <a:solidFill>
                      <a:srgbClr val="FFFFFF"/>
                    </a:solidFill>
                  </a:tcPr>
                </a:tc>
              </a:tr>
              <a:tr h="326571">
                <a:tc>
                  <a:txBody>
                    <a:bodyPr/>
                    <a:lstStyle/>
                    <a:p>
                      <a:r>
                        <a:rPr b="0" sz="1300">
                          <a:solidFill>
                            <a:srgbClr val="2E3A46"/>
                          </a:solidFill>
                          <a:latin typeface="Helvetica Neue"/>
                        </a:rPr>
                        <a:t>9</a:t>
                      </a:r>
                    </a:p>
                  </a:txBody>
                  <a:tcPr anchor="ctr" marL="109728" marR="109728">
                    <a:solidFill>
                      <a:srgbClr val="F2F4F3"/>
                    </a:solidFill>
                  </a:tcPr>
                </a:tc>
                <a:tc>
                  <a:txBody>
                    <a:bodyPr/>
                    <a:lstStyle/>
                    <a:p>
                      <a:r>
                        <a:rPr b="0" sz="1300">
                          <a:solidFill>
                            <a:srgbClr val="2E3A46"/>
                          </a:solidFill>
                          <a:latin typeface="Helvetica Neue"/>
                        </a:rPr>
                        <a:t>Arreglos multidimensionales</a:t>
                      </a:r>
                    </a:p>
                  </a:txBody>
                  <a:tcPr anchor="ctr" marL="109728" marR="109728">
                    <a:solidFill>
                      <a:srgbClr val="F2F4F3"/>
                    </a:solidFill>
                  </a:tcPr>
                </a:tc>
                <a:tc>
                  <a:txBody>
                    <a:bodyPr/>
                    <a:lstStyle/>
                    <a:p>
                      <a:r>
                        <a:rPr b="0" sz="1300">
                          <a:solidFill>
                            <a:srgbClr val="2E3A46"/>
                          </a:solidFill>
                          <a:latin typeface="Helvetica Neue"/>
                        </a:rPr>
                        <a:t>25</a:t>
                      </a:r>
                    </a:p>
                  </a:txBody>
                  <a:tcPr anchor="ctr" marL="109728" marR="109728">
                    <a:solidFill>
                      <a:srgbClr val="F2F4F3"/>
                    </a:solidFill>
                  </a:tcPr>
                </a:tc>
              </a:tr>
              <a:tr h="326577">
                <a:tc>
                  <a:txBody>
                    <a:bodyPr/>
                    <a:lstStyle/>
                    <a:p>
                      <a:r>
                        <a:rPr b="0" sz="1300">
                          <a:solidFill>
                            <a:srgbClr val="2E3A46"/>
                          </a:solidFill>
                          <a:latin typeface="Helvetica Neue"/>
                        </a:rPr>
                        <a:t>10</a:t>
                      </a:r>
                    </a:p>
                  </a:txBody>
                  <a:tcPr anchor="ctr" marL="109728" marR="109728">
                    <a:solidFill>
                      <a:srgbClr val="FFFFFF"/>
                    </a:solidFill>
                  </a:tcPr>
                </a:tc>
                <a:tc>
                  <a:txBody>
                    <a:bodyPr/>
                    <a:lstStyle/>
                    <a:p>
                      <a:r>
                        <a:rPr b="0" sz="1300">
                          <a:solidFill>
                            <a:srgbClr val="2E3A46"/>
                          </a:solidFill>
                          <a:latin typeface="Helvetica Neue"/>
                        </a:rPr>
                        <a:t>Alternativas modernas y cierre</a:t>
                      </a:r>
                    </a:p>
                  </a:txBody>
                  <a:tcPr anchor="ctr" marL="109728" marR="109728">
                    <a:solidFill>
                      <a:srgbClr val="FFFFFF"/>
                    </a:solidFill>
                  </a:tcPr>
                </a:tc>
                <a:tc>
                  <a:txBody>
                    <a:bodyPr/>
                    <a:lstStyle/>
                    <a:p>
                      <a:r>
                        <a:rPr b="0" sz="1300">
                          <a:solidFill>
                            <a:srgbClr val="2E3A46"/>
                          </a:solidFill>
                          <a:latin typeface="Helvetica Neue"/>
                        </a:rPr>
                        <a:t>10</a:t>
                      </a:r>
                    </a:p>
                  </a:txBody>
                  <a:tcPr anchor="ctr" marL="109728" marR="109728">
                    <a:solidFill>
                      <a:srgbClr val="FFFFFF"/>
                    </a:solidFill>
                  </a:tcPr>
                </a:tc>
              </a:tr>
            </a:tbl>
          </a:graphicData>
        </a:graphic>
      </p:graphicFrame>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Vocabulario: parámetro y argumento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Lo vamos a usar toda la sesión</a:t>
            </a:r>
          </a:p>
        </p:txBody>
      </p:sp>
      <p:graphicFrame>
        <p:nvGraphicFramePr>
          <p:cNvPr id="5" name="Table 4"/>
          <p:cNvGraphicFramePr>
            <a:graphicFrameLocks noGrp="1"/>
          </p:cNvGraphicFramePr>
          <p:nvPr/>
        </p:nvGraphicFramePr>
        <p:xfrm>
          <a:off x="777240" y="1828800"/>
          <a:ext cx="10637214" cy="1289304"/>
        </p:xfrm>
        <a:graphic>
          <a:graphicData uri="http://schemas.openxmlformats.org/drawingml/2006/table">
            <a:tbl>
              <a:tblPr firstRow="1" bandRow="1">
                <a:tableStyleId>{5C22544A-7EE6-4342-B048-85BDC9FD1C3A}</a:tableStyleId>
              </a:tblPr>
              <a:tblGrid>
                <a:gridCol w="1934039"/>
                <a:gridCol w="5802117"/>
                <a:gridCol w="2901058"/>
              </a:tblGrid>
              <a:tr h="429768">
                <a:tc>
                  <a:txBody>
                    <a:bodyPr/>
                    <a:lstStyle/>
                    <a:p>
                      <a:r>
                        <a:rPr b="1" sz="1400">
                          <a:solidFill>
                            <a:srgbClr val="FFFFFF"/>
                          </a:solidFill>
                          <a:latin typeface="Helvetica Neue"/>
                        </a:rPr>
                        <a:t>Término</a:t>
                      </a:r>
                    </a:p>
                  </a:txBody>
                  <a:tcPr anchor="ctr" marL="109728" marR="109728">
                    <a:solidFill>
                      <a:srgbClr val="142638"/>
                    </a:solidFill>
                  </a:tcPr>
                </a:tc>
                <a:tc>
                  <a:txBody>
                    <a:bodyPr/>
                    <a:lstStyle/>
                    <a:p>
                      <a:r>
                        <a:rPr b="1" sz="1400">
                          <a:solidFill>
                            <a:srgbClr val="FFFFFF"/>
                          </a:solidFill>
                          <a:latin typeface="Helvetica Neue"/>
                        </a:rPr>
                        <a:t>Qué es</a:t>
                      </a:r>
                    </a:p>
                  </a:txBody>
                  <a:tcPr anchor="ctr" marL="109728" marR="109728">
                    <a:solidFill>
                      <a:srgbClr val="142638"/>
                    </a:solidFill>
                  </a:tcPr>
                </a:tc>
                <a:tc>
                  <a:txBody>
                    <a:bodyPr/>
                    <a:lstStyle/>
                    <a:p>
                      <a:r>
                        <a:rPr b="1" sz="1400">
                          <a:solidFill>
                            <a:srgbClr val="FFFFFF"/>
                          </a:solidFill>
                          <a:latin typeface="Helvetica Neue"/>
                        </a:rPr>
                        <a:t>Dónde vive</a:t>
                      </a:r>
                    </a:p>
                  </a:txBody>
                  <a:tcPr anchor="ctr" marL="109728" marR="109728">
                    <a:solidFill>
                      <a:srgbClr val="142638"/>
                    </a:solidFill>
                  </a:tcPr>
                </a:tc>
              </a:tr>
              <a:tr h="429768">
                <a:tc>
                  <a:txBody>
                    <a:bodyPr/>
                    <a:lstStyle/>
                    <a:p>
                      <a:r>
                        <a:rPr b="1" sz="1400">
                          <a:solidFill>
                            <a:srgbClr val="142638"/>
                          </a:solidFill>
                          <a:latin typeface="Helvetica Neue"/>
                        </a:rPr>
                        <a:t>Parámetro</a:t>
                      </a:r>
                    </a:p>
                  </a:txBody>
                  <a:tcPr anchor="ctr" marL="109728" marR="109728">
                    <a:solidFill>
                      <a:srgbClr val="FFFFFF"/>
                    </a:solidFill>
                  </a:tcPr>
                </a:tc>
                <a:tc>
                  <a:txBody>
                    <a:bodyPr/>
                    <a:lstStyle/>
                    <a:p>
                      <a:r>
                        <a:rPr b="0" sz="1400">
                          <a:solidFill>
                            <a:srgbClr val="2E3A46"/>
                          </a:solidFill>
                          <a:latin typeface="Helvetica Neue"/>
                        </a:rPr>
                        <a:t>la variable declarada en la lista de la función</a:t>
                      </a:r>
                    </a:p>
                  </a:txBody>
                  <a:tcPr anchor="ctr" marL="109728" marR="109728">
                    <a:solidFill>
                      <a:srgbClr val="FFFFFF"/>
                    </a:solidFill>
                  </a:tcPr>
                </a:tc>
                <a:tc>
                  <a:txBody>
                    <a:bodyPr/>
                    <a:lstStyle/>
                    <a:p>
                      <a:r>
                        <a:rPr b="0" sz="1400">
                          <a:solidFill>
                            <a:srgbClr val="2E3A46"/>
                          </a:solidFill>
                          <a:latin typeface="Helvetica Neue"/>
                        </a:rPr>
                        <a:t>dentro de la función</a:t>
                      </a:r>
                    </a:p>
                  </a:txBody>
                  <a:tcPr anchor="ctr" marL="109728" marR="109728">
                    <a:solidFill>
                      <a:srgbClr val="FFFFFF"/>
                    </a:solidFill>
                  </a:tcPr>
                </a:tc>
              </a:tr>
              <a:tr h="429768">
                <a:tc>
                  <a:txBody>
                    <a:bodyPr/>
                    <a:lstStyle/>
                    <a:p>
                      <a:r>
                        <a:rPr b="1" sz="1400">
                          <a:solidFill>
                            <a:srgbClr val="142638"/>
                          </a:solidFill>
                          <a:latin typeface="Helvetica Neue"/>
                        </a:rPr>
                        <a:t>Argumento</a:t>
                      </a:r>
                    </a:p>
                  </a:txBody>
                  <a:tcPr anchor="ctr" marL="109728" marR="109728">
                    <a:solidFill>
                      <a:srgbClr val="F2F4F3"/>
                    </a:solidFill>
                  </a:tcPr>
                </a:tc>
                <a:tc>
                  <a:txBody>
                    <a:bodyPr/>
                    <a:lstStyle/>
                    <a:p>
                      <a:r>
                        <a:rPr b="0" sz="1400">
                          <a:solidFill>
                            <a:srgbClr val="2E3A46"/>
                          </a:solidFill>
                          <a:latin typeface="Helvetica Neue"/>
                        </a:rPr>
                        <a:t>la expresión escrita en la llamada</a:t>
                      </a:r>
                    </a:p>
                  </a:txBody>
                  <a:tcPr anchor="ctr" marL="109728" marR="109728">
                    <a:solidFill>
                      <a:srgbClr val="F2F4F3"/>
                    </a:solidFill>
                  </a:tcPr>
                </a:tc>
                <a:tc>
                  <a:txBody>
                    <a:bodyPr/>
                    <a:lstStyle/>
                    <a:p>
                      <a:r>
                        <a:rPr b="0" sz="1400">
                          <a:solidFill>
                            <a:srgbClr val="2E3A46"/>
                          </a:solidFill>
                          <a:latin typeface="Helvetica Neue"/>
                        </a:rPr>
                        <a:t>en el llamador</a:t>
                      </a:r>
                    </a:p>
                  </a:txBody>
                  <a:tcPr anchor="ctr" marL="109728" marR="109728">
                    <a:solidFill>
                      <a:srgbClr val="F2F4F3"/>
                    </a:solidFill>
                  </a:tcPr>
                </a:tc>
              </a:tr>
            </a:tbl>
          </a:graphicData>
        </a:graphic>
      </p:graphicFrame>
      <p:sp>
        <p:nvSpPr>
          <p:cNvPr id="6" name="TextBox 5"/>
          <p:cNvSpPr txBox="1"/>
          <p:nvPr/>
        </p:nvSpPr>
        <p:spPr>
          <a:xfrm>
            <a:off x="777240" y="3346704"/>
            <a:ext cx="10637215" cy="548640"/>
          </a:xfrm>
          <a:prstGeom prst="rect">
            <a:avLst/>
          </a:prstGeom>
          <a:noFill/>
        </p:spPr>
        <p:txBody>
          <a:bodyPr wrap="square" lIns="0" rIns="0" tIns="0" bIns="0">
            <a:spAutoFit/>
          </a:bodyPr>
          <a:lstStyle/>
          <a:p>
            <a:r>
              <a:rPr b="0" sz="1500">
                <a:solidFill>
                  <a:srgbClr val="0B6E6E"/>
                </a:solidFill>
                <a:latin typeface="Helvetica Neue"/>
              </a:rPr>
              <a:t>La pregunta del día: ¿qué relación hay entre el parámetro y el argumento?</a:t>
            </a:r>
          </a:p>
        </p:txBody>
      </p:sp>
      <p:sp>
        <p:nvSpPr>
          <p:cNvPr id="7" name="TextBox 6"/>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Parámetro y argumento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40030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25399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2125980"/>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void f(int parametro);        </a:t>
            </a:r>
            <a:r>
              <a:rPr sz="1400" b="0">
                <a:solidFill>
                  <a:srgbClr val="6B7A74"/>
                </a:solidFill>
                <a:latin typeface="Menlo"/>
              </a:rPr>
              <a:t>// 'parametro' es el parámetro</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int main() {</a:t>
            </a:r>
          </a:p>
          <a:p>
            <a:pPr>
              <a:lnSpc>
                <a:spcPct val="106000"/>
              </a:lnSpc>
              <a:spcBef>
                <a:spcPts val="0"/>
              </a:spcBef>
            </a:pPr>
            <a:r>
              <a:rPr sz="1400" b="0">
                <a:solidFill>
                  <a:srgbClr val="1E2B33"/>
                </a:solidFill>
                <a:latin typeface="Menlo"/>
              </a:rPr>
              <a:t>    int x = 5;</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    f(x);                     </a:t>
            </a:r>
            <a:r>
              <a:rPr sz="1400" b="0">
                <a:solidFill>
                  <a:srgbClr val="6B7A74"/>
                </a:solidFill>
                <a:latin typeface="Menlo"/>
              </a:rPr>
              <a:t>// 'x' es el argumento</a:t>
            </a:r>
          </a:p>
          <a:p>
            <a:pPr>
              <a:lnSpc>
                <a:spcPct val="106000"/>
              </a:lnSpc>
              <a:spcBef>
                <a:spcPts val="0"/>
              </a:spcBef>
            </a:pPr>
            <a:r>
              <a:rPr sz="1400" b="0">
                <a:solidFill>
                  <a:srgbClr val="1E2B33"/>
                </a:solidFill>
                <a:latin typeface="Menlo"/>
              </a:rPr>
              <a:t>    f(x + 1);                 </a:t>
            </a:r>
            <a:r>
              <a:rPr sz="1400" b="0">
                <a:solidFill>
                  <a:srgbClr val="6B7A74"/>
                </a:solidFill>
                <a:latin typeface="Menlo"/>
              </a:rPr>
              <a:t>// el argumento puede ser cualquier expresión</a:t>
            </a:r>
          </a:p>
          <a:p>
            <a:pPr>
              <a:lnSpc>
                <a:spcPct val="106000"/>
              </a:lnSpc>
              <a:spcBef>
                <a:spcPts val="0"/>
              </a:spcBef>
            </a:pPr>
            <a:r>
              <a:rPr sz="1400" b="0">
                <a:solidFill>
                  <a:srgbClr val="1E2B33"/>
                </a:solidFill>
                <a:latin typeface="Menlo"/>
              </a:rPr>
              <a:t>    f(42);                    </a:t>
            </a:r>
            <a:r>
              <a:rPr sz="1400" b="0">
                <a:solidFill>
                  <a:srgbClr val="6B7A74"/>
                </a:solidFill>
                <a:latin typeface="Menlo"/>
              </a:rPr>
              <a:t>// ...incluso un literal</a:t>
            </a:r>
          </a:p>
          <a:p>
            <a:pPr>
              <a:lnSpc>
                <a:spcPct val="106000"/>
              </a:lnSpc>
              <a:spcBef>
                <a:spcPts val="0"/>
              </a:spcBef>
            </a:pPr>
            <a:r>
              <a:rPr sz="1400" b="0">
                <a:solidFill>
                  <a:srgbClr val="1E2B33"/>
                </a:solidFill>
                <a:latin typeface="Menlo"/>
              </a:rPr>
              <a:t>}</a:t>
            </a:r>
          </a:p>
        </p:txBody>
      </p:sp>
      <p:sp>
        <p:nvSpPr>
          <p:cNvPr id="7" name="TextBox 6"/>
          <p:cNvSpPr txBox="1"/>
          <p:nvPr/>
        </p:nvSpPr>
        <p:spPr>
          <a:xfrm>
            <a:off x="777240" y="4430268"/>
            <a:ext cx="10637215" cy="548640"/>
          </a:xfrm>
          <a:prstGeom prst="rect">
            <a:avLst/>
          </a:prstGeom>
          <a:noFill/>
        </p:spPr>
        <p:txBody>
          <a:bodyPr wrap="square" lIns="0" rIns="0" tIns="0" bIns="0">
            <a:spAutoFit/>
          </a:bodyPr>
          <a:lstStyle/>
          <a:p>
            <a:r>
              <a:rPr b="0" sz="1600">
                <a:solidFill>
                  <a:srgbClr val="0B6E6E"/>
                </a:solidFill>
                <a:latin typeface="Helvetica Neue"/>
              </a:rPr>
              <a:t>Dos respuestas posibles: ninguna relación salvo el valor copiado, o el mismo objeto con dos nombres.</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1</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Modelo de memoria</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15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Dónde vive cada cosa</a:t>
            </a:r>
          </a:p>
          <a:p>
            <a:pPr>
              <a:spcBef>
                <a:spcPts val="500"/>
              </a:spcBef>
            </a:pPr>
            <a:r>
              <a:rPr b="0" sz="1500">
                <a:solidFill>
                  <a:srgbClr val="C5D0D8"/>
                </a:solidFill>
                <a:latin typeface="Helvetica Neue"/>
              </a:rPr>
              <a:t>·  El marco de pila</a:t>
            </a:r>
          </a:p>
          <a:p>
            <a:pPr>
              <a:spcBef>
                <a:spcPts val="500"/>
              </a:spcBef>
            </a:pPr>
            <a:r>
              <a:rPr b="0" sz="1500">
                <a:solidFill>
                  <a:srgbClr val="C5D0D8"/>
                </a:solidFill>
                <a:latin typeface="Helvetica Neue"/>
              </a:rPr>
              <a:t>·  Qué ocurre exactamente en una llamada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cuatro regiones de memoria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4" cy="2057400"/>
        </p:xfrm>
        <a:graphic>
          <a:graphicData uri="http://schemas.openxmlformats.org/drawingml/2006/table">
            <a:tbl>
              <a:tblPr firstRow="1" bandRow="1">
                <a:tableStyleId>{5C22544A-7EE6-4342-B048-85BDC9FD1C3A}</a:tableStyleId>
              </a:tblPr>
              <a:tblGrid>
                <a:gridCol w="1934039"/>
                <a:gridCol w="1934039"/>
                <a:gridCol w="3868078"/>
                <a:gridCol w="2901058"/>
              </a:tblGrid>
              <a:tr h="411480">
                <a:tc>
                  <a:txBody>
                    <a:bodyPr/>
                    <a:lstStyle/>
                    <a:p>
                      <a:r>
                        <a:rPr b="1" sz="1300">
                          <a:solidFill>
                            <a:srgbClr val="FFFFFF"/>
                          </a:solidFill>
                          <a:latin typeface="Helvetica Neue"/>
                        </a:rPr>
                        <a:t>Región</a:t>
                      </a:r>
                    </a:p>
                  </a:txBody>
                  <a:tcPr anchor="ctr" marL="109728" marR="109728">
                    <a:solidFill>
                      <a:srgbClr val="142638"/>
                    </a:solidFill>
                  </a:tcPr>
                </a:tc>
                <a:tc>
                  <a:txBody>
                    <a:bodyPr/>
                    <a:lstStyle/>
                    <a:p>
                      <a:r>
                        <a:rPr b="1" sz="1300">
                          <a:solidFill>
                            <a:srgbClr val="FFFFFF"/>
                          </a:solidFill>
                          <a:latin typeface="Helvetica Neue"/>
                        </a:rPr>
                        <a:t>Duración</a:t>
                      </a:r>
                    </a:p>
                  </a:txBody>
                  <a:tcPr anchor="ctr" marL="109728" marR="109728">
                    <a:solidFill>
                      <a:srgbClr val="142638"/>
                    </a:solidFill>
                  </a:tcPr>
                </a:tc>
                <a:tc>
                  <a:txBody>
                    <a:bodyPr/>
                    <a:lstStyle/>
                    <a:p>
                      <a:r>
                        <a:rPr b="1" sz="1300">
                          <a:solidFill>
                            <a:srgbClr val="FFFFFF"/>
                          </a:solidFill>
                          <a:latin typeface="Helvetica Neue"/>
                        </a:rPr>
                        <a:t>Qué contiene</a:t>
                      </a:r>
                    </a:p>
                  </a:txBody>
                  <a:tcPr anchor="ctr" marL="109728" marR="109728">
                    <a:solidFill>
                      <a:srgbClr val="142638"/>
                    </a:solidFill>
                  </a:tcPr>
                </a:tc>
                <a:tc>
                  <a:txBody>
                    <a:bodyPr/>
                    <a:lstStyle/>
                    <a:p>
                      <a:r>
                        <a:rPr b="1" sz="1300">
                          <a:solidFill>
                            <a:srgbClr val="FFFFFF"/>
                          </a:solidFill>
                          <a:latin typeface="Helvetica Neue"/>
                        </a:rPr>
                        <a:t>Quién la administra</a:t>
                      </a:r>
                    </a:p>
                  </a:txBody>
                  <a:tcPr anchor="ctr" marL="109728" marR="109728">
                    <a:solidFill>
                      <a:srgbClr val="142638"/>
                    </a:solidFill>
                  </a:tcPr>
                </a:tc>
              </a:tr>
              <a:tr h="411480">
                <a:tc>
                  <a:txBody>
                    <a:bodyPr/>
                    <a:lstStyle/>
                    <a:p>
                      <a:r>
                        <a:rPr b="0" sz="1300">
                          <a:solidFill>
                            <a:srgbClr val="2E3A46"/>
                          </a:solidFill>
                          <a:latin typeface="Helvetica Neue"/>
                        </a:rPr>
                        <a:t>Código</a:t>
                      </a:r>
                    </a:p>
                  </a:txBody>
                  <a:tcPr anchor="ctr" marL="109728" marR="109728">
                    <a:solidFill>
                      <a:srgbClr val="FFFFFF"/>
                    </a:solidFill>
                  </a:tcPr>
                </a:tc>
                <a:tc>
                  <a:txBody>
                    <a:bodyPr/>
                    <a:lstStyle/>
                    <a:p>
                      <a:r>
                        <a:rPr b="0" sz="1300">
                          <a:solidFill>
                            <a:srgbClr val="2E3A46"/>
                          </a:solidFill>
                          <a:latin typeface="Helvetica Neue"/>
                        </a:rPr>
                        <a:t>estática</a:t>
                      </a:r>
                    </a:p>
                  </a:txBody>
                  <a:tcPr anchor="ctr" marL="109728" marR="109728">
                    <a:solidFill>
                      <a:srgbClr val="FFFFFF"/>
                    </a:solidFill>
                  </a:tcPr>
                </a:tc>
                <a:tc>
                  <a:txBody>
                    <a:bodyPr/>
                    <a:lstStyle/>
                    <a:p>
                      <a:r>
                        <a:rPr b="0" sz="1300">
                          <a:solidFill>
                            <a:srgbClr val="2E3A46"/>
                          </a:solidFill>
                          <a:latin typeface="Helvetica Neue"/>
                        </a:rPr>
                        <a:t>las instrucciones compiladas</a:t>
                      </a:r>
                    </a:p>
                  </a:txBody>
                  <a:tcPr anchor="ctr" marL="109728" marR="109728">
                    <a:solidFill>
                      <a:srgbClr val="FFFFFF"/>
                    </a:solidFill>
                  </a:tcPr>
                </a:tc>
                <a:tc>
                  <a:txBody>
                    <a:bodyPr/>
                    <a:lstStyle/>
                    <a:p>
                      <a:r>
                        <a:rPr b="0" sz="1300">
                          <a:solidFill>
                            <a:srgbClr val="2E3A46"/>
                          </a:solidFill>
                          <a:latin typeface="Helvetica Neue"/>
                        </a:rPr>
                        <a:t>el cargador del sistema</a:t>
                      </a:r>
                    </a:p>
                  </a:txBody>
                  <a:tcPr anchor="ctr" marL="109728" marR="109728">
                    <a:solidFill>
                      <a:srgbClr val="FFFFFF"/>
                    </a:solidFill>
                  </a:tcPr>
                </a:tc>
              </a:tr>
              <a:tr h="411480">
                <a:tc>
                  <a:txBody>
                    <a:bodyPr/>
                    <a:lstStyle/>
                    <a:p>
                      <a:r>
                        <a:rPr b="0" sz="1300">
                          <a:solidFill>
                            <a:srgbClr val="2E3A46"/>
                          </a:solidFill>
                          <a:latin typeface="Helvetica Neue"/>
                        </a:rPr>
                        <a:t>Datos estáticos</a:t>
                      </a:r>
                    </a:p>
                  </a:txBody>
                  <a:tcPr anchor="ctr" marL="109728" marR="109728">
                    <a:solidFill>
                      <a:srgbClr val="F2F4F3"/>
                    </a:solidFill>
                  </a:tcPr>
                </a:tc>
                <a:tc>
                  <a:txBody>
                    <a:bodyPr/>
                    <a:lstStyle/>
                    <a:p>
                      <a:r>
                        <a:rPr b="0" sz="1300">
                          <a:solidFill>
                            <a:srgbClr val="2E3A46"/>
                          </a:solidFill>
                          <a:latin typeface="Helvetica Neue"/>
                        </a:rPr>
                        <a:t>estática</a:t>
                      </a:r>
                    </a:p>
                  </a:txBody>
                  <a:tcPr anchor="ctr" marL="109728" marR="109728">
                    <a:solidFill>
                      <a:srgbClr val="F2F4F3"/>
                    </a:solidFill>
                  </a:tcPr>
                </a:tc>
                <a:tc>
                  <a:txBody>
                    <a:bodyPr/>
                    <a:lstStyle/>
                    <a:p>
                      <a:r>
                        <a:rPr b="0" sz="1300">
                          <a:solidFill>
                            <a:srgbClr val="2E3A46"/>
                          </a:solidFill>
                          <a:latin typeface="Helvetica Neue"/>
                        </a:rPr>
                        <a:t>globales, </a:t>
                      </a:r>
                      <a:r>
                        <a:rPr sz="1200">
                          <a:solidFill>
                            <a:srgbClr val="0B6E6E"/>
                          </a:solidFill>
                          <a:latin typeface="Menlo"/>
                        </a:rPr>
                        <a:t>static</a:t>
                      </a:r>
                      <a:r>
                        <a:rPr b="0" sz="1300">
                          <a:solidFill>
                            <a:srgbClr val="2E3A46"/>
                          </a:solidFill>
                          <a:latin typeface="Helvetica Neue"/>
                        </a:rPr>
                        <a:t>, literales de cadena</a:t>
                      </a:r>
                    </a:p>
                  </a:txBody>
                  <a:tcPr anchor="ctr" marL="109728" marR="109728">
                    <a:solidFill>
                      <a:srgbClr val="F2F4F3"/>
                    </a:solidFill>
                  </a:tcPr>
                </a:tc>
                <a:tc>
                  <a:txBody>
                    <a:bodyPr/>
                    <a:lstStyle/>
                    <a:p>
                      <a:r>
                        <a:rPr b="0" sz="1300">
                          <a:solidFill>
                            <a:srgbClr val="2E3A46"/>
                          </a:solidFill>
                          <a:latin typeface="Helvetica Neue"/>
                        </a:rPr>
                        <a:t>el compilador</a:t>
                      </a:r>
                    </a:p>
                  </a:txBody>
                  <a:tcPr anchor="ctr" marL="109728" marR="109728">
                    <a:solidFill>
                      <a:srgbClr val="F2F4F3"/>
                    </a:solidFill>
                  </a:tcPr>
                </a:tc>
              </a:tr>
              <a:tr h="411480">
                <a:tc>
                  <a:txBody>
                    <a:bodyPr/>
                    <a:lstStyle/>
                    <a:p>
                      <a:r>
                        <a:rPr b="1" sz="1300">
                          <a:solidFill>
                            <a:srgbClr val="142638"/>
                          </a:solidFill>
                          <a:latin typeface="Helvetica Neue"/>
                        </a:rPr>
                        <a:t>Pila</a:t>
                      </a:r>
                    </a:p>
                  </a:txBody>
                  <a:tcPr anchor="ctr" marL="109728" marR="109728">
                    <a:solidFill>
                      <a:srgbClr val="FFFFFF"/>
                    </a:solidFill>
                  </a:tcPr>
                </a:tc>
                <a:tc>
                  <a:txBody>
                    <a:bodyPr/>
                    <a:lstStyle/>
                    <a:p>
                      <a:r>
                        <a:rPr b="1" sz="1300">
                          <a:solidFill>
                            <a:srgbClr val="142638"/>
                          </a:solidFill>
                          <a:latin typeface="Helvetica Neue"/>
                        </a:rPr>
                        <a:t>automática</a:t>
                      </a:r>
                    </a:p>
                  </a:txBody>
                  <a:tcPr anchor="ctr" marL="109728" marR="109728">
                    <a:solidFill>
                      <a:srgbClr val="FFFFFF"/>
                    </a:solidFill>
                  </a:tcPr>
                </a:tc>
                <a:tc>
                  <a:txBody>
                    <a:bodyPr/>
                    <a:lstStyle/>
                    <a:p>
                      <a:r>
                        <a:rPr b="1" sz="1300">
                          <a:solidFill>
                            <a:srgbClr val="142638"/>
                          </a:solidFill>
                          <a:latin typeface="Helvetica Neue"/>
                        </a:rPr>
                        <a:t>parámetros, variables locales</a:t>
                      </a:r>
                    </a:p>
                  </a:txBody>
                  <a:tcPr anchor="ctr" marL="109728" marR="109728">
                    <a:solidFill>
                      <a:srgbClr val="FFFFFF"/>
                    </a:solidFill>
                  </a:tcPr>
                </a:tc>
                <a:tc>
                  <a:txBody>
                    <a:bodyPr/>
                    <a:lstStyle/>
                    <a:p>
                      <a:r>
                        <a:rPr b="1" sz="1300">
                          <a:solidFill>
                            <a:srgbClr val="142638"/>
                          </a:solidFill>
                          <a:latin typeface="Helvetica Neue"/>
                        </a:rPr>
                        <a:t>el compilador</a:t>
                      </a:r>
                    </a:p>
                  </a:txBody>
                  <a:tcPr anchor="ctr" marL="109728" marR="109728">
                    <a:solidFill>
                      <a:srgbClr val="FFFFFF"/>
                    </a:solidFill>
                  </a:tcPr>
                </a:tc>
              </a:tr>
              <a:tr h="411480">
                <a:tc>
                  <a:txBody>
                    <a:bodyPr/>
                    <a:lstStyle/>
                    <a:p>
                      <a:r>
                        <a:rPr b="0" sz="1300">
                          <a:solidFill>
                            <a:srgbClr val="2E3A46"/>
                          </a:solidFill>
                          <a:latin typeface="Helvetica Neue"/>
                        </a:rPr>
                        <a:t>Montón</a:t>
                      </a:r>
                    </a:p>
                  </a:txBody>
                  <a:tcPr anchor="ctr" marL="109728" marR="109728">
                    <a:solidFill>
                      <a:srgbClr val="F2F4F3"/>
                    </a:solidFill>
                  </a:tcPr>
                </a:tc>
                <a:tc>
                  <a:txBody>
                    <a:bodyPr/>
                    <a:lstStyle/>
                    <a:p>
                      <a:r>
                        <a:rPr b="0" sz="1300">
                          <a:solidFill>
                            <a:srgbClr val="2E3A46"/>
                          </a:solidFill>
                          <a:latin typeface="Helvetica Neue"/>
                        </a:rPr>
                        <a:t>dinámica</a:t>
                      </a:r>
                    </a:p>
                  </a:txBody>
                  <a:tcPr anchor="ctr" marL="109728" marR="109728">
                    <a:solidFill>
                      <a:srgbClr val="F2F4F3"/>
                    </a:solidFill>
                  </a:tcPr>
                </a:tc>
                <a:tc>
                  <a:txBody>
                    <a:bodyPr/>
                    <a:lstStyle/>
                    <a:p>
                      <a:r>
                        <a:rPr sz="1200">
                          <a:solidFill>
                            <a:srgbClr val="1E2B33"/>
                          </a:solidFill>
                          <a:latin typeface="Menlo"/>
                        </a:rPr>
                        <a:t>new`, y el interior de `vector` y `string</a:t>
                      </a:r>
                    </a:p>
                  </a:txBody>
                  <a:tcPr anchor="ctr" marL="109728" marR="109728">
                    <a:solidFill>
                      <a:srgbClr val="F2F4F3"/>
                    </a:solidFill>
                  </a:tcPr>
                </a:tc>
                <a:tc>
                  <a:txBody>
                    <a:bodyPr/>
                    <a:lstStyle/>
                    <a:p>
                      <a:r>
                        <a:rPr b="0" sz="1300">
                          <a:solidFill>
                            <a:srgbClr val="2E3A46"/>
                          </a:solidFill>
                          <a:latin typeface="Helvetica Neue"/>
                        </a:rPr>
                        <a:t>el programador o un contenedor</a:t>
                      </a:r>
                    </a:p>
                  </a:txBody>
                  <a:tcPr anchor="ctr" marL="109728" marR="109728">
                    <a:solidFill>
                      <a:srgbClr val="F2F4F3"/>
                    </a:solidFill>
                  </a:tcPr>
                </a:tc>
              </a:tr>
            </a:tbl>
          </a:graphicData>
        </a:graphic>
      </p:graphicFrame>
      <p:sp>
        <p:nvSpPr>
          <p:cNvPr id="5" name="TextBox 4"/>
          <p:cNvSpPr txBox="1"/>
          <p:nvPr/>
        </p:nvSpPr>
        <p:spPr>
          <a:xfrm>
            <a:off x="777240" y="4114800"/>
            <a:ext cx="10637215" cy="548640"/>
          </a:xfrm>
          <a:prstGeom prst="rect">
            <a:avLst/>
          </a:prstGeom>
          <a:noFill/>
        </p:spPr>
        <p:txBody>
          <a:bodyPr wrap="square" lIns="0" rIns="0" tIns="0" bIns="0">
            <a:spAutoFit/>
          </a:bodyPr>
          <a:lstStyle/>
          <a:p>
            <a:r>
              <a:rPr b="0" sz="1500">
                <a:solidFill>
                  <a:srgbClr val="0B6E6E"/>
                </a:solidFill>
                <a:latin typeface="Helvetica Neue"/>
              </a:rPr>
              <a:t>Todo lo declarado dentro de una función sin static tiene duración automática: nace y muere con su ámbito.</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marco de pila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Cada llamada abre uno; al volver, se descarta</a:t>
            </a:r>
          </a:p>
        </p:txBody>
      </p:sp>
      <p:sp>
        <p:nvSpPr>
          <p:cNvPr id="5" name="Rounded Rectangle 4"/>
          <p:cNvSpPr/>
          <p:nvPr/>
        </p:nvSpPr>
        <p:spPr>
          <a:xfrm>
            <a:off x="777240" y="1828800"/>
            <a:ext cx="10637215" cy="302437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287807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2750058"/>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Direcciones altas</a:t>
            </a:r>
          </a:p>
          <a:p>
            <a:pPr>
              <a:lnSpc>
                <a:spcPct val="106000"/>
              </a:lnSpc>
              <a:spcBef>
                <a:spcPts val="0"/>
              </a:spcBef>
            </a:pPr>
            <a:r>
              <a:rPr sz="1500" b="0">
                <a:solidFill>
                  <a:srgbClr val="1E2B33"/>
                </a:solidFill>
                <a:latin typeface="Menlo"/>
              </a:rPr>
              <a:t>┌───────────────────────────────┐</a:t>
            </a:r>
          </a:p>
          <a:p>
            <a:pPr>
              <a:lnSpc>
                <a:spcPct val="106000"/>
              </a:lnSpc>
              <a:spcBef>
                <a:spcPts val="0"/>
              </a:spcBef>
            </a:pPr>
            <a:r>
              <a:rPr sz="1500" b="0">
                <a:solidFill>
                  <a:srgbClr val="1E2B33"/>
                </a:solidFill>
                <a:latin typeface="Menlo"/>
              </a:rPr>
              <a:t>│  marco de main                │   local_main</a:t>
            </a:r>
          </a:p>
          <a:p>
            <a:pPr>
              <a:lnSpc>
                <a:spcPct val="106000"/>
              </a:lnSpc>
              <a:spcBef>
                <a:spcPts val="0"/>
              </a:spcBef>
            </a:pPr>
            <a:r>
              <a:rPr sz="1500" b="0">
                <a:solidFill>
                  <a:srgbClr val="1E2B33"/>
                </a:solidFill>
                <a:latin typeface="Menlo"/>
              </a:rPr>
              <a:t>├───────────────────────────────┤</a:t>
            </a:r>
          </a:p>
          <a:p>
            <a:pPr>
              <a:lnSpc>
                <a:spcPct val="106000"/>
              </a:lnSpc>
              <a:spcBef>
                <a:spcPts val="0"/>
              </a:spcBef>
            </a:pPr>
            <a:r>
              <a:rPr sz="1500" b="0">
                <a:solidFill>
                  <a:srgbClr val="1E2B33"/>
                </a:solidFill>
                <a:latin typeface="Menlo"/>
              </a:rPr>
              <a:t>│  marco de nivel_1             │   profundidad, local</a:t>
            </a:r>
          </a:p>
          <a:p>
            <a:pPr>
              <a:lnSpc>
                <a:spcPct val="106000"/>
              </a:lnSpc>
              <a:spcBef>
                <a:spcPts val="0"/>
              </a:spcBef>
            </a:pPr>
            <a:r>
              <a:rPr sz="1500" b="0">
                <a:solidFill>
                  <a:srgbClr val="1E2B33"/>
                </a:solidFill>
                <a:latin typeface="Menlo"/>
              </a:rPr>
              <a:t>├───────────────────────────────┤</a:t>
            </a:r>
          </a:p>
          <a:p>
            <a:pPr>
              <a:lnSpc>
                <a:spcPct val="106000"/>
              </a:lnSpc>
              <a:spcBef>
                <a:spcPts val="0"/>
              </a:spcBef>
            </a:pPr>
            <a:r>
              <a:rPr sz="1500" b="0">
                <a:solidFill>
                  <a:srgbClr val="1E2B33"/>
                </a:solidFill>
                <a:latin typeface="Menlo"/>
              </a:rPr>
              <a:t>│  marco de nivel_2             │   profundidad, local</a:t>
            </a:r>
          </a:p>
          <a:p>
            <a:pPr>
              <a:lnSpc>
                <a:spcPct val="106000"/>
              </a:lnSpc>
              <a:spcBef>
                <a:spcPts val="0"/>
              </a:spcBef>
            </a:pPr>
            <a:r>
              <a:rPr sz="1500" b="0">
                <a:solidFill>
                  <a:srgbClr val="1E2B33"/>
                </a:solidFill>
                <a:latin typeface="Menlo"/>
              </a:rPr>
              <a:t>├───────────────────────────────┤</a:t>
            </a:r>
          </a:p>
          <a:p>
            <a:pPr>
              <a:lnSpc>
                <a:spcPct val="106000"/>
              </a:lnSpc>
              <a:spcBef>
                <a:spcPts val="0"/>
              </a:spcBef>
            </a:pPr>
            <a:r>
              <a:rPr sz="1500" b="0">
                <a:solidFill>
                  <a:srgbClr val="1E2B33"/>
                </a:solidFill>
                <a:latin typeface="Menlo"/>
              </a:rPr>
              <a:t>│  marco de nivel_3             │   profundidad, local   &lt;- cima</a:t>
            </a:r>
          </a:p>
          <a:p>
            <a:pPr>
              <a:lnSpc>
                <a:spcPct val="106000"/>
              </a:lnSpc>
              <a:spcBef>
                <a:spcPts val="0"/>
              </a:spcBef>
            </a:pPr>
            <a:r>
              <a:rPr sz="1500" b="0">
                <a:solidFill>
                  <a:srgbClr val="1E2B33"/>
                </a:solidFill>
                <a:latin typeface="Menlo"/>
              </a:rPr>
              <a:t>└───────────────────────────────┘</a:t>
            </a:r>
          </a:p>
          <a:p>
            <a:pPr>
              <a:lnSpc>
                <a:spcPct val="106000"/>
              </a:lnSpc>
              <a:spcBef>
                <a:spcPts val="0"/>
              </a:spcBef>
            </a:pPr>
            <a:r>
              <a:rPr sz="1500" b="0">
                <a:solidFill>
                  <a:srgbClr val="1E2B33"/>
                </a:solidFill>
                <a:latin typeface="Menlo"/>
              </a:rPr>
              <a:t>Direcciones bajas</a:t>
            </a:r>
          </a:p>
        </p:txBody>
      </p:sp>
      <p:sp>
        <p:nvSpPr>
          <p:cNvPr id="8" name="TextBox 7"/>
          <p:cNvSpPr txBox="1"/>
          <p:nvPr/>
        </p:nvSpPr>
        <p:spPr>
          <a:xfrm>
            <a:off x="777240" y="5054346"/>
            <a:ext cx="10637215" cy="548640"/>
          </a:xfrm>
          <a:prstGeom prst="rect">
            <a:avLst/>
          </a:prstGeom>
          <a:noFill/>
        </p:spPr>
        <p:txBody>
          <a:bodyPr wrap="square" lIns="0" rIns="0" tIns="0" bIns="0">
            <a:spAutoFit/>
          </a:bodyPr>
          <a:lstStyle/>
          <a:p>
            <a:r>
              <a:rPr b="0" sz="1600">
                <a:solidFill>
                  <a:srgbClr val="0B6E6E"/>
                </a:solidFill>
                <a:latin typeface="Helvetica Neue"/>
              </a:rPr>
              <a:t>En arm64 y x86-64 la pila crece hacia direcciones menores.</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Qué ocurre al llamar a f(x)</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void f(int p) — paso por valor</a:t>
            </a:r>
          </a:p>
        </p:txBody>
      </p:sp>
      <p:sp>
        <p:nvSpPr>
          <p:cNvPr id="5" name="TextBox 4"/>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0" sz="1900">
                <a:solidFill>
                  <a:srgbClr val="2E3A46"/>
                </a:solidFill>
                <a:latin typeface="Helvetica Neue"/>
              </a:rPr>
              <a:t>Se evalúa la expresión </a:t>
            </a:r>
            <a:r>
              <a:rPr sz="1800">
                <a:solidFill>
                  <a:srgbClr val="0B6E6E"/>
                </a:solidFill>
                <a:latin typeface="Menlo"/>
              </a:rPr>
              <a:t>x</a:t>
            </a:r>
            <a:r>
              <a:rPr b="0" sz="1900">
                <a:solidFill>
                  <a:srgbClr val="2E3A46"/>
                </a:solidFill>
                <a:latin typeface="Helvetica Neue"/>
              </a:rPr>
              <a:t>.</a:t>
            </a:r>
          </a:p>
          <a:p>
            <a:pPr marL="301752" indent="-301752">
              <a:spcBef>
                <a:spcPts val="1100"/>
              </a:spcBef>
            </a:pPr>
            <a:r>
              <a:rPr sz="1900">
                <a:solidFill>
                  <a:srgbClr val="0B6E6E"/>
                </a:solidFill>
                <a:latin typeface="Helvetica Neue"/>
              </a:rPr>
              <a:t>•  </a:t>
            </a:r>
            <a:r>
              <a:rPr b="0" sz="1900">
                <a:solidFill>
                  <a:srgbClr val="2E3A46"/>
                </a:solidFill>
                <a:latin typeface="Helvetica Neue"/>
              </a:rPr>
              <a:t>Se reserva espacio para el marco de </a:t>
            </a:r>
            <a:r>
              <a:rPr sz="1800">
                <a:solidFill>
                  <a:srgbClr val="0B6E6E"/>
                </a:solidFill>
                <a:latin typeface="Menlo"/>
              </a:rPr>
              <a:t>f</a:t>
            </a:r>
            <a:r>
              <a:rPr b="0" sz="1900">
                <a:solidFill>
                  <a:srgbClr val="2E3A46"/>
                </a:solidFill>
                <a:latin typeface="Helvetica Neue"/>
              </a:rPr>
              <a:t>.</a:t>
            </a:r>
          </a:p>
          <a:p>
            <a:pPr marL="301752" indent="-301752">
              <a:spcBef>
                <a:spcPts val="1100"/>
              </a:spcBef>
            </a:pPr>
            <a:r>
              <a:rPr sz="1900">
                <a:solidFill>
                  <a:srgbClr val="0B6E6E"/>
                </a:solidFill>
                <a:latin typeface="Helvetica Neue"/>
              </a:rPr>
              <a:t>•  </a:t>
            </a:r>
            <a:r>
              <a:rPr b="1" sz="1900">
                <a:solidFill>
                  <a:srgbClr val="142638"/>
                </a:solidFill>
                <a:latin typeface="Helvetica Neue"/>
              </a:rPr>
              <a:t>Se inicializa el parámetro</a:t>
            </a:r>
            <a:r>
              <a:rPr b="0" sz="1900">
                <a:solidFill>
                  <a:srgbClr val="2E3A46"/>
                </a:solidFill>
                <a:latin typeface="Helvetica Neue"/>
              </a:rPr>
              <a:t> copiando el valor del argumento.</a:t>
            </a:r>
          </a:p>
          <a:p>
            <a:pPr marL="301752" indent="-301752">
              <a:spcBef>
                <a:spcPts val="1100"/>
              </a:spcBef>
            </a:pPr>
            <a:r>
              <a:rPr sz="1900">
                <a:solidFill>
                  <a:srgbClr val="0B6E6E"/>
                </a:solidFill>
                <a:latin typeface="Helvetica Neue"/>
              </a:rPr>
              <a:t>•  </a:t>
            </a:r>
            <a:r>
              <a:rPr b="0" sz="1900">
                <a:solidFill>
                  <a:srgbClr val="2E3A46"/>
                </a:solidFill>
                <a:latin typeface="Helvetica Neue"/>
              </a:rPr>
              <a:t>Se ejecuta el cuerpo de la función.</a:t>
            </a:r>
          </a:p>
          <a:p>
            <a:pPr marL="301752" indent="-301752">
              <a:spcBef>
                <a:spcPts val="1100"/>
              </a:spcBef>
            </a:pPr>
            <a:r>
              <a:rPr sz="1900">
                <a:solidFill>
                  <a:srgbClr val="0B6E6E"/>
                </a:solidFill>
                <a:latin typeface="Helvetica Neue"/>
              </a:rPr>
              <a:t>•  </a:t>
            </a:r>
            <a:r>
              <a:rPr b="0" sz="1900">
                <a:solidFill>
                  <a:srgbClr val="2E3A46"/>
                </a:solidFill>
                <a:latin typeface="Helvetica Neue"/>
              </a:rPr>
              <a:t>Se destruyen los objetos locales y se libera el marco.</a:t>
            </a:r>
          </a:p>
          <a:p>
            <a:pPr>
              <a:spcBef>
                <a:spcPts val="1100"/>
              </a:spcBef>
            </a:pPr>
          </a:p>
          <a:p>
            <a:pPr marL="301752" indent="-301752">
              <a:spcBef>
                <a:spcPts val="1100"/>
              </a:spcBef>
            </a:pPr>
            <a:r>
              <a:rPr sz="1900">
                <a:solidFill>
                  <a:srgbClr val="0B6E6E"/>
                </a:solidFill>
                <a:latin typeface="Helvetica Neue"/>
              </a:rPr>
              <a:t>•  </a:t>
            </a:r>
            <a:r>
              <a:rPr b="0" sz="1900">
                <a:solidFill>
                  <a:srgbClr val="2E3A46"/>
                </a:solidFill>
                <a:latin typeface="Helvetica Neue"/>
              </a:rPr>
              <a:t>Con un parámetro </a:t>
            </a:r>
            <a:r>
              <a:rPr sz="1800">
                <a:solidFill>
                  <a:srgbClr val="0B6E6E"/>
                </a:solidFill>
                <a:latin typeface="Menlo"/>
              </a:rPr>
              <a:t>int&amp;</a:t>
            </a:r>
            <a:r>
              <a:rPr b="0" sz="1900">
                <a:solidFill>
                  <a:srgbClr val="2E3A46"/>
                </a:solidFill>
                <a:latin typeface="Helvetica Neue"/>
              </a:rPr>
              <a:t> cambia solo el paso 3: el parámetro </a:t>
            </a:r>
            <a:r>
              <a:rPr b="1" sz="1900">
                <a:solidFill>
                  <a:srgbClr val="142638"/>
                </a:solidFill>
                <a:latin typeface="Helvetica Neue"/>
              </a:rPr>
              <a:t>no es un objeto nuevo</a:t>
            </a:r>
            <a:r>
              <a:rPr b="0" sz="1900">
                <a:solidFill>
                  <a:srgbClr val="2E3A46"/>
                </a:solidFill>
                <a:latin typeface="Helvetica Neue"/>
              </a:rPr>
              <a:t>, se liga al objeto del llamador.</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01_marco_de_pila.cpp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./build/bin/exp_01_marco_de_pila</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Las direcciones </a:t>
            </a:r>
            <a:r>
              <a:rPr b="1" sz="1800">
                <a:solidFill>
                  <a:srgbClr val="142638"/>
                </a:solidFill>
                <a:latin typeface="Helvetica Neue"/>
              </a:rPr>
              <a:t>bajan</a:t>
            </a:r>
            <a:r>
              <a:rPr b="0" sz="1800">
                <a:solidFill>
                  <a:srgbClr val="2E3A46"/>
                </a:solidFill>
                <a:latin typeface="Helvetica Neue"/>
              </a:rPr>
              <a:t> conforme se anidan las llamadas.</a:t>
            </a:r>
          </a:p>
          <a:p>
            <a:pPr>
              <a:spcBef>
                <a:spcPts val="1000"/>
              </a:spcBef>
            </a:pPr>
            <a:r>
              <a:rPr sz="1800">
                <a:solidFill>
                  <a:srgbClr val="0B6E6E"/>
                </a:solidFill>
                <a:latin typeface="Helvetica Neue"/>
              </a:rPr>
              <a:t>→  </a:t>
            </a:r>
            <a:r>
              <a:rPr b="0" sz="1800">
                <a:solidFill>
                  <a:srgbClr val="2E3A46"/>
                </a:solidFill>
                <a:latin typeface="Helvetica Neue"/>
              </a:rPr>
              <a:t>Dos cadenas de llamadas consecutivas reutilizan </a:t>
            </a:r>
            <a:r>
              <a:rPr b="1" sz="1800">
                <a:solidFill>
                  <a:srgbClr val="142638"/>
                </a:solidFill>
                <a:latin typeface="Helvetica Neue"/>
              </a:rPr>
              <a:t>la misma memoria</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Un parámetro es una variable local más del marco.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2</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Paso de argumentos por valor</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30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Qué se copia exactamente</a:t>
            </a:r>
          </a:p>
          <a:p>
            <a:pPr>
              <a:spcBef>
                <a:spcPts val="500"/>
              </a:spcBef>
            </a:pPr>
            <a:r>
              <a:rPr b="0" sz="1500">
                <a:solidFill>
                  <a:srgbClr val="C5D0D8"/>
                </a:solidFill>
                <a:latin typeface="Helvetica Neue"/>
              </a:rPr>
              <a:t>·  El intercambio que no intercambia</a:t>
            </a:r>
          </a:p>
          <a:p>
            <a:pPr>
              <a:spcBef>
                <a:spcPts val="500"/>
              </a:spcBef>
            </a:pPr>
            <a:r>
              <a:rPr b="0" sz="1500">
                <a:solidFill>
                  <a:srgbClr val="C5D0D8"/>
                </a:solidFill>
                <a:latin typeface="Helvetica Neue"/>
              </a:rPr>
              <a:t>·  Cuánto cuesta una copia</a:t>
            </a:r>
          </a:p>
          <a:p>
            <a:pPr>
              <a:spcBef>
                <a:spcPts val="500"/>
              </a:spcBef>
            </a:pPr>
            <a:r>
              <a:rPr b="0" sz="1500">
                <a:solidFill>
                  <a:srgbClr val="C5D0D8"/>
                </a:solidFill>
                <a:latin typeface="Helvetica Neue"/>
              </a:rPr>
              <a:t>·  Cuándo es la opción correcta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400">
                <a:solidFill>
                  <a:srgbClr val="FFFFFF"/>
                </a:solidFill>
                <a:latin typeface="Helvetica Neue"/>
              </a:rPr>
              <a:t>En el paso por valor, el parámetro es un </a:t>
            </a:r>
            <a:r>
              <a:rPr b="1" sz="3400">
                <a:solidFill>
                  <a:srgbClr val="FFFFFF"/>
                </a:solidFill>
                <a:latin typeface="Helvetica Neue"/>
              </a:rPr>
              <a:t>objeto independiente</a:t>
            </a:r>
            <a:r>
              <a:rPr b="0" sz="3400">
                <a:solidFill>
                  <a:srgbClr val="FFFFFF"/>
                </a:solidFill>
                <a:latin typeface="Helvetica Neue"/>
              </a:rPr>
              <a:t> que se inicializa copiando el valor del argumento.</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A partir de ahí, no existe ninguna relación entre los dos.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Paso por valor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329641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315010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3022092"/>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void intenta_modificar(int copia) {</a:t>
            </a:r>
          </a:p>
          <a:p>
            <a:pPr>
              <a:lnSpc>
                <a:spcPct val="106000"/>
              </a:lnSpc>
              <a:spcBef>
                <a:spcPts val="0"/>
              </a:spcBef>
            </a:pPr>
            <a:r>
              <a:rPr sz="1400" b="0">
                <a:solidFill>
                  <a:srgbClr val="1E2B33"/>
                </a:solidFill>
                <a:latin typeface="Menlo"/>
              </a:rPr>
              <a:t>    std::cout &lt;&lt; &amp;copia;      </a:t>
            </a:r>
            <a:r>
              <a:rPr sz="1400" b="0">
                <a:solidFill>
                  <a:srgbClr val="6B7A74"/>
                </a:solidFill>
                <a:latin typeface="Menlo"/>
              </a:rPr>
              <a:t>// dirección A</a:t>
            </a:r>
          </a:p>
          <a:p>
            <a:pPr>
              <a:lnSpc>
                <a:spcPct val="106000"/>
              </a:lnSpc>
              <a:spcBef>
                <a:spcPts val="0"/>
              </a:spcBef>
            </a:pPr>
            <a:r>
              <a:rPr sz="1400" b="1">
                <a:solidFill>
                  <a:srgbClr val="A8431B"/>
                </a:solidFill>
                <a:latin typeface="Menlo"/>
              </a:rPr>
              <a:t>    copia = 999;              </a:t>
            </a:r>
            <a:r>
              <a:rPr sz="1400" b="1">
                <a:solidFill>
                  <a:srgbClr val="A8431B"/>
                </a:solidFill>
                <a:latin typeface="Menlo"/>
              </a:rPr>
              <a:t>// modifica SOLO la variable local</a:t>
            </a:r>
          </a:p>
          <a:p>
            <a:pPr>
              <a:lnSpc>
                <a:spcPct val="106000"/>
              </a:lnSpc>
              <a:spcBef>
                <a:spcPts val="0"/>
              </a:spcBef>
            </a:pPr>
            <a:r>
              <a:rPr sz="1400" b="1">
                <a:solidFill>
                  <a:srgbClr val="A8431B"/>
                </a:solidFill>
                <a:latin typeface="Menlo"/>
              </a:rPr>
              <a:t>}</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int main() {</a:t>
            </a:r>
          </a:p>
          <a:p>
            <a:pPr>
              <a:lnSpc>
                <a:spcPct val="106000"/>
              </a:lnSpc>
              <a:spcBef>
                <a:spcPts val="0"/>
              </a:spcBef>
            </a:pPr>
            <a:r>
              <a:rPr sz="1400" b="0">
                <a:solidFill>
                  <a:srgbClr val="1E2B33"/>
                </a:solidFill>
                <a:latin typeface="Menlo"/>
              </a:rPr>
              <a:t>    int original = 42;</a:t>
            </a:r>
          </a:p>
          <a:p>
            <a:pPr>
              <a:lnSpc>
                <a:spcPct val="106000"/>
              </a:lnSpc>
              <a:spcBef>
                <a:spcPts val="0"/>
              </a:spcBef>
            </a:pPr>
            <a:r>
              <a:rPr sz="1400" b="0">
                <a:solidFill>
                  <a:srgbClr val="1E2B33"/>
                </a:solidFill>
                <a:latin typeface="Menlo"/>
              </a:rPr>
              <a:t>    std::cout &lt;&lt; &amp;original;   </a:t>
            </a:r>
            <a:r>
              <a:rPr sz="1400" b="0">
                <a:solidFill>
                  <a:srgbClr val="6B7A74"/>
                </a:solidFill>
                <a:latin typeface="Menlo"/>
              </a:rPr>
              <a:t>// dirección B, distinta de A</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    intenta_modificar(original);</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    std::cout &lt;&lt; original;    </a:t>
            </a:r>
            <a:r>
              <a:rPr sz="1400" b="0">
                <a:solidFill>
                  <a:srgbClr val="6B7A74"/>
                </a:solidFill>
                <a:latin typeface="Menlo"/>
              </a:rPr>
              <a:t>// sigue valiendo 42</a:t>
            </a:r>
          </a:p>
          <a:p>
            <a:pPr>
              <a:lnSpc>
                <a:spcPct val="106000"/>
              </a:lnSpc>
              <a:spcBef>
                <a:spcPts val="0"/>
              </a:spcBef>
            </a:pPr>
            <a:r>
              <a:rPr sz="1400" b="0">
                <a:solidFill>
                  <a:srgbClr val="1E2B33"/>
                </a:solidFill>
                <a:latin typeface="Menlo"/>
              </a:rPr>
              <a:t>}</a:t>
            </a:r>
          </a:p>
        </p:txBody>
      </p:sp>
      <p:sp>
        <p:nvSpPr>
          <p:cNvPr id="7" name="TextBox 6"/>
          <p:cNvSpPr txBox="1"/>
          <p:nvPr/>
        </p:nvSpPr>
        <p:spPr>
          <a:xfrm>
            <a:off x="777240" y="5326380"/>
            <a:ext cx="10637215" cy="548640"/>
          </a:xfrm>
          <a:prstGeom prst="rect">
            <a:avLst/>
          </a:prstGeom>
          <a:noFill/>
        </p:spPr>
        <p:txBody>
          <a:bodyPr wrap="square" lIns="0" rIns="0" tIns="0" bIns="0">
            <a:spAutoFit/>
          </a:bodyPr>
          <a:lstStyle/>
          <a:p>
            <a:r>
              <a:rPr b="0" sz="1600">
                <a:solidFill>
                  <a:srgbClr val="0B6E6E"/>
                </a:solidFill>
                <a:latin typeface="Helvetica Neue"/>
              </a:rPr>
              <a:t>Direcciones distintas significan objetos distintos. Solo se copió el valor inicial.</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02_paso_por_valor.cpp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./build/bin/exp_02_paso_por_valor</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Preguntar </a:t>
            </a:r>
            <a:r>
              <a:rPr b="1" sz="1800">
                <a:solidFill>
                  <a:srgbClr val="142638"/>
                </a:solidFill>
                <a:latin typeface="Helvetica Neue"/>
              </a:rPr>
              <a:t>antes</a:t>
            </a:r>
            <a:r>
              <a:rPr b="0" sz="1800">
                <a:solidFill>
                  <a:srgbClr val="2E3A46"/>
                </a:solidFill>
                <a:latin typeface="Helvetica Neue"/>
              </a:rPr>
              <a:t> de ejecutar qué va a imprimir.</a:t>
            </a:r>
          </a:p>
          <a:p>
            <a:pPr>
              <a:spcBef>
                <a:spcPts val="1000"/>
              </a:spcBef>
            </a:pPr>
            <a:r>
              <a:rPr sz="1800">
                <a:solidFill>
                  <a:srgbClr val="0B6E6E"/>
                </a:solidFill>
                <a:latin typeface="Helvetica Neue"/>
              </a:rPr>
              <a:t>→  </a:t>
            </a:r>
            <a:r>
              <a:rPr b="0" sz="1800">
                <a:solidFill>
                  <a:srgbClr val="2E3A46"/>
                </a:solidFill>
                <a:latin typeface="Helvetica Neue"/>
              </a:rPr>
              <a:t>Comparar las direcciones de dentro y de fuera.</a:t>
            </a:r>
          </a:p>
          <a:p>
            <a:pPr>
              <a:spcBef>
                <a:spcPts val="1000"/>
              </a:spcBef>
            </a:pPr>
            <a:r>
              <a:rPr sz="1800">
                <a:solidFill>
                  <a:srgbClr val="0B6E6E"/>
                </a:solidFill>
                <a:latin typeface="Helvetica Neue"/>
              </a:rPr>
              <a:t>→  </a:t>
            </a:r>
            <a:r>
              <a:rPr b="0" sz="1800">
                <a:solidFill>
                  <a:srgbClr val="2E3A46"/>
                </a:solidFill>
                <a:latin typeface="Helvetica Neue"/>
              </a:rPr>
              <a:t>Repetirlo con una estructura: se copia campo por campo.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Qué se copia exactamente</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4" cy="2057400"/>
        </p:xfrm>
        <a:graphic>
          <a:graphicData uri="http://schemas.openxmlformats.org/drawingml/2006/table">
            <a:tbl>
              <a:tblPr firstRow="1" bandRow="1">
                <a:tableStyleId>{5C22544A-7EE6-4342-B048-85BDC9FD1C3A}</a:tableStyleId>
              </a:tblPr>
              <a:tblGrid>
                <a:gridCol w="3545738"/>
                <a:gridCol w="4432173"/>
                <a:gridCol w="2659303"/>
              </a:tblGrid>
              <a:tr h="411480">
                <a:tc>
                  <a:txBody>
                    <a:bodyPr/>
                    <a:lstStyle/>
                    <a:p>
                      <a:r>
                        <a:rPr b="1" sz="1400">
                          <a:solidFill>
                            <a:srgbClr val="FFFFFF"/>
                          </a:solidFill>
                          <a:latin typeface="Helvetica Neue"/>
                        </a:rPr>
                        <a:t>Tipo del parámetro</a:t>
                      </a:r>
                    </a:p>
                  </a:txBody>
                  <a:tcPr anchor="ctr" marL="109728" marR="109728">
                    <a:solidFill>
                      <a:srgbClr val="142638"/>
                    </a:solidFill>
                  </a:tcPr>
                </a:tc>
                <a:tc>
                  <a:txBody>
                    <a:bodyPr/>
                    <a:lstStyle/>
                    <a:p>
                      <a:r>
                        <a:rPr b="1" sz="1400">
                          <a:solidFill>
                            <a:srgbClr val="FFFFFF"/>
                          </a:solidFill>
                          <a:latin typeface="Helvetica Neue"/>
                        </a:rPr>
                        <a:t>Qué ocurre</a:t>
                      </a:r>
                    </a:p>
                  </a:txBody>
                  <a:tcPr anchor="ctr" marL="109728" marR="109728">
                    <a:solidFill>
                      <a:srgbClr val="142638"/>
                    </a:solidFill>
                  </a:tcPr>
                </a:tc>
                <a:tc>
                  <a:txBody>
                    <a:bodyPr/>
                    <a:lstStyle/>
                    <a:p>
                      <a:r>
                        <a:rPr b="1" sz="1400">
                          <a:solidFill>
                            <a:srgbClr val="FFFFFF"/>
                          </a:solidFill>
                          <a:latin typeface="Helvetica Neue"/>
                        </a:rPr>
                        <a:t>Coste</a:t>
                      </a:r>
                    </a:p>
                  </a:txBody>
                  <a:tcPr anchor="ctr" marL="109728" marR="109728">
                    <a:solidFill>
                      <a:srgbClr val="142638"/>
                    </a:solidFill>
                  </a:tcPr>
                </a:tc>
              </a:tr>
              <a:tr h="411480">
                <a:tc>
                  <a:txBody>
                    <a:bodyPr/>
                    <a:lstStyle/>
                    <a:p>
                      <a:r>
                        <a:rPr sz="1300">
                          <a:solidFill>
                            <a:srgbClr val="0B6E6E"/>
                          </a:solidFill>
                          <a:latin typeface="Menlo"/>
                        </a:rPr>
                        <a:t>int</a:t>
                      </a:r>
                      <a:r>
                        <a:rPr b="0" sz="1400">
                          <a:solidFill>
                            <a:srgbClr val="2E3A46"/>
                          </a:solidFill>
                          <a:latin typeface="Helvetica Neue"/>
                        </a:rPr>
                        <a:t>, </a:t>
                      </a:r>
                      <a:r>
                        <a:rPr sz="1300">
                          <a:solidFill>
                            <a:srgbClr val="0B6E6E"/>
                          </a:solidFill>
                          <a:latin typeface="Menlo"/>
                        </a:rPr>
                        <a:t>double</a:t>
                      </a:r>
                      <a:r>
                        <a:rPr b="0" sz="1400">
                          <a:solidFill>
                            <a:srgbClr val="2E3A46"/>
                          </a:solidFill>
                          <a:latin typeface="Helvetica Neue"/>
                        </a:rPr>
                        <a:t>, </a:t>
                      </a:r>
                      <a:r>
                        <a:rPr sz="1300">
                          <a:solidFill>
                            <a:srgbClr val="0B6E6E"/>
                          </a:solidFill>
                          <a:latin typeface="Menlo"/>
                        </a:rPr>
                        <a:t>char</a:t>
                      </a:r>
                      <a:r>
                        <a:rPr b="0" sz="1400">
                          <a:solidFill>
                            <a:srgbClr val="2E3A46"/>
                          </a:solidFill>
                          <a:latin typeface="Helvetica Neue"/>
                        </a:rPr>
                        <a:t>, punteros</a:t>
                      </a:r>
                    </a:p>
                  </a:txBody>
                  <a:tcPr anchor="ctr" marL="109728" marR="109728">
                    <a:solidFill>
                      <a:srgbClr val="FFFFFF"/>
                    </a:solidFill>
                  </a:tcPr>
                </a:tc>
                <a:tc>
                  <a:txBody>
                    <a:bodyPr/>
                    <a:lstStyle/>
                    <a:p>
                      <a:r>
                        <a:rPr b="0" sz="1400">
                          <a:solidFill>
                            <a:srgbClr val="2E3A46"/>
                          </a:solidFill>
                          <a:latin typeface="Helvetica Neue"/>
                        </a:rPr>
                        <a:t>se copian los bits</a:t>
                      </a:r>
                    </a:p>
                  </a:txBody>
                  <a:tcPr anchor="ctr" marL="109728" marR="109728">
                    <a:solidFill>
                      <a:srgbClr val="FFFFFF"/>
                    </a:solidFill>
                  </a:tcPr>
                </a:tc>
                <a:tc>
                  <a:txBody>
                    <a:bodyPr/>
                    <a:lstStyle/>
                    <a:p>
                      <a:r>
                        <a:rPr b="0" sz="1400">
                          <a:solidFill>
                            <a:srgbClr val="2E3A46"/>
                          </a:solidFill>
                          <a:latin typeface="Helvetica Neue"/>
                        </a:rPr>
                        <a:t>uno o dos ciclos</a:t>
                      </a:r>
                    </a:p>
                  </a:txBody>
                  <a:tcPr anchor="ctr" marL="109728" marR="109728">
                    <a:solidFill>
                      <a:srgbClr val="FFFFFF"/>
                    </a:solidFill>
                  </a:tcPr>
                </a:tc>
              </a:tr>
              <a:tr h="411480">
                <a:tc>
                  <a:txBody>
                    <a:bodyPr/>
                    <a:lstStyle/>
                    <a:p>
                      <a:r>
                        <a:rPr b="0" sz="1400">
                          <a:solidFill>
                            <a:srgbClr val="2E3A46"/>
                          </a:solidFill>
                          <a:latin typeface="Helvetica Neue"/>
                        </a:rPr>
                        <a:t>estructura o clase</a:t>
                      </a:r>
                    </a:p>
                  </a:txBody>
                  <a:tcPr anchor="ctr" marL="109728" marR="109728">
                    <a:solidFill>
                      <a:srgbClr val="F2F4F3"/>
                    </a:solidFill>
                  </a:tcPr>
                </a:tc>
                <a:tc>
                  <a:txBody>
                    <a:bodyPr/>
                    <a:lstStyle/>
                    <a:p>
                      <a:r>
                        <a:rPr b="0" sz="1400">
                          <a:solidFill>
                            <a:srgbClr val="2E3A46"/>
                          </a:solidFill>
                          <a:latin typeface="Helvetica Neue"/>
                        </a:rPr>
                        <a:t>se invoca el </a:t>
                      </a:r>
                      <a:r>
                        <a:rPr b="1" sz="1400">
                          <a:solidFill>
                            <a:srgbClr val="142638"/>
                          </a:solidFill>
                          <a:latin typeface="Helvetica Neue"/>
                        </a:rPr>
                        <a:t>constructor de copia</a:t>
                      </a:r>
                    </a:p>
                  </a:txBody>
                  <a:tcPr anchor="ctr" marL="109728" marR="109728">
                    <a:solidFill>
                      <a:srgbClr val="F2F4F3"/>
                    </a:solidFill>
                  </a:tcPr>
                </a:tc>
                <a:tc>
                  <a:txBody>
                    <a:bodyPr/>
                    <a:lstStyle/>
                    <a:p>
                      <a:r>
                        <a:rPr b="0" sz="1400">
                          <a:solidFill>
                            <a:srgbClr val="2E3A46"/>
                          </a:solidFill>
                          <a:latin typeface="Helvetica Neue"/>
                        </a:rPr>
                        <a:t>depende de la clase</a:t>
                      </a:r>
                    </a:p>
                  </a:txBody>
                  <a:tcPr anchor="ctr" marL="109728" marR="109728">
                    <a:solidFill>
                      <a:srgbClr val="F2F4F3"/>
                    </a:solidFill>
                  </a:tcPr>
                </a:tc>
              </a:tr>
              <a:tr h="411480">
                <a:tc>
                  <a:txBody>
                    <a:bodyPr/>
                    <a:lstStyle/>
                    <a:p>
                      <a:r>
                        <a:rPr sz="1300">
                          <a:solidFill>
                            <a:srgbClr val="1E2B33"/>
                          </a:solidFill>
                          <a:latin typeface="Menlo"/>
                        </a:rPr>
                        <a:t>std::string`, `std::vector</a:t>
                      </a:r>
                    </a:p>
                  </a:txBody>
                  <a:tcPr anchor="ctr" marL="109728" marR="109728">
                    <a:solidFill>
                      <a:srgbClr val="FFFFFF"/>
                    </a:solidFill>
                  </a:tcPr>
                </a:tc>
                <a:tc>
                  <a:txBody>
                    <a:bodyPr/>
                    <a:lstStyle/>
                    <a:p>
                      <a:r>
                        <a:rPr b="0" sz="1400">
                          <a:solidFill>
                            <a:srgbClr val="2E3A46"/>
                          </a:solidFill>
                          <a:latin typeface="Helvetica Neue"/>
                        </a:rPr>
                        <a:t>copia </a:t>
                      </a:r>
                      <a:r>
                        <a:rPr b="1" sz="1400">
                          <a:solidFill>
                            <a:srgbClr val="142638"/>
                          </a:solidFill>
                          <a:latin typeface="Helvetica Neue"/>
                        </a:rPr>
                        <a:t>profunda</a:t>
                      </a:r>
                      <a:r>
                        <a:rPr b="0" sz="1400">
                          <a:solidFill>
                            <a:srgbClr val="2E3A46"/>
                          </a:solidFill>
                          <a:latin typeface="Helvetica Neue"/>
                        </a:rPr>
                        <a:t> de todo el contenido</a:t>
                      </a:r>
                    </a:p>
                  </a:txBody>
                  <a:tcPr anchor="ctr" marL="109728" marR="109728">
                    <a:solidFill>
                      <a:srgbClr val="FFFFFF"/>
                    </a:solidFill>
                  </a:tcPr>
                </a:tc>
                <a:tc>
                  <a:txBody>
                    <a:bodyPr/>
                    <a:lstStyle/>
                    <a:p>
                      <a:r>
                        <a:rPr b="0" sz="1400">
                          <a:solidFill>
                            <a:srgbClr val="2E3A46"/>
                          </a:solidFill>
                          <a:latin typeface="Helvetica Neue"/>
                        </a:rPr>
                        <a:t>proporcional al tamaño</a:t>
                      </a:r>
                    </a:p>
                  </a:txBody>
                  <a:tcPr anchor="ctr" marL="109728" marR="109728">
                    <a:solidFill>
                      <a:srgbClr val="FFFFFF"/>
                    </a:solidFill>
                  </a:tcPr>
                </a:tc>
              </a:tr>
              <a:tr h="411480">
                <a:tc>
                  <a:txBody>
                    <a:bodyPr/>
                    <a:lstStyle/>
                    <a:p>
                      <a:r>
                        <a:rPr b="1" sz="1400">
                          <a:solidFill>
                            <a:srgbClr val="142638"/>
                          </a:solidFill>
                          <a:latin typeface="Helvetica Neue"/>
                        </a:rPr>
                        <a:t>arreglo crudo</a:t>
                      </a:r>
                    </a:p>
                  </a:txBody>
                  <a:tcPr anchor="ctr" marL="109728" marR="109728">
                    <a:solidFill>
                      <a:srgbClr val="F2F4F3"/>
                    </a:solidFill>
                  </a:tcPr>
                </a:tc>
                <a:tc>
                  <a:txBody>
                    <a:bodyPr/>
                    <a:lstStyle/>
                    <a:p>
                      <a:r>
                        <a:rPr b="1" sz="1400">
                          <a:solidFill>
                            <a:srgbClr val="142638"/>
                          </a:solidFill>
                          <a:latin typeface="Helvetica Neue"/>
                        </a:rPr>
                        <a:t>no se copia</a:t>
                      </a:r>
                      <a:r>
                        <a:rPr b="0" sz="1400">
                          <a:solidFill>
                            <a:srgbClr val="2E3A46"/>
                          </a:solidFill>
                          <a:latin typeface="Helvetica Neue"/>
                        </a:rPr>
                        <a:t>: decae a puntero</a:t>
                      </a:r>
                    </a:p>
                  </a:txBody>
                  <a:tcPr anchor="ctr" marL="109728" marR="109728">
                    <a:solidFill>
                      <a:srgbClr val="F2F4F3"/>
                    </a:solidFill>
                  </a:tcPr>
                </a:tc>
                <a:tc>
                  <a:txBody>
                    <a:bodyPr/>
                    <a:lstStyle/>
                    <a:p>
                      <a:r>
                        <a:rPr b="0" sz="1400">
                          <a:solidFill>
                            <a:srgbClr val="2E3A46"/>
                          </a:solidFill>
                          <a:latin typeface="Helvetica Neue"/>
                        </a:rPr>
                        <a:t>constante</a:t>
                      </a:r>
                    </a:p>
                  </a:txBody>
                  <a:tcPr anchor="ctr" marL="109728" marR="109728">
                    <a:solidFill>
                      <a:srgbClr val="F2F4F3"/>
                    </a:solidFill>
                  </a:tcPr>
                </a:tc>
              </a:tr>
            </a:tbl>
          </a:graphicData>
        </a:graphic>
      </p:graphicFrame>
      <p:sp>
        <p:nvSpPr>
          <p:cNvPr id="5" name="TextBox 4"/>
          <p:cNvSpPr txBox="1"/>
          <p:nvPr/>
        </p:nvSpPr>
        <p:spPr>
          <a:xfrm>
            <a:off x="777240" y="4114800"/>
            <a:ext cx="10637215" cy="548640"/>
          </a:xfrm>
          <a:prstGeom prst="rect">
            <a:avLst/>
          </a:prstGeom>
          <a:noFill/>
        </p:spPr>
        <p:txBody>
          <a:bodyPr wrap="square" lIns="0" rIns="0" tIns="0" bIns="0">
            <a:spAutoFit/>
          </a:bodyPr>
          <a:lstStyle/>
          <a:p>
            <a:r>
              <a:rPr b="0" sz="1500">
                <a:solidFill>
                  <a:srgbClr val="0B6E6E"/>
                </a:solidFill>
                <a:latin typeface="Helvetica Neue"/>
              </a:rPr>
              <a:t>La última fila es la excepción del lenguaje. Es el tema del bloque 8.</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intercambio que no intercambia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La lógica es correcta. El resultado es nulo.</a:t>
            </a:r>
          </a:p>
        </p:txBody>
      </p:sp>
      <p:sp>
        <p:nvSpPr>
          <p:cNvPr id="5" name="Rounded Rectangle 4"/>
          <p:cNvSpPr/>
          <p:nvPr/>
        </p:nvSpPr>
        <p:spPr>
          <a:xfrm>
            <a:off x="777240" y="1828800"/>
            <a:ext cx="10637215" cy="3072384"/>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292608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2798064"/>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void intercambia_mal(int a, int b) {</a:t>
            </a:r>
          </a:p>
          <a:p>
            <a:pPr>
              <a:lnSpc>
                <a:spcPct val="106000"/>
              </a:lnSpc>
              <a:spcBef>
                <a:spcPts val="0"/>
              </a:spcBef>
            </a:pPr>
            <a:r>
              <a:rPr sz="1400" b="0">
                <a:solidFill>
                  <a:srgbClr val="1E2B33"/>
                </a:solidFill>
                <a:latin typeface="Menlo"/>
              </a:rPr>
              <a:t>    int temporal = a;</a:t>
            </a:r>
          </a:p>
          <a:p>
            <a:pPr>
              <a:lnSpc>
                <a:spcPct val="106000"/>
              </a:lnSpc>
              <a:spcBef>
                <a:spcPts val="0"/>
              </a:spcBef>
            </a:pPr>
            <a:r>
              <a:rPr sz="1400" b="0">
                <a:solidFill>
                  <a:srgbClr val="1E2B33"/>
                </a:solidFill>
                <a:latin typeface="Menlo"/>
              </a:rPr>
              <a:t>    a = b;</a:t>
            </a:r>
          </a:p>
          <a:p>
            <a:pPr>
              <a:lnSpc>
                <a:spcPct val="106000"/>
              </a:lnSpc>
              <a:spcBef>
                <a:spcPts val="0"/>
              </a:spcBef>
            </a:pPr>
            <a:r>
              <a:rPr sz="1400" b="0">
                <a:solidFill>
                  <a:srgbClr val="1E2B33"/>
                </a:solidFill>
                <a:latin typeface="Menlo"/>
              </a:rPr>
              <a:t>    b = temporal;</a:t>
            </a:r>
          </a:p>
          <a:p>
            <a:pPr>
              <a:lnSpc>
                <a:spcPct val="106000"/>
              </a:lnSpc>
              <a:spcBef>
                <a:spcPts val="0"/>
              </a:spcBef>
            </a:pPr>
            <a:r>
              <a:rPr sz="1400" b="0">
                <a:solidFill>
                  <a:srgbClr val="6B7A74"/>
                </a:solidFill>
                <a:latin typeface="Menlo"/>
              </a:rPr>
              <a:t>    // aquí a y b sí están intercambiadas</a:t>
            </a:r>
          </a:p>
          <a:p>
            <a:pPr>
              <a:lnSpc>
                <a:spcPct val="106000"/>
              </a:lnSpc>
              <a:spcBef>
                <a:spcPts val="0"/>
              </a:spcBef>
            </a:pPr>
            <a:r>
              <a:rPr sz="1400" b="1">
                <a:solidFill>
                  <a:srgbClr val="A8431B"/>
                </a:solidFill>
                <a:latin typeface="Menlo"/>
              </a:rPr>
              <a:t>}                             </a:t>
            </a:r>
            <a:r>
              <a:rPr sz="1400" b="1">
                <a:solidFill>
                  <a:srgbClr val="A8431B"/>
                </a:solidFill>
                <a:latin typeface="Menlo"/>
              </a:rPr>
              <a:t>// ...y aquí mueren las dos</a:t>
            </a:r>
          </a:p>
          <a:p>
            <a:pPr>
              <a:lnSpc>
                <a:spcPct val="106000"/>
              </a:lnSpc>
              <a:spcBef>
                <a:spcPts val="0"/>
              </a:spcBef>
            </a:pPr>
            <a:r>
              <a:rPr sz="1400" b="1">
                <a:solidFill>
                  <a:srgbClr val="A8431B"/>
                </a:solidFill>
                <a:latin typeface="Menlo"/>
              </a:rPr>
              <a:t> </a:t>
            </a:r>
          </a:p>
          <a:p>
            <a:pPr>
              <a:lnSpc>
                <a:spcPct val="106000"/>
              </a:lnSpc>
              <a:spcBef>
                <a:spcPts val="0"/>
              </a:spcBef>
            </a:pPr>
            <a:r>
              <a:rPr sz="1400" b="0">
                <a:solidFill>
                  <a:srgbClr val="1E2B33"/>
                </a:solidFill>
                <a:latin typeface="Menlo"/>
              </a:rPr>
              <a:t>int main() {</a:t>
            </a:r>
          </a:p>
          <a:p>
            <a:pPr>
              <a:lnSpc>
                <a:spcPct val="106000"/>
              </a:lnSpc>
              <a:spcBef>
                <a:spcPts val="0"/>
              </a:spcBef>
            </a:pPr>
            <a:r>
              <a:rPr sz="1400" b="0">
                <a:solidFill>
                  <a:srgbClr val="1E2B33"/>
                </a:solidFill>
                <a:latin typeface="Menlo"/>
              </a:rPr>
              <a:t>    int x = 1, y = 2;</a:t>
            </a:r>
          </a:p>
          <a:p>
            <a:pPr>
              <a:lnSpc>
                <a:spcPct val="106000"/>
              </a:lnSpc>
              <a:spcBef>
                <a:spcPts val="0"/>
              </a:spcBef>
            </a:pPr>
            <a:r>
              <a:rPr sz="1400" b="0">
                <a:solidFill>
                  <a:srgbClr val="1E2B33"/>
                </a:solidFill>
                <a:latin typeface="Menlo"/>
              </a:rPr>
              <a:t>    intercambia_mal(x, y);</a:t>
            </a:r>
          </a:p>
          <a:p>
            <a:pPr>
              <a:lnSpc>
                <a:spcPct val="106000"/>
              </a:lnSpc>
              <a:spcBef>
                <a:spcPts val="0"/>
              </a:spcBef>
            </a:pPr>
            <a:r>
              <a:rPr sz="1400" b="0">
                <a:solidFill>
                  <a:srgbClr val="1E2B33"/>
                </a:solidFill>
                <a:latin typeface="Menlo"/>
              </a:rPr>
              <a:t>    std::cout &lt;&lt; x &lt;&lt; y;      </a:t>
            </a:r>
            <a:r>
              <a:rPr sz="1400" b="0">
                <a:solidFill>
                  <a:srgbClr val="6B7A74"/>
                </a:solidFill>
                <a:latin typeface="Menlo"/>
              </a:rPr>
              <a:t>// imprime 1 2</a:t>
            </a:r>
          </a:p>
          <a:p>
            <a:pPr>
              <a:lnSpc>
                <a:spcPct val="106000"/>
              </a:lnSpc>
              <a:spcBef>
                <a:spcPts val="0"/>
              </a:spcBef>
            </a:pPr>
            <a:r>
              <a:rPr sz="1400" b="0">
                <a:solidFill>
                  <a:srgbClr val="1E2B33"/>
                </a:solidFill>
                <a:latin typeface="Menlo"/>
              </a:rPr>
              <a:t>}</a:t>
            </a:r>
          </a:p>
        </p:txBody>
      </p:sp>
      <p:sp>
        <p:nvSpPr>
          <p:cNvPr id="8" name="TextBox 7"/>
          <p:cNvSpPr txBox="1"/>
          <p:nvPr/>
        </p:nvSpPr>
        <p:spPr>
          <a:xfrm>
            <a:off x="777240" y="5102352"/>
            <a:ext cx="10637215" cy="548640"/>
          </a:xfrm>
          <a:prstGeom prst="rect">
            <a:avLst/>
          </a:prstGeom>
          <a:noFill/>
        </p:spPr>
        <p:txBody>
          <a:bodyPr wrap="square" lIns="0" rIns="0" tIns="0" bIns="0">
            <a:spAutoFit/>
          </a:bodyPr>
          <a:lstStyle/>
          <a:p>
            <a:r>
              <a:rPr b="0" sz="1600">
                <a:solidFill>
                  <a:srgbClr val="0B6E6E"/>
                </a:solidFill>
                <a:latin typeface="Helvetica Neue"/>
              </a:rPr>
              <a:t>¿Entonces qué falla?</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03_swap_roto.cpp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./build/bin/exp_03_swap_roto</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La función </a:t>
            </a:r>
            <a:r>
              <a:rPr b="1" sz="1800">
                <a:solidFill>
                  <a:srgbClr val="142638"/>
                </a:solidFill>
                <a:latin typeface="Helvetica Neue"/>
              </a:rPr>
              <a:t>sí</a:t>
            </a:r>
            <a:r>
              <a:rPr b="0" sz="1800">
                <a:solidFill>
                  <a:srgbClr val="2E3A46"/>
                </a:solidFill>
                <a:latin typeface="Helvetica Neue"/>
              </a:rPr>
              <a:t> intercambia: sus copias.</a:t>
            </a:r>
          </a:p>
          <a:p>
            <a:pPr>
              <a:spcBef>
                <a:spcPts val="1000"/>
              </a:spcBef>
            </a:pPr>
            <a:r>
              <a:rPr sz="1800">
                <a:solidFill>
                  <a:srgbClr val="0B6E6E"/>
                </a:solidFill>
                <a:latin typeface="Helvetica Neue"/>
              </a:rPr>
              <a:t>→  </a:t>
            </a:r>
            <a:r>
              <a:rPr b="0" sz="1800">
                <a:solidFill>
                  <a:srgbClr val="2E3A46"/>
                </a:solidFill>
                <a:latin typeface="Helvetica Neue"/>
              </a:rPr>
              <a:t>Al terminar, el marco se libera y las copias desaparecen.</a:t>
            </a:r>
          </a:p>
          <a:p>
            <a:pPr>
              <a:spcBef>
                <a:spcPts val="1000"/>
              </a:spcBef>
            </a:pPr>
            <a:r>
              <a:rPr sz="1800">
                <a:solidFill>
                  <a:srgbClr val="0B6E6E"/>
                </a:solidFill>
                <a:latin typeface="Helvetica Neue"/>
              </a:rPr>
              <a:t>→  </a:t>
            </a:r>
            <a:r>
              <a:rPr b="0" sz="1800">
                <a:solidFill>
                  <a:srgbClr val="2E3A46"/>
                </a:solidFill>
                <a:latin typeface="Helvetica Neue"/>
              </a:rPr>
              <a:t>Para modificar los argumentos, la función necesita saber </a:t>
            </a:r>
            <a:r>
              <a:rPr b="1" sz="1800">
                <a:solidFill>
                  <a:srgbClr val="142638"/>
                </a:solidFill>
                <a:latin typeface="Helvetica Neue"/>
              </a:rPr>
              <a:t>dónde viven</a:t>
            </a:r>
            <a:r>
              <a:rPr b="0" sz="1800">
                <a:solidFill>
                  <a:srgbClr val="2E3A46"/>
                </a:solidFill>
                <a:latin typeface="Helvetica Neue"/>
              </a:rPr>
              <a:t>.</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Ventajas del paso por valor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1" sz="1900">
                <a:solidFill>
                  <a:srgbClr val="142638"/>
                </a:solidFill>
                <a:latin typeface="Helvetica Neue"/>
              </a:rPr>
              <a:t>Aísla al llamador.</a:t>
            </a:r>
            <a:r>
              <a:rPr b="0" sz="1900">
                <a:solidFill>
                  <a:srgbClr val="2E3A46"/>
                </a:solidFill>
                <a:latin typeface="Helvetica Neue"/>
              </a:rPr>
              <a:t> La función no puede alterar sus datos.</a:t>
            </a:r>
          </a:p>
          <a:p>
            <a:pPr marL="301752" indent="-301752">
              <a:spcBef>
                <a:spcPts val="1100"/>
              </a:spcBef>
            </a:pPr>
            <a:r>
              <a:rPr sz="1900">
                <a:solidFill>
                  <a:srgbClr val="0B6E6E"/>
                </a:solidFill>
                <a:latin typeface="Helvetica Neue"/>
              </a:rPr>
              <a:t>•  </a:t>
            </a:r>
            <a:r>
              <a:rPr b="1" sz="1900">
                <a:solidFill>
                  <a:srgbClr val="142638"/>
                </a:solidFill>
                <a:latin typeface="Helvetica Neue"/>
              </a:rPr>
              <a:t>Sin problemas de vida.</a:t>
            </a:r>
            <a:r>
              <a:rPr b="0" sz="1900">
                <a:solidFill>
                  <a:srgbClr val="2E3A46"/>
                </a:solidFill>
                <a:latin typeface="Helvetica Neue"/>
              </a:rPr>
              <a:t> El parámetro es dueño de su valor; no puede quedar colgante.</a:t>
            </a:r>
          </a:p>
          <a:p>
            <a:pPr marL="301752" indent="-301752">
              <a:spcBef>
                <a:spcPts val="1100"/>
              </a:spcBef>
            </a:pPr>
            <a:r>
              <a:rPr sz="1900">
                <a:solidFill>
                  <a:srgbClr val="0B6E6E"/>
                </a:solidFill>
                <a:latin typeface="Helvetica Neue"/>
              </a:rPr>
              <a:t>•  </a:t>
            </a:r>
            <a:r>
              <a:rPr b="1" sz="1900">
                <a:solidFill>
                  <a:srgbClr val="142638"/>
                </a:solidFill>
                <a:latin typeface="Helvetica Neue"/>
              </a:rPr>
              <a:t>Sin aliasing.</a:t>
            </a:r>
            <a:r>
              <a:rPr b="0" sz="1900">
                <a:solidFill>
                  <a:srgbClr val="2E3A46"/>
                </a:solidFill>
                <a:latin typeface="Helvetica Neue"/>
              </a:rPr>
              <a:t> El compilador sabe que no comparte memoria con nada y optimiza mejor.</a:t>
            </a:r>
          </a:p>
          <a:p>
            <a:pPr marL="301752" indent="-301752">
              <a:spcBef>
                <a:spcPts val="1100"/>
              </a:spcBef>
            </a:pPr>
            <a:r>
              <a:rPr sz="1900">
                <a:solidFill>
                  <a:srgbClr val="0B6E6E"/>
                </a:solidFill>
                <a:latin typeface="Helvetica Neue"/>
              </a:rPr>
              <a:t>•  </a:t>
            </a:r>
            <a:r>
              <a:rPr b="1" sz="1900">
                <a:solidFill>
                  <a:srgbClr val="142638"/>
                </a:solidFill>
                <a:latin typeface="Helvetica Neue"/>
              </a:rPr>
              <a:t>Rápido para tipos pequeños.</a:t>
            </a:r>
            <a:r>
              <a:rPr b="0" sz="1900">
                <a:solidFill>
                  <a:srgbClr val="2E3A46"/>
                </a:solidFill>
                <a:latin typeface="Helvetica Neue"/>
              </a:rPr>
              <a:t> Un </a:t>
            </a:r>
            <a:r>
              <a:rPr sz="1800">
                <a:solidFill>
                  <a:srgbClr val="0B6E6E"/>
                </a:solidFill>
                <a:latin typeface="Menlo"/>
              </a:rPr>
              <a:t>int</a:t>
            </a:r>
            <a:r>
              <a:rPr b="0" sz="1900">
                <a:solidFill>
                  <a:srgbClr val="2E3A46"/>
                </a:solidFill>
                <a:latin typeface="Helvetica Neue"/>
              </a:rPr>
              <a:t> viaja en un registro; una referencia obliga a leer memoria.</a:t>
            </a:r>
          </a:p>
        </p:txBody>
      </p:sp>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Límites del paso por valor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1" sz="1900">
                <a:solidFill>
                  <a:srgbClr val="142638"/>
                </a:solidFill>
                <a:latin typeface="Helvetica Neue"/>
              </a:rPr>
              <a:t>No puede modificar el argumento.</a:t>
            </a:r>
            <a:r>
              <a:rPr b="0" sz="1900">
                <a:solidFill>
                  <a:srgbClr val="2E3A46"/>
                </a:solidFill>
                <a:latin typeface="Helvetica Neue"/>
              </a:rPr>
              <a:t> El caso canónico es el intercambio.</a:t>
            </a:r>
          </a:p>
          <a:p>
            <a:pPr marL="301752" indent="-301752">
              <a:spcBef>
                <a:spcPts val="1100"/>
              </a:spcBef>
            </a:pPr>
            <a:r>
              <a:rPr sz="1900">
                <a:solidFill>
                  <a:srgbClr val="0B6E6E"/>
                </a:solidFill>
                <a:latin typeface="Helvetica Neue"/>
              </a:rPr>
              <a:t>•  </a:t>
            </a:r>
            <a:r>
              <a:rPr b="1" sz="1900">
                <a:solidFill>
                  <a:srgbClr val="142638"/>
                </a:solidFill>
                <a:latin typeface="Helvetica Neue"/>
              </a:rPr>
              <a:t>Cuesta.</a:t>
            </a:r>
            <a:r>
              <a:rPr b="0" sz="1900">
                <a:solidFill>
                  <a:srgbClr val="2E3A46"/>
                </a:solidFill>
                <a:latin typeface="Helvetica Neue"/>
              </a:rPr>
              <a:t> Para objetos grandes, la copia se paga en tiempo y memoria.</a:t>
            </a:r>
          </a:p>
          <a:p>
            <a:pPr marL="301752" indent="-301752">
              <a:spcBef>
                <a:spcPts val="1100"/>
              </a:spcBef>
            </a:pPr>
            <a:r>
              <a:rPr sz="1900">
                <a:solidFill>
                  <a:srgbClr val="0B6E6E"/>
                </a:solidFill>
                <a:latin typeface="Helvetica Neue"/>
              </a:rPr>
              <a:t>•  </a:t>
            </a:r>
            <a:r>
              <a:rPr b="1" sz="1900">
                <a:solidFill>
                  <a:srgbClr val="142638"/>
                </a:solidFill>
                <a:latin typeface="Helvetica Neue"/>
              </a:rPr>
              <a:t>No admite tipos no copiables</a:t>
            </a:r>
            <a:r>
              <a:rPr b="0" sz="1900">
                <a:solidFill>
                  <a:srgbClr val="2E3A46"/>
                </a:solidFill>
                <a:latin typeface="Helvetica Neue"/>
              </a:rPr>
              <a:t>, como </a:t>
            </a:r>
            <a:r>
              <a:rPr sz="1800">
                <a:solidFill>
                  <a:srgbClr val="0B6E6E"/>
                </a:solidFill>
                <a:latin typeface="Menlo"/>
              </a:rPr>
              <a:t>std::unique_ptr</a:t>
            </a:r>
            <a:r>
              <a:rPr b="0" sz="1900">
                <a:solidFill>
                  <a:srgbClr val="2E3A46"/>
                </a:solidFill>
                <a:latin typeface="Helvetica Neue"/>
              </a:rPr>
              <a:t> o </a:t>
            </a:r>
            <a:r>
              <a:rPr sz="1800">
                <a:solidFill>
                  <a:srgbClr val="0B6E6E"/>
                </a:solidFill>
                <a:latin typeface="Menlo"/>
              </a:rPr>
              <a:t>std::mutex</a:t>
            </a:r>
            <a:r>
              <a:rPr b="0" sz="1900">
                <a:solidFill>
                  <a:srgbClr val="2E3A46"/>
                </a:solidFill>
                <a:latin typeface="Helvetica Neue"/>
              </a:rPr>
              <a:t>.</a:t>
            </a:r>
          </a:p>
          <a:p>
            <a:pPr marL="301752" indent="-301752">
              <a:spcBef>
                <a:spcPts val="1100"/>
              </a:spcBef>
            </a:pPr>
            <a:r>
              <a:rPr sz="1900">
                <a:solidFill>
                  <a:srgbClr val="0B6E6E"/>
                </a:solidFill>
                <a:latin typeface="Helvetica Neue"/>
              </a:rPr>
              <a:t>•  </a:t>
            </a:r>
            <a:r>
              <a:rPr b="1" sz="1900">
                <a:solidFill>
                  <a:srgbClr val="142638"/>
                </a:solidFill>
                <a:latin typeface="Helvetica Neue"/>
              </a:rPr>
              <a:t>Trunca el polimorfismo</a:t>
            </a:r>
            <a:r>
              <a:rPr b="0" sz="1900">
                <a:solidFill>
                  <a:srgbClr val="2E3A46"/>
                </a:solidFill>
                <a:latin typeface="Helvetica Neue"/>
              </a:rPr>
              <a:t> (*object slicing*): al pasar un objeto derivado por valor en un parámetro de la clase base, la parte derivada se pierde.</a:t>
            </a:r>
          </a:p>
        </p:txBody>
      </p:sp>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Object slicing</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17627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02996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1901952"/>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struct Figura  { virtual double area() const { return 0; } };</a:t>
            </a:r>
          </a:p>
          <a:p>
            <a:pPr>
              <a:lnSpc>
                <a:spcPct val="106000"/>
              </a:lnSpc>
              <a:spcBef>
                <a:spcPts val="0"/>
              </a:spcBef>
            </a:pPr>
            <a:r>
              <a:rPr sz="1400" b="0">
                <a:solidFill>
                  <a:srgbClr val="1E2B33"/>
                </a:solidFill>
                <a:latin typeface="Menlo"/>
              </a:rPr>
              <a:t>struct Circulo : Figura { double r; double area() const override; };</a:t>
            </a:r>
          </a:p>
          <a:p>
            <a:pPr>
              <a:lnSpc>
                <a:spcPct val="106000"/>
              </a:lnSpc>
              <a:spcBef>
                <a:spcPts val="0"/>
              </a:spcBef>
            </a:pPr>
            <a:r>
              <a:rPr sz="1400" b="0">
                <a:solidFill>
                  <a:srgbClr val="1E2B33"/>
                </a:solidFill>
                <a:latin typeface="Menlo"/>
              </a:rPr>
              <a:t> </a:t>
            </a:r>
          </a:p>
          <a:p>
            <a:pPr>
              <a:lnSpc>
                <a:spcPct val="106000"/>
              </a:lnSpc>
              <a:spcBef>
                <a:spcPts val="0"/>
              </a:spcBef>
            </a:pPr>
            <a:r>
              <a:rPr sz="1400" b="1">
                <a:solidFill>
                  <a:srgbClr val="A8431B"/>
                </a:solidFill>
                <a:latin typeface="Menlo"/>
              </a:rPr>
              <a:t>void dibuja(Figura f);          </a:t>
            </a:r>
            <a:r>
              <a:rPr sz="1400" b="1">
                <a:solidFill>
                  <a:srgbClr val="A8431B"/>
                </a:solidFill>
                <a:latin typeface="Menlo"/>
              </a:rPr>
              <a:t>// MAL: recibe solo la parte 'Figura'</a:t>
            </a:r>
          </a:p>
          <a:p>
            <a:pPr>
              <a:lnSpc>
                <a:spcPct val="106000"/>
              </a:lnSpc>
              <a:spcBef>
                <a:spcPts val="0"/>
              </a:spcBef>
            </a:pPr>
            <a:r>
              <a:rPr sz="1400" b="1">
                <a:solidFill>
                  <a:srgbClr val="A8431B"/>
                </a:solidFill>
                <a:latin typeface="Menlo"/>
              </a:rPr>
              <a:t>void dibuja(const Figura&amp; f);   </a:t>
            </a:r>
            <a:r>
              <a:rPr sz="1400" b="1">
                <a:solidFill>
                  <a:srgbClr val="A8431B"/>
                </a:solidFill>
                <a:latin typeface="Menlo"/>
              </a:rPr>
              <a:t>// BIEN: conserva el tipo dinámico</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Circulo c;</a:t>
            </a:r>
          </a:p>
          <a:p>
            <a:pPr>
              <a:lnSpc>
                <a:spcPct val="106000"/>
              </a:lnSpc>
              <a:spcBef>
                <a:spcPts val="0"/>
              </a:spcBef>
            </a:pPr>
            <a:r>
              <a:rPr sz="1400" b="0">
                <a:solidFill>
                  <a:srgbClr val="1E2B33"/>
                </a:solidFill>
                <a:latin typeface="Menlo"/>
              </a:rPr>
              <a:t>dibuja(c);   </a:t>
            </a:r>
            <a:r>
              <a:rPr sz="1400" b="0">
                <a:solidFill>
                  <a:srgbClr val="6B7A74"/>
                </a:solidFill>
                <a:latin typeface="Menlo"/>
              </a:rPr>
              <a:t>// con la primera firma, el área siempre da 0</a:t>
            </a:r>
          </a:p>
        </p:txBody>
      </p:sp>
      <p:sp>
        <p:nvSpPr>
          <p:cNvPr id="7" name="TextBox 6"/>
          <p:cNvSpPr txBox="1"/>
          <p:nvPr/>
        </p:nvSpPr>
        <p:spPr>
          <a:xfrm>
            <a:off x="777240" y="4206240"/>
            <a:ext cx="10637215" cy="548640"/>
          </a:xfrm>
          <a:prstGeom prst="rect">
            <a:avLst/>
          </a:prstGeom>
          <a:noFill/>
        </p:spPr>
        <p:txBody>
          <a:bodyPr wrap="square" lIns="0" rIns="0" tIns="0" bIns="0">
            <a:spAutoFit/>
          </a:bodyPr>
          <a:lstStyle/>
          <a:p>
            <a:r>
              <a:rPr b="0" sz="1600">
                <a:solidFill>
                  <a:srgbClr val="0B6E6E"/>
                </a:solidFill>
                <a:latin typeface="Helvetica Neue"/>
              </a:rPr>
              <a:t>Compila, se ejecuta y da un resultado incorrecto. Sin ningún aviso.</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04_costo_de_la_copia.cpp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./build/bin/exp_04_costo_de_la_copia</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Una clase instrumentada </a:t>
            </a:r>
            <a:r>
              <a:rPr b="1" sz="1800">
                <a:solidFill>
                  <a:srgbClr val="142638"/>
                </a:solidFill>
                <a:latin typeface="Helvetica Neue"/>
              </a:rPr>
              <a:t>anuncia cada copia</a:t>
            </a:r>
            <a:r>
              <a:rPr b="0" sz="1800">
                <a:solidFill>
                  <a:srgbClr val="2E3A46"/>
                </a:solidFill>
                <a:latin typeface="Helvetica Neue"/>
              </a:rPr>
              <a:t> que ocurre.</a:t>
            </a:r>
          </a:p>
          <a:p>
            <a:pPr>
              <a:spcBef>
                <a:spcPts val="1000"/>
              </a:spcBef>
            </a:pPr>
            <a:r>
              <a:rPr sz="1800">
                <a:solidFill>
                  <a:srgbClr val="0B6E6E"/>
                </a:solidFill>
                <a:latin typeface="Helvetica Neue"/>
              </a:rPr>
              <a:t>→  </a:t>
            </a:r>
            <a:r>
              <a:rPr b="0" sz="1800">
                <a:solidFill>
                  <a:srgbClr val="2E3A46"/>
                </a:solidFill>
                <a:latin typeface="Helvetica Neue"/>
              </a:rPr>
              <a:t>Veinte llamadas con un vector de 5 millones de enteros, por valor y por </a:t>
            </a:r>
            <a:r>
              <a:rPr sz="1700">
                <a:solidFill>
                  <a:srgbClr val="0B6E6E"/>
                </a:solidFill>
                <a:latin typeface="Menlo"/>
              </a:rPr>
              <a:t>const&amp;</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La copia se paga aunque la función solo lea los datos.</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Cuándo el paso por valor SÍ es lo correcto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Que no se vayan con la idea de que 'por valor es malo'</a:t>
            </a:r>
          </a:p>
        </p:txBody>
      </p:sp>
      <p:sp>
        <p:nvSpPr>
          <p:cNvPr id="5" name="TextBox 4"/>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1" sz="1900">
                <a:solidFill>
                  <a:srgbClr val="142638"/>
                </a:solidFill>
                <a:latin typeface="Helvetica Neue"/>
              </a:rPr>
              <a:t>Tipos baratos de copiar.</a:t>
            </a:r>
            <a:r>
              <a:rPr b="0" sz="1900">
                <a:solidFill>
                  <a:srgbClr val="2E3A46"/>
                </a:solidFill>
                <a:latin typeface="Helvetica Neue"/>
              </a:rPr>
              <a:t> Si no supera dos o tres punteros (16–24 bytes en 64 bits) y la copia es trivial, por valor.</a:t>
            </a:r>
          </a:p>
          <a:p>
            <a:pPr marL="301752" indent="-301752">
              <a:spcBef>
                <a:spcPts val="1100"/>
              </a:spcBef>
            </a:pPr>
            <a:r>
              <a:rPr sz="1900">
                <a:solidFill>
                  <a:srgbClr val="0B6E6E"/>
                </a:solidFill>
                <a:latin typeface="Helvetica Neue"/>
              </a:rPr>
              <a:t>•  </a:t>
            </a:r>
            <a:r>
              <a:rPr b="1" sz="1900">
                <a:solidFill>
                  <a:srgbClr val="142638"/>
                </a:solidFill>
                <a:latin typeface="Helvetica Neue"/>
              </a:rPr>
              <a:t>Cuando la función necesita su propia copia de trabajo.</a:t>
            </a:r>
            <a:r>
              <a:rPr b="0" sz="1900">
                <a:solidFill>
                  <a:srgbClr val="2E3A46"/>
                </a:solidFill>
                <a:latin typeface="Helvetica Neue"/>
              </a:rPr>
              <a:t> Si de todos modos vas a copiar dentro, pide la copia en el parámetro.</a:t>
            </a:r>
          </a:p>
          <a:p>
            <a:pPr marL="301752" indent="-301752">
              <a:spcBef>
                <a:spcPts val="1100"/>
              </a:spcBef>
            </a:pPr>
            <a:r>
              <a:rPr sz="1900">
                <a:solidFill>
                  <a:srgbClr val="0B6E6E"/>
                </a:solidFill>
                <a:latin typeface="Helvetica Neue"/>
              </a:rPr>
              <a:t>•  </a:t>
            </a:r>
            <a:r>
              <a:rPr b="1" sz="1900">
                <a:solidFill>
                  <a:srgbClr val="142638"/>
                </a:solidFill>
                <a:latin typeface="Helvetica Neue"/>
              </a:rPr>
              <a:t>Parámetros sumidero.</a:t>
            </a:r>
            <a:r>
              <a:rPr b="0" sz="1900">
                <a:solidFill>
                  <a:srgbClr val="2E3A46"/>
                </a:solidFill>
                <a:latin typeface="Helvetica Neue"/>
              </a:rPr>
              <a:t> Cuando la función se queda con el dato: </a:t>
            </a:r>
            <a:r>
              <a:rPr sz="1800">
                <a:solidFill>
                  <a:srgbClr val="0B6E6E"/>
                </a:solidFill>
                <a:latin typeface="Menlo"/>
              </a:rPr>
              <a:t>Usuario(std::string n) : nombre_(std::move(n)) {}</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2800">
                <a:solidFill>
                  <a:srgbClr val="FFFFFF"/>
                </a:solidFill>
                <a:latin typeface="Helvetica Neue"/>
              </a:rPr>
              <a:t>F.16 — *For "in" parameters, pass cheaply-copied types by value and others by reference to const*</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C++ Core Guidelines · Bjarne Stroustrup y Herb Sutter (eds.)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371600"/>
            <a:ext cx="10637215" cy="731520"/>
          </a:xfrm>
          <a:prstGeom prst="rect">
            <a:avLst/>
          </a:prstGeom>
          <a:noFill/>
        </p:spPr>
        <p:txBody>
          <a:bodyPr wrap="square" lIns="0" rIns="0" tIns="0" bIns="0">
            <a:spAutoFit/>
          </a:bodyPr>
          <a:lstStyle/>
          <a:p>
            <a:r>
              <a:rPr b="1" sz="3600">
                <a:solidFill>
                  <a:srgbClr val="FFFFFF"/>
                </a:solidFill>
                <a:latin typeface="Helvetica Neue"/>
              </a:rPr>
              <a:t>Práctica 1 · Paso por valor</a:t>
            </a:r>
          </a:p>
        </p:txBody>
      </p:sp>
      <p:sp>
        <p:nvSpPr>
          <p:cNvPr id="3" name="TextBox 2"/>
          <p:cNvSpPr txBox="1"/>
          <p:nvPr/>
        </p:nvSpPr>
        <p:spPr>
          <a:xfrm>
            <a:off x="777240" y="2240280"/>
            <a:ext cx="10637215" cy="411480"/>
          </a:xfrm>
          <a:prstGeom prst="rect">
            <a:avLst/>
          </a:prstGeom>
          <a:noFill/>
        </p:spPr>
        <p:txBody>
          <a:bodyPr wrap="square" lIns="0" rIns="0" tIns="0" bIns="0">
            <a:spAutoFit/>
          </a:bodyPr>
          <a:lstStyle/>
          <a:p>
            <a:r>
              <a:rPr b="0" sz="1500">
                <a:solidFill>
                  <a:srgbClr val="9FC4C4"/>
                </a:solidFill>
                <a:latin typeface="Helvetica Neue"/>
              </a:rPr>
              <a:t>15 minutos · individual o por parejas, con el compilador abierto   ·   ejercicios/practica-1-paso-de-argumentos.md</a:t>
            </a:r>
          </a:p>
        </p:txBody>
      </p:sp>
      <p:sp>
        <p:nvSpPr>
          <p:cNvPr id="4" name="TextBox 3"/>
          <p:cNvSpPr txBox="1"/>
          <p:nvPr/>
        </p:nvSpPr>
        <p:spPr>
          <a:xfrm>
            <a:off x="777240" y="3017520"/>
            <a:ext cx="10637215" cy="3108960"/>
          </a:xfrm>
          <a:prstGeom prst="rect">
            <a:avLst/>
          </a:prstGeom>
          <a:noFill/>
        </p:spPr>
        <p:txBody>
          <a:bodyPr wrap="square" lIns="0" rIns="0" tIns="0" bIns="0">
            <a:spAutoFit/>
          </a:bodyPr>
          <a:lstStyle/>
          <a:p>
            <a:pPr>
              <a:spcBef>
                <a:spcPts val="1200"/>
              </a:spcBef>
            </a:pPr>
            <a:r>
              <a:rPr sz="1900" b="1">
                <a:solidFill>
                  <a:srgbClr val="0B6E6E"/>
                </a:solidFill>
                <a:latin typeface="Helvetica Neue"/>
              </a:rPr>
              <a:t>1.  </a:t>
            </a:r>
            <a:r>
              <a:rPr b="0" sz="1900">
                <a:solidFill>
                  <a:srgbClr val="E4EAEE"/>
                </a:solidFill>
                <a:latin typeface="Helvetica Neue"/>
              </a:rPr>
              <a:t>Predecir la salida de un intercambio aritmético por valor.</a:t>
            </a:r>
          </a:p>
          <a:p>
            <a:pPr>
              <a:spcBef>
                <a:spcPts val="1200"/>
              </a:spcBef>
            </a:pPr>
            <a:r>
              <a:rPr sz="1900" b="1">
                <a:solidFill>
                  <a:srgbClr val="0B6E6E"/>
                </a:solidFill>
                <a:latin typeface="Helvetica Neue"/>
              </a:rPr>
              <a:t>2.  </a:t>
            </a:r>
            <a:r>
              <a:rPr b="0" sz="1900">
                <a:solidFill>
                  <a:srgbClr val="E4EAEE"/>
                </a:solidFill>
                <a:latin typeface="Helvetica Neue"/>
              </a:rPr>
              <a:t>Encontrar y corregir el error en una función que debería duplicar.</a:t>
            </a:r>
          </a:p>
          <a:p>
            <a:pPr>
              <a:spcBef>
                <a:spcPts val="1200"/>
              </a:spcBef>
            </a:pPr>
            <a:r>
              <a:rPr sz="1900" b="1">
                <a:solidFill>
                  <a:srgbClr val="0B6E6E"/>
                </a:solidFill>
                <a:latin typeface="Helvetica Neue"/>
              </a:rPr>
              <a:t>3.  </a:t>
            </a:r>
            <a:r>
              <a:rPr b="0" sz="1900">
                <a:solidFill>
                  <a:srgbClr val="E4EAEE"/>
                </a:solidFill>
                <a:latin typeface="Helvetica Neue"/>
              </a:rPr>
              <a:t>Elegir la forma de paso para cinco funciones y justificarla.</a:t>
            </a:r>
          </a:p>
          <a:p>
            <a:pPr>
              <a:spcBef>
                <a:spcPts val="1200"/>
              </a:spcBef>
            </a:pPr>
            <a:r>
              <a:rPr sz="1900" b="1">
                <a:solidFill>
                  <a:srgbClr val="0B6E6E"/>
                </a:solidFill>
                <a:latin typeface="Helvetica Neue"/>
              </a:rPr>
              <a:t>4.  </a:t>
            </a:r>
            <a:r>
              <a:rPr b="0" sz="1900">
                <a:solidFill>
                  <a:srgbClr val="E4EAEE"/>
                </a:solidFill>
                <a:latin typeface="Helvetica Neue"/>
              </a:rPr>
              <a:t>Reto: contar cuántas veces se ejecuta el constructor de copia.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4</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Paso de argumentos por referencia</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35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La referencia es un alias</a:t>
            </a:r>
          </a:p>
          <a:p>
            <a:pPr>
              <a:spcBef>
                <a:spcPts val="500"/>
              </a:spcBef>
            </a:pPr>
            <a:r>
              <a:rPr b="0" sz="1500">
                <a:solidFill>
                  <a:srgbClr val="C5D0D8"/>
                </a:solidFill>
                <a:latin typeface="Helvetica Neue"/>
              </a:rPr>
              <a:t>·  El intercambio que sí funciona</a:t>
            </a:r>
          </a:p>
          <a:p>
            <a:pPr>
              <a:spcBef>
                <a:spcPts val="500"/>
              </a:spcBef>
            </a:pPr>
            <a:r>
              <a:rPr b="0" sz="1500">
                <a:solidFill>
                  <a:srgbClr val="C5D0D8"/>
                </a:solidFill>
                <a:latin typeface="Helvetica Neue"/>
              </a:rPr>
              <a:t>·  const T&amp;: leer sin copiar</a:t>
            </a:r>
          </a:p>
          <a:p>
            <a:pPr>
              <a:spcBef>
                <a:spcPts val="500"/>
              </a:spcBef>
            </a:pPr>
            <a:r>
              <a:rPr b="0" sz="1500">
                <a:solidFill>
                  <a:srgbClr val="C5D0D8"/>
                </a:solidFill>
                <a:latin typeface="Helvetica Neue"/>
              </a:rPr>
              <a:t>·  Referencias colgantes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Qué es una referencia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No es un objeto nuevo. No es un puntero con azúcar sintáctico.</a:t>
            </a:r>
          </a:p>
        </p:txBody>
      </p:sp>
      <p:sp>
        <p:nvSpPr>
          <p:cNvPr id="5" name="TextBox 4"/>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0" sz="1900">
                <a:solidFill>
                  <a:srgbClr val="2E3A46"/>
                </a:solidFill>
                <a:latin typeface="Helvetica Neue"/>
              </a:rPr>
              <a:t>Una referencia </a:t>
            </a:r>
            <a:r>
              <a:rPr sz="1800">
                <a:solidFill>
                  <a:srgbClr val="0B6E6E"/>
                </a:solidFill>
                <a:latin typeface="Menlo"/>
              </a:rPr>
              <a:t>T&amp;</a:t>
            </a:r>
            <a:r>
              <a:rPr b="0" sz="1900">
                <a:solidFill>
                  <a:srgbClr val="2E3A46"/>
                </a:solidFill>
                <a:latin typeface="Helvetica Neue"/>
              </a:rPr>
              <a:t> es </a:t>
            </a:r>
            <a:r>
              <a:rPr b="1" sz="1900">
                <a:solidFill>
                  <a:srgbClr val="142638"/>
                </a:solidFill>
                <a:latin typeface="Helvetica Neue"/>
              </a:rPr>
              <a:t>otro nombre para un objeto que ya existe</a:t>
            </a:r>
            <a:r>
              <a:rPr b="0" sz="1900">
                <a:solidFill>
                  <a:srgbClr val="2E3A46"/>
                </a:solidFill>
                <a:latin typeface="Helvetica Neue"/>
              </a:rPr>
              <a:t>.</a:t>
            </a:r>
          </a:p>
          <a:p>
            <a:pPr>
              <a:spcBef>
                <a:spcPts val="1100"/>
              </a:spcBef>
            </a:pPr>
          </a:p>
          <a:p>
            <a:pPr lvl="1" marL="713232" indent="-301752">
              <a:spcBef>
                <a:spcPts val="400"/>
              </a:spcBef>
            </a:pPr>
            <a:r>
              <a:rPr sz="1600">
                <a:solidFill>
                  <a:srgbClr val="74828C"/>
                </a:solidFill>
                <a:latin typeface="Helvetica Neue"/>
              </a:rPr>
              <a:t>—  </a:t>
            </a:r>
            <a:r>
              <a:rPr b="1" sz="1600">
                <a:solidFill>
                  <a:srgbClr val="142638"/>
                </a:solidFill>
                <a:latin typeface="Helvetica Neue"/>
              </a:rPr>
              <a:t>Debe inicializarse</a:t>
            </a:r>
            <a:r>
              <a:rPr b="0" sz="1600">
                <a:solidFill>
                  <a:srgbClr val="2E3A46"/>
                </a:solidFill>
                <a:latin typeface="Helvetica Neue"/>
              </a:rPr>
              <a:t> al declararse. No existe una referencia vacía.</a:t>
            </a:r>
          </a:p>
          <a:p>
            <a:pPr lvl="1" marL="713232" indent="-301752">
              <a:spcBef>
                <a:spcPts val="400"/>
              </a:spcBef>
            </a:pPr>
            <a:r>
              <a:rPr sz="1600">
                <a:solidFill>
                  <a:srgbClr val="74828C"/>
                </a:solidFill>
                <a:latin typeface="Helvetica Neue"/>
              </a:rPr>
              <a:t>—  </a:t>
            </a:r>
            <a:r>
              <a:rPr b="1" sz="1600">
                <a:solidFill>
                  <a:srgbClr val="142638"/>
                </a:solidFill>
                <a:latin typeface="Helvetica Neue"/>
              </a:rPr>
              <a:t>No se puede reapuntar.</a:t>
            </a:r>
            <a:r>
              <a:rPr b="0" sz="1600">
                <a:solidFill>
                  <a:srgbClr val="2E3A46"/>
                </a:solidFill>
                <a:latin typeface="Helvetica Neue"/>
              </a:rPr>
              <a:t> Queda ligada a ese objeto de por vida.</a:t>
            </a:r>
          </a:p>
          <a:p>
            <a:pPr lvl="1" marL="713232" indent="-301752">
              <a:spcBef>
                <a:spcPts val="400"/>
              </a:spcBef>
            </a:pPr>
            <a:r>
              <a:rPr sz="1600">
                <a:solidFill>
                  <a:srgbClr val="74828C"/>
                </a:solidFill>
                <a:latin typeface="Helvetica Neue"/>
              </a:rPr>
              <a:t>—  </a:t>
            </a:r>
            <a:r>
              <a:rPr b="1" sz="1600">
                <a:solidFill>
                  <a:srgbClr val="142638"/>
                </a:solidFill>
                <a:latin typeface="Helvetica Neue"/>
              </a:rPr>
              <a:t>No puede ser nula.</a:t>
            </a:r>
            <a:r>
              <a:rPr b="0" sz="1600">
                <a:solidFill>
                  <a:srgbClr val="2E3A46"/>
                </a:solidFill>
                <a:latin typeface="Helvetica Neue"/>
              </a:rPr>
              <a:t> Siempre hay un objeto detrás.</a:t>
            </a:r>
          </a:p>
          <a:p>
            <a:pPr>
              <a:spcBef>
                <a:spcPts val="1100"/>
              </a:spcBef>
            </a:pPr>
          </a:p>
          <a:p>
            <a:pPr marL="301752" indent="-301752">
              <a:spcBef>
                <a:spcPts val="1100"/>
              </a:spcBef>
            </a:pPr>
            <a:r>
              <a:rPr sz="1900">
                <a:solidFill>
                  <a:srgbClr val="0B6E6E"/>
                </a:solidFill>
                <a:latin typeface="Helvetica Neue"/>
              </a:rPr>
              <a:t>•  </a:t>
            </a:r>
            <a:r>
              <a:rPr b="0" sz="1900">
                <a:solidFill>
                  <a:srgbClr val="2E3A46"/>
                </a:solidFill>
                <a:latin typeface="Helvetica Neue"/>
              </a:rPr>
              <a:t>La comprobación cabe en una línea: </a:t>
            </a:r>
            <a:r>
              <a:rPr sz="1800">
                <a:solidFill>
                  <a:srgbClr val="0B6E6E"/>
                </a:solidFill>
                <a:latin typeface="Menlo"/>
              </a:rPr>
              <a:t>&amp;referencia == &amp;objeto</a:t>
            </a:r>
            <a:r>
              <a:rPr b="0" sz="1900">
                <a:solidFill>
                  <a:srgbClr val="2E3A46"/>
                </a:solidFill>
                <a:latin typeface="Helvetica Neue"/>
              </a:rPr>
              <a:t> es </a:t>
            </a:r>
            <a:r>
              <a:rPr b="1" sz="1900">
                <a:solidFill>
                  <a:srgbClr val="142638"/>
                </a:solidFill>
                <a:latin typeface="Helvetica Neue"/>
              </a:rPr>
              <a:t>verdadero</a:t>
            </a:r>
            <a:r>
              <a:rPr b="0" sz="1900">
                <a:solidFill>
                  <a:srgbClr val="2E3A46"/>
                </a:solidFill>
                <a:latin typeface="Helvetica Neue"/>
              </a:rPr>
              <a:t>.</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alias, en código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62432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47802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2350008"/>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int valor = 42;</a:t>
            </a:r>
          </a:p>
          <a:p>
            <a:pPr>
              <a:lnSpc>
                <a:spcPct val="106000"/>
              </a:lnSpc>
              <a:spcBef>
                <a:spcPts val="0"/>
              </a:spcBef>
            </a:pPr>
            <a:r>
              <a:rPr sz="1400" b="0">
                <a:solidFill>
                  <a:srgbClr val="1E2B33"/>
                </a:solidFill>
                <a:latin typeface="Menlo"/>
              </a:rPr>
              <a:t>int&amp; alias = valor;        </a:t>
            </a:r>
            <a:r>
              <a:rPr sz="1400" b="0">
                <a:solidFill>
                  <a:srgbClr val="6B7A74"/>
                </a:solidFill>
                <a:latin typeface="Menlo"/>
              </a:rPr>
              <a:t>// 'alias' NO es un objeto nuevo</a:t>
            </a:r>
          </a:p>
          <a:p>
            <a:pPr>
              <a:lnSpc>
                <a:spcPct val="106000"/>
              </a:lnSpc>
              <a:spcBef>
                <a:spcPts val="0"/>
              </a:spcBef>
            </a:pPr>
            <a:r>
              <a:rPr sz="1400" b="0">
                <a:solidFill>
                  <a:srgbClr val="1E2B33"/>
                </a:solidFill>
                <a:latin typeface="Menlo"/>
              </a:rPr>
              <a:t> </a:t>
            </a:r>
          </a:p>
          <a:p>
            <a:pPr>
              <a:lnSpc>
                <a:spcPct val="106000"/>
              </a:lnSpc>
              <a:spcBef>
                <a:spcPts val="0"/>
              </a:spcBef>
            </a:pPr>
            <a:r>
              <a:rPr sz="1400" b="1">
                <a:solidFill>
                  <a:srgbClr val="A8431B"/>
                </a:solidFill>
                <a:latin typeface="Menlo"/>
              </a:rPr>
              <a:t>&amp;valor == &amp;alias           </a:t>
            </a:r>
            <a:r>
              <a:rPr sz="1400" b="1">
                <a:solidFill>
                  <a:srgbClr val="A8431B"/>
                </a:solidFill>
                <a:latin typeface="Menlo"/>
              </a:rPr>
              <a:t>// true: misma dirección, mismo objeto</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alias = 7;                 </a:t>
            </a:r>
            <a:r>
              <a:rPr sz="1400" b="0">
                <a:solidFill>
                  <a:srgbClr val="6B7A74"/>
                </a:solidFill>
                <a:latin typeface="Menlo"/>
              </a:rPr>
              <a:t>// valor ahora vale 7</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int otro = 100;</a:t>
            </a:r>
          </a:p>
          <a:p>
            <a:pPr>
              <a:lnSpc>
                <a:spcPct val="106000"/>
              </a:lnSpc>
              <a:spcBef>
                <a:spcPts val="0"/>
              </a:spcBef>
            </a:pPr>
            <a:r>
              <a:rPr sz="1400" b="0">
                <a:solidFill>
                  <a:srgbClr val="1E2B33"/>
                </a:solidFill>
                <a:latin typeface="Menlo"/>
              </a:rPr>
              <a:t>alias = otro;              </a:t>
            </a:r>
            <a:r>
              <a:rPr sz="1400" b="0">
                <a:solidFill>
                  <a:srgbClr val="6B7A74"/>
                </a:solidFill>
                <a:latin typeface="Menlo"/>
              </a:rPr>
              <a:t>// asigna el VALOR de otro a valor;</a:t>
            </a:r>
          </a:p>
          <a:p>
            <a:pPr>
              <a:lnSpc>
                <a:spcPct val="106000"/>
              </a:lnSpc>
              <a:spcBef>
                <a:spcPts val="0"/>
              </a:spcBef>
            </a:pPr>
            <a:r>
              <a:rPr sz="1400" b="0">
                <a:solidFill>
                  <a:srgbClr val="6B7A74"/>
                </a:solidFill>
                <a:latin typeface="Menlo"/>
              </a:rPr>
              <a:t>                           // alias SIGUE siendo alias de valor</a:t>
            </a:r>
          </a:p>
        </p:txBody>
      </p:sp>
      <p:sp>
        <p:nvSpPr>
          <p:cNvPr id="7" name="TextBox 6"/>
          <p:cNvSpPr txBox="1"/>
          <p:nvPr/>
        </p:nvSpPr>
        <p:spPr>
          <a:xfrm>
            <a:off x="777240" y="4654296"/>
            <a:ext cx="10637215" cy="548640"/>
          </a:xfrm>
          <a:prstGeom prst="rect">
            <a:avLst/>
          </a:prstGeom>
          <a:noFill/>
        </p:spPr>
        <p:txBody>
          <a:bodyPr wrap="square" lIns="0" rIns="0" tIns="0" bIns="0">
            <a:spAutoFit/>
          </a:bodyPr>
          <a:lstStyle/>
          <a:p>
            <a:r>
              <a:rPr b="0" sz="1600">
                <a:solidFill>
                  <a:srgbClr val="0B6E6E"/>
                </a:solidFill>
                <a:latin typeface="Helvetica Neue"/>
              </a:rPr>
              <a:t>Escribir en el alias es escribir en el objeto original.</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06_referencias_basico.cpp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./build/bin/exp_06_referencias_basico</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sz="1700">
                <a:solidFill>
                  <a:srgbClr val="0B6E6E"/>
                </a:solidFill>
                <a:latin typeface="Menlo"/>
              </a:rPr>
              <a:t>&amp;valor == &amp;alias</a:t>
            </a:r>
            <a:r>
              <a:rPr b="0" sz="1800">
                <a:solidFill>
                  <a:srgbClr val="2E3A46"/>
                </a:solidFill>
                <a:latin typeface="Helvetica Neue"/>
              </a:rPr>
              <a:t> da verdadero: es el mismo objeto.</a:t>
            </a:r>
          </a:p>
          <a:p>
            <a:pPr>
              <a:spcBef>
                <a:spcPts val="1000"/>
              </a:spcBef>
            </a:pPr>
            <a:r>
              <a:rPr sz="1800">
                <a:solidFill>
                  <a:srgbClr val="0B6E6E"/>
                </a:solidFill>
                <a:latin typeface="Helvetica Neue"/>
              </a:rPr>
              <a:t>→  </a:t>
            </a:r>
            <a:r>
              <a:rPr b="0" sz="1800">
                <a:solidFill>
                  <a:srgbClr val="2E3A46"/>
                </a:solidFill>
                <a:latin typeface="Helvetica Neue"/>
              </a:rPr>
              <a:t>Mostrar las dos declaraciones comentadas que </a:t>
            </a:r>
            <a:r>
              <a:rPr b="1" sz="1800">
                <a:solidFill>
                  <a:srgbClr val="142638"/>
                </a:solidFill>
                <a:latin typeface="Helvetica Neue"/>
              </a:rPr>
              <a:t>no compilan</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Un parámetro </a:t>
            </a:r>
            <a:r>
              <a:rPr sz="1700">
                <a:solidFill>
                  <a:srgbClr val="0B6E6E"/>
                </a:solidFill>
                <a:latin typeface="Menlo"/>
              </a:rPr>
              <a:t>int&amp;</a:t>
            </a:r>
            <a:r>
              <a:rPr b="0" sz="1800">
                <a:solidFill>
                  <a:srgbClr val="2E3A46"/>
                </a:solidFill>
                <a:latin typeface="Helvetica Neue"/>
              </a:rPr>
              <a:t> modifica el objeto del llamador.</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mismo cuerpo, dos símbolos de diferencia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La respuesta a la pregunta del bloque 2</a:t>
            </a:r>
          </a:p>
        </p:txBody>
      </p:sp>
      <p:sp>
        <p:nvSpPr>
          <p:cNvPr id="5" name="TextBox 4"/>
          <p:cNvSpPr txBox="1"/>
          <p:nvPr/>
        </p:nvSpPr>
        <p:spPr>
          <a:xfrm>
            <a:off x="777240" y="1810512"/>
            <a:ext cx="5135727" cy="320040"/>
          </a:xfrm>
          <a:prstGeom prst="rect">
            <a:avLst/>
          </a:prstGeom>
          <a:noFill/>
        </p:spPr>
        <p:txBody>
          <a:bodyPr wrap="square" lIns="0" rIns="0" tIns="0" bIns="0">
            <a:spAutoFit/>
          </a:bodyPr>
          <a:lstStyle/>
          <a:p>
            <a:r>
              <a:rPr b="1" sz="1500">
                <a:solidFill>
                  <a:srgbClr val="A8431B"/>
                </a:solidFill>
                <a:latin typeface="Helvetica Neue"/>
              </a:rPr>
              <a:t>No funciona</a:t>
            </a:r>
          </a:p>
        </p:txBody>
      </p:sp>
      <p:sp>
        <p:nvSpPr>
          <p:cNvPr id="6" name="Rounded Rectangle 5"/>
          <p:cNvSpPr/>
          <p:nvPr/>
        </p:nvSpPr>
        <p:spPr>
          <a:xfrm>
            <a:off x="777240" y="2194560"/>
            <a:ext cx="5135727" cy="246430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67712"/>
            <a:ext cx="50292" cy="231800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340864"/>
            <a:ext cx="4724247" cy="2189988"/>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void intercambia_mal(int a, int b)</a:t>
            </a:r>
          </a:p>
          <a:p>
            <a:pPr>
              <a:lnSpc>
                <a:spcPct val="106000"/>
              </a:lnSpc>
              <a:spcBef>
                <a:spcPts val="0"/>
              </a:spcBef>
            </a:pPr>
            <a:r>
              <a:rPr sz="1300" b="0">
                <a:solidFill>
                  <a:srgbClr val="1E2B33"/>
                </a:solidFill>
                <a:latin typeface="Menlo"/>
              </a:rPr>
              <a:t>{</a:t>
            </a:r>
          </a:p>
          <a:p>
            <a:pPr>
              <a:lnSpc>
                <a:spcPct val="106000"/>
              </a:lnSpc>
              <a:spcBef>
                <a:spcPts val="0"/>
              </a:spcBef>
            </a:pPr>
            <a:r>
              <a:rPr sz="1300" b="0">
                <a:solidFill>
                  <a:srgbClr val="1E2B33"/>
                </a:solidFill>
                <a:latin typeface="Menlo"/>
              </a:rPr>
              <a:t>    int temporal = a;</a:t>
            </a:r>
          </a:p>
          <a:p>
            <a:pPr>
              <a:lnSpc>
                <a:spcPct val="106000"/>
              </a:lnSpc>
              <a:spcBef>
                <a:spcPts val="0"/>
              </a:spcBef>
            </a:pPr>
            <a:r>
              <a:rPr sz="1300" b="0">
                <a:solidFill>
                  <a:srgbClr val="1E2B33"/>
                </a:solidFill>
                <a:latin typeface="Menlo"/>
              </a:rPr>
              <a:t>    a = b;</a:t>
            </a:r>
          </a:p>
          <a:p>
            <a:pPr>
              <a:lnSpc>
                <a:spcPct val="106000"/>
              </a:lnSpc>
              <a:spcBef>
                <a:spcPts val="0"/>
              </a:spcBef>
            </a:pPr>
            <a:r>
              <a:rPr sz="1300" b="0">
                <a:solidFill>
                  <a:srgbClr val="1E2B33"/>
                </a:solidFill>
                <a:latin typeface="Menlo"/>
              </a:rPr>
              <a:t>    b = temporal;</a:t>
            </a:r>
          </a:p>
          <a:p>
            <a:pPr>
              <a:lnSpc>
                <a:spcPct val="106000"/>
              </a:lnSpc>
              <a:spcBef>
                <a:spcPts val="0"/>
              </a:spcBef>
            </a:pPr>
            <a:r>
              <a:rPr sz="1300" b="0">
                <a:solidFill>
                  <a:srgbClr val="1E2B33"/>
                </a:solidFill>
                <a:latin typeface="Menlo"/>
              </a:rPr>
              <a:t>}</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int x = 1, y = 2;</a:t>
            </a:r>
          </a:p>
          <a:p>
            <a:pPr>
              <a:lnSpc>
                <a:spcPct val="106000"/>
              </a:lnSpc>
              <a:spcBef>
                <a:spcPts val="0"/>
              </a:spcBef>
            </a:pPr>
            <a:r>
              <a:rPr sz="1300" b="0">
                <a:solidFill>
                  <a:srgbClr val="1E2B33"/>
                </a:solidFill>
                <a:latin typeface="Menlo"/>
              </a:rPr>
              <a:t>intercambia_mal(x, y);</a:t>
            </a:r>
          </a:p>
          <a:p>
            <a:pPr>
              <a:lnSpc>
                <a:spcPct val="106000"/>
              </a:lnSpc>
              <a:spcBef>
                <a:spcPts val="0"/>
              </a:spcBef>
            </a:pPr>
            <a:r>
              <a:rPr sz="1300" b="0">
                <a:solidFill>
                  <a:srgbClr val="6B7A74"/>
                </a:solidFill>
                <a:latin typeface="Menlo"/>
              </a:rPr>
              <a:t>// x=1  y=2</a:t>
            </a:r>
          </a:p>
        </p:txBody>
      </p:sp>
      <p:sp>
        <p:nvSpPr>
          <p:cNvPr id="9" name="TextBox 8"/>
          <p:cNvSpPr txBox="1"/>
          <p:nvPr/>
        </p:nvSpPr>
        <p:spPr>
          <a:xfrm>
            <a:off x="6278727" y="1810512"/>
            <a:ext cx="5135727" cy="320040"/>
          </a:xfrm>
          <a:prstGeom prst="rect">
            <a:avLst/>
          </a:prstGeom>
          <a:noFill/>
        </p:spPr>
        <p:txBody>
          <a:bodyPr wrap="square" lIns="0" rIns="0" tIns="0" bIns="0">
            <a:spAutoFit/>
          </a:bodyPr>
          <a:lstStyle/>
          <a:p>
            <a:r>
              <a:rPr b="1" sz="1500">
                <a:solidFill>
                  <a:srgbClr val="0B6E6E"/>
                </a:solidFill>
                <a:latin typeface="Helvetica Neue"/>
              </a:rPr>
              <a:t>Funciona</a:t>
            </a:r>
          </a:p>
        </p:txBody>
      </p:sp>
      <p:sp>
        <p:nvSpPr>
          <p:cNvPr id="10" name="Rounded Rectangle 9"/>
          <p:cNvSpPr/>
          <p:nvPr/>
        </p:nvSpPr>
        <p:spPr>
          <a:xfrm>
            <a:off x="6278727" y="2194560"/>
            <a:ext cx="5135727" cy="246430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7" y="2267712"/>
            <a:ext cx="50292" cy="231800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4759" y="2340864"/>
            <a:ext cx="4724247" cy="2189988"/>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void intercambia(int&amp; a, int&amp; b)</a:t>
            </a:r>
          </a:p>
          <a:p>
            <a:pPr>
              <a:lnSpc>
                <a:spcPct val="106000"/>
              </a:lnSpc>
              <a:spcBef>
                <a:spcPts val="0"/>
              </a:spcBef>
            </a:pPr>
            <a:r>
              <a:rPr sz="1300" b="0">
                <a:solidFill>
                  <a:srgbClr val="1E2B33"/>
                </a:solidFill>
                <a:latin typeface="Menlo"/>
              </a:rPr>
              <a:t>{</a:t>
            </a:r>
          </a:p>
          <a:p>
            <a:pPr>
              <a:lnSpc>
                <a:spcPct val="106000"/>
              </a:lnSpc>
              <a:spcBef>
                <a:spcPts val="0"/>
              </a:spcBef>
            </a:pPr>
            <a:r>
              <a:rPr sz="1300" b="0">
                <a:solidFill>
                  <a:srgbClr val="1E2B33"/>
                </a:solidFill>
                <a:latin typeface="Menlo"/>
              </a:rPr>
              <a:t>    int temporal = a;</a:t>
            </a:r>
          </a:p>
          <a:p>
            <a:pPr>
              <a:lnSpc>
                <a:spcPct val="106000"/>
              </a:lnSpc>
              <a:spcBef>
                <a:spcPts val="0"/>
              </a:spcBef>
            </a:pPr>
            <a:r>
              <a:rPr sz="1300" b="0">
                <a:solidFill>
                  <a:srgbClr val="1E2B33"/>
                </a:solidFill>
                <a:latin typeface="Menlo"/>
              </a:rPr>
              <a:t>    a = b;</a:t>
            </a:r>
          </a:p>
          <a:p>
            <a:pPr>
              <a:lnSpc>
                <a:spcPct val="106000"/>
              </a:lnSpc>
              <a:spcBef>
                <a:spcPts val="0"/>
              </a:spcBef>
            </a:pPr>
            <a:r>
              <a:rPr sz="1300" b="0">
                <a:solidFill>
                  <a:srgbClr val="1E2B33"/>
                </a:solidFill>
                <a:latin typeface="Menlo"/>
              </a:rPr>
              <a:t>    b = temporal;</a:t>
            </a:r>
          </a:p>
          <a:p>
            <a:pPr>
              <a:lnSpc>
                <a:spcPct val="106000"/>
              </a:lnSpc>
              <a:spcBef>
                <a:spcPts val="0"/>
              </a:spcBef>
            </a:pPr>
            <a:r>
              <a:rPr sz="1300" b="0">
                <a:solidFill>
                  <a:srgbClr val="1E2B33"/>
                </a:solidFill>
                <a:latin typeface="Menlo"/>
              </a:rPr>
              <a:t>}</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int x = 1, y = 2;</a:t>
            </a:r>
          </a:p>
          <a:p>
            <a:pPr>
              <a:lnSpc>
                <a:spcPct val="106000"/>
              </a:lnSpc>
              <a:spcBef>
                <a:spcPts val="0"/>
              </a:spcBef>
            </a:pPr>
            <a:r>
              <a:rPr sz="1300" b="0">
                <a:solidFill>
                  <a:srgbClr val="1E2B33"/>
                </a:solidFill>
                <a:latin typeface="Menlo"/>
              </a:rPr>
              <a:t>intercambia(x, y);</a:t>
            </a:r>
          </a:p>
          <a:p>
            <a:pPr>
              <a:lnSpc>
                <a:spcPct val="106000"/>
              </a:lnSpc>
              <a:spcBef>
                <a:spcPts val="0"/>
              </a:spcBef>
            </a:pPr>
            <a:r>
              <a:rPr sz="1300" b="0">
                <a:solidFill>
                  <a:srgbClr val="6B7A74"/>
                </a:solidFill>
                <a:latin typeface="Menlo"/>
              </a:rPr>
              <a:t>// x=2  y=1</a:t>
            </a:r>
          </a:p>
        </p:txBody>
      </p:sp>
      <p:sp>
        <p:nvSpPr>
          <p:cNvPr id="13" name="TextBox 12"/>
          <p:cNvSpPr txBox="1"/>
          <p:nvPr/>
        </p:nvSpPr>
        <p:spPr>
          <a:xfrm>
            <a:off x="777240" y="4841748"/>
            <a:ext cx="10637215" cy="548640"/>
          </a:xfrm>
          <a:prstGeom prst="rect">
            <a:avLst/>
          </a:prstGeom>
          <a:noFill/>
        </p:spPr>
        <p:txBody>
          <a:bodyPr wrap="square" lIns="0" rIns="0" tIns="0" bIns="0">
            <a:spAutoFit/>
          </a:bodyPr>
          <a:lstStyle/>
          <a:p>
            <a:r>
              <a:rPr b="0" sz="1600">
                <a:solidFill>
                  <a:srgbClr val="0B6E6E"/>
                </a:solidFill>
                <a:latin typeface="Helvetica Neue"/>
              </a:rPr>
              <a:t>El cuerpo es idéntico. Cambian dos símbolos &amp; en la lista de parámetros.</a:t>
            </a:r>
          </a:p>
        </p:txBody>
      </p:sp>
      <p:sp>
        <p:nvSpPr>
          <p:cNvPr id="14" name="TextBox 13"/>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07_swap_por_referencia.cpp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./build/bin/exp_07_swap_por_referencia</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La versión con referencias, la versión de C con punteros y </a:t>
            </a:r>
            <a:r>
              <a:rPr sz="1700">
                <a:solidFill>
                  <a:srgbClr val="0B6E6E"/>
                </a:solidFill>
                <a:latin typeface="Menlo"/>
              </a:rPr>
              <a:t>std::swap</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Las tres hacen lo mismo; cambia la sintaxis y las garantías.</a:t>
            </a:r>
          </a:p>
          <a:p>
            <a:pPr>
              <a:spcBef>
                <a:spcPts val="1000"/>
              </a:spcBef>
            </a:pPr>
            <a:r>
              <a:rPr sz="1800">
                <a:solidFill>
                  <a:srgbClr val="0B6E6E"/>
                </a:solidFill>
                <a:latin typeface="Helvetica Neue"/>
              </a:rPr>
              <a:t>→  </a:t>
            </a:r>
            <a:r>
              <a:rPr b="0" sz="1800">
                <a:solidFill>
                  <a:srgbClr val="2E3A46"/>
                </a:solidFill>
                <a:latin typeface="Helvetica Neue"/>
              </a:rPr>
              <a:t>Con punteros hay que comprobar </a:t>
            </a:r>
            <a:r>
              <a:rPr sz="1700">
                <a:solidFill>
                  <a:srgbClr val="0B6E6E"/>
                </a:solidFill>
                <a:latin typeface="Menlo"/>
              </a:rPr>
              <a:t>nullptr</a:t>
            </a:r>
            <a:r>
              <a:rPr b="0" sz="1800">
                <a:solidFill>
                  <a:srgbClr val="2E3A46"/>
                </a:solidFill>
                <a:latin typeface="Helvetica Neue"/>
              </a:rPr>
              <a:t>; con referencias, no.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000">
                <a:solidFill>
                  <a:srgbClr val="FFFFFF"/>
                </a:solidFill>
                <a:latin typeface="Helvetica Neue"/>
              </a:rPr>
              <a:t>En el punto de llamada, </a:t>
            </a:r>
            <a:r>
              <a:rPr sz="2900">
                <a:solidFill>
                  <a:srgbClr val="0B6E6E"/>
                </a:solidFill>
                <a:latin typeface="Menlo"/>
              </a:rPr>
              <a:t>f(x)</a:t>
            </a:r>
            <a:r>
              <a:rPr b="0" sz="3000">
                <a:solidFill>
                  <a:srgbClr val="FFFFFF"/>
                </a:solidFill>
                <a:latin typeface="Helvetica Neue"/>
              </a:rPr>
              <a:t> se ve </a:t>
            </a:r>
            <a:r>
              <a:rPr b="1" sz="3000">
                <a:solidFill>
                  <a:srgbClr val="FFFFFF"/>
                </a:solidFill>
                <a:latin typeface="Helvetica Neue"/>
              </a:rPr>
              <a:t>exactamente igual</a:t>
            </a:r>
            <a:r>
              <a:rPr b="0" sz="3000">
                <a:solidFill>
                  <a:srgbClr val="FFFFFF"/>
                </a:solidFill>
                <a:latin typeface="Helvetica Neue"/>
              </a:rPr>
              <a:t> con paso por valor y con paso por referencia.</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La declaración de la función es la única fuente de información. Por eso hay que leer las firmas.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tres formas de parámetro por referencia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10637215" cy="4297680"/>
          </a:xfrm>
          <a:prstGeom prst="rect">
            <a:avLst/>
          </a:prstGeom>
          <a:noFill/>
        </p:spPr>
        <p:txBody>
          <a:bodyPr wrap="square" lIns="0" rIns="0" tIns="0" bIns="0">
            <a:spAutoFit/>
          </a:bodyPr>
          <a:lstStyle/>
          <a:p>
            <a:pPr lvl="1" marL="713232" indent="-301752">
              <a:spcBef>
                <a:spcPts val="400"/>
              </a:spcBef>
            </a:pPr>
            <a:r>
              <a:rPr sz="1600">
                <a:solidFill>
                  <a:srgbClr val="74828C"/>
                </a:solidFill>
                <a:latin typeface="Helvetica Neue"/>
              </a:rPr>
              <a:t>—  </a:t>
            </a:r>
            <a:r>
              <a:rPr sz="1500">
                <a:solidFill>
                  <a:srgbClr val="0B6E6E"/>
                </a:solidFill>
                <a:latin typeface="Menlo"/>
              </a:rPr>
              <a:t>const T&amp;</a:t>
            </a:r>
            <a:r>
              <a:rPr b="0" sz="1600">
                <a:solidFill>
                  <a:srgbClr val="2E3A46"/>
                </a:solidFill>
                <a:latin typeface="Helvetica Neue"/>
              </a:rPr>
              <a:t> — referencia a const: </a:t>
            </a:r>
            <a:r>
              <a:rPr b="1" sz="1600">
                <a:solidFill>
                  <a:srgbClr val="142638"/>
                </a:solidFill>
                <a:latin typeface="Helvetica Neue"/>
              </a:rPr>
              <a:t>entrada</a:t>
            </a:r>
            <a:r>
              <a:rPr b="0" sz="1600">
                <a:solidFill>
                  <a:srgbClr val="2E3A46"/>
                </a:solidFill>
                <a:latin typeface="Helvetica Neue"/>
              </a:rPr>
              <a:t>, sin copiar. La más común de C++.</a:t>
            </a:r>
          </a:p>
          <a:p>
            <a:pPr lvl="1" marL="713232" indent="-301752">
              <a:spcBef>
                <a:spcPts val="400"/>
              </a:spcBef>
            </a:pPr>
            <a:r>
              <a:rPr sz="1600">
                <a:solidFill>
                  <a:srgbClr val="74828C"/>
                </a:solidFill>
                <a:latin typeface="Helvetica Neue"/>
              </a:rPr>
              <a:t>—  </a:t>
            </a:r>
            <a:r>
              <a:rPr sz="1500">
                <a:solidFill>
                  <a:srgbClr val="0B6E6E"/>
                </a:solidFill>
                <a:latin typeface="Menlo"/>
              </a:rPr>
              <a:t>T&amp;</a:t>
            </a:r>
            <a:r>
              <a:rPr b="0" sz="1600">
                <a:solidFill>
                  <a:srgbClr val="2E3A46"/>
                </a:solidFill>
                <a:latin typeface="Helvetica Neue"/>
              </a:rPr>
              <a:t> — referencia no const: </a:t>
            </a:r>
            <a:r>
              <a:rPr b="1" sz="1600">
                <a:solidFill>
                  <a:srgbClr val="142638"/>
                </a:solidFill>
                <a:latin typeface="Helvetica Neue"/>
              </a:rPr>
              <a:t>entrada y salida</a:t>
            </a:r>
            <a:r>
              <a:rPr b="0" sz="1600">
                <a:solidFill>
                  <a:srgbClr val="2E3A46"/>
                </a:solidFill>
                <a:latin typeface="Helvetica Neue"/>
              </a:rPr>
              <a:t>. Modifica el argumento.</a:t>
            </a:r>
          </a:p>
          <a:p>
            <a:pPr lvl="1" marL="713232" indent="-301752">
              <a:spcBef>
                <a:spcPts val="400"/>
              </a:spcBef>
            </a:pPr>
            <a:r>
              <a:rPr sz="1600">
                <a:solidFill>
                  <a:srgbClr val="74828C"/>
                </a:solidFill>
                <a:latin typeface="Helvetica Neue"/>
              </a:rPr>
              <a:t>—  </a:t>
            </a:r>
            <a:r>
              <a:rPr sz="1500">
                <a:solidFill>
                  <a:srgbClr val="0B6E6E"/>
                </a:solidFill>
                <a:latin typeface="Menlo"/>
              </a:rPr>
              <a:t>T&amp;&amp;</a:t>
            </a:r>
            <a:r>
              <a:rPr b="0" sz="1600">
                <a:solidFill>
                  <a:srgbClr val="2E3A46"/>
                </a:solidFill>
                <a:latin typeface="Helvetica Neue"/>
              </a:rPr>
              <a:t> — referencia a rvalue: </a:t>
            </a:r>
            <a:r>
              <a:rPr b="1" sz="1600">
                <a:solidFill>
                  <a:srgbClr val="142638"/>
                </a:solidFill>
                <a:latin typeface="Helvetica Neue"/>
              </a:rPr>
              <a:t>sumidero</a:t>
            </a:r>
            <a:r>
              <a:rPr b="0" sz="1600">
                <a:solidFill>
                  <a:srgbClr val="2E3A46"/>
                </a:solidFill>
                <a:latin typeface="Helvetica Neue"/>
              </a:rPr>
              <a:t>, se va a mover.</a:t>
            </a:r>
          </a:p>
          <a:p>
            <a:pPr>
              <a:spcBef>
                <a:spcPts val="1100"/>
              </a:spcBef>
            </a:pPr>
          </a:p>
          <a:p>
            <a:pPr marL="301752" indent="-301752">
              <a:spcBef>
                <a:spcPts val="1100"/>
              </a:spcBef>
            </a:pPr>
            <a:r>
              <a:rPr sz="1900">
                <a:solidFill>
                  <a:srgbClr val="0B6E6E"/>
                </a:solidFill>
                <a:latin typeface="Helvetica Neue"/>
              </a:rPr>
              <a:t>•  </a:t>
            </a:r>
            <a:r>
              <a:rPr sz="1800">
                <a:solidFill>
                  <a:srgbClr val="0B6E6E"/>
                </a:solidFill>
                <a:latin typeface="Menlo"/>
              </a:rPr>
              <a:t>T&amp;&amp;</a:t>
            </a:r>
            <a:r>
              <a:rPr b="0" sz="1900">
                <a:solidFill>
                  <a:srgbClr val="2E3A46"/>
                </a:solidFill>
                <a:latin typeface="Helvetica Neue"/>
              </a:rPr>
              <a:t> pertenece a la semántica de movimiento y queda fuera de esta sesión. Basta con saber que existe.</a:t>
            </a:r>
          </a:p>
        </p:txBody>
      </p:sp>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const T&amp;: no copia y no modifica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17627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02996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1901952"/>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std::size_t longitud(const std::string&amp; texto) {</a:t>
            </a:r>
          </a:p>
          <a:p>
            <a:pPr>
              <a:lnSpc>
                <a:spcPct val="106000"/>
              </a:lnSpc>
              <a:spcBef>
                <a:spcPts val="0"/>
              </a:spcBef>
            </a:pPr>
            <a:r>
              <a:rPr sz="1400" b="0">
                <a:solidFill>
                  <a:srgbClr val="6B7A74"/>
                </a:solidFill>
                <a:latin typeface="Menlo"/>
              </a:rPr>
              <a:t>    // texto[0] = 'X';   // error: cannot assign to variable</a:t>
            </a:r>
          </a:p>
          <a:p>
            <a:pPr>
              <a:lnSpc>
                <a:spcPct val="106000"/>
              </a:lnSpc>
              <a:spcBef>
                <a:spcPts val="0"/>
              </a:spcBef>
            </a:pPr>
            <a:r>
              <a:rPr sz="1400" b="0">
                <a:solidFill>
                  <a:srgbClr val="1E2B33"/>
                </a:solidFill>
                <a:latin typeface="Menlo"/>
              </a:rPr>
              <a:t>    return texto.size(); </a:t>
            </a:r>
            <a:r>
              <a:rPr sz="1400" b="0">
                <a:solidFill>
                  <a:srgbClr val="6B7A74"/>
                </a:solidFill>
                <a:latin typeface="Menlo"/>
              </a:rPr>
              <a:t>//        with const-qualified type</a:t>
            </a:r>
          </a:p>
          <a:p>
            <a:pPr>
              <a:lnSpc>
                <a:spcPct val="106000"/>
              </a:lnSpc>
              <a:spcBef>
                <a:spcPts val="0"/>
              </a:spcBef>
            </a:pPr>
            <a:r>
              <a:rPr sz="1400" b="0">
                <a:solidFill>
                  <a:srgbClr val="1E2B33"/>
                </a:solidFill>
                <a:latin typeface="Menlo"/>
              </a:rPr>
              <a:t>}</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void agrega_saludo(std::string&amp; texto) {   </a:t>
            </a:r>
            <a:r>
              <a:rPr sz="1400" b="0">
                <a:solidFill>
                  <a:srgbClr val="6B7A74"/>
                </a:solidFill>
                <a:latin typeface="Menlo"/>
              </a:rPr>
              <a:t>// sin const: SÍ modifica</a:t>
            </a:r>
          </a:p>
          <a:p>
            <a:pPr>
              <a:lnSpc>
                <a:spcPct val="106000"/>
              </a:lnSpc>
              <a:spcBef>
                <a:spcPts val="0"/>
              </a:spcBef>
            </a:pPr>
            <a:r>
              <a:rPr sz="1400" b="0">
                <a:solidFill>
                  <a:srgbClr val="1E2B33"/>
                </a:solidFill>
                <a:latin typeface="Menlo"/>
              </a:rPr>
              <a:t>    texto = "Hola, " + texto;</a:t>
            </a:r>
          </a:p>
          <a:p>
            <a:pPr>
              <a:lnSpc>
                <a:spcPct val="106000"/>
              </a:lnSpc>
              <a:spcBef>
                <a:spcPts val="0"/>
              </a:spcBef>
            </a:pPr>
            <a:r>
              <a:rPr sz="1400" b="0">
                <a:solidFill>
                  <a:srgbClr val="1E2B33"/>
                </a:solidFill>
                <a:latin typeface="Menlo"/>
              </a:rPr>
              <a:t>}</a:t>
            </a:r>
          </a:p>
        </p:txBody>
      </p:sp>
      <p:sp>
        <p:nvSpPr>
          <p:cNvPr id="7" name="TextBox 6"/>
          <p:cNvSpPr txBox="1"/>
          <p:nvPr/>
        </p:nvSpPr>
        <p:spPr>
          <a:xfrm>
            <a:off x="777240" y="4206240"/>
            <a:ext cx="10637215" cy="548640"/>
          </a:xfrm>
          <a:prstGeom prst="rect">
            <a:avLst/>
          </a:prstGeom>
          <a:noFill/>
        </p:spPr>
        <p:txBody>
          <a:bodyPr wrap="square" lIns="0" rIns="0" tIns="0" bIns="0">
            <a:spAutoFit/>
          </a:bodyPr>
          <a:lstStyle/>
          <a:p>
            <a:r>
              <a:rPr b="0" sz="1600">
                <a:solidFill>
                  <a:srgbClr val="0B6E6E"/>
                </a:solidFill>
                <a:latin typeface="Helvetica Neue"/>
              </a:rPr>
              <a:t>const no es cosmética: es la única documentación que el compilador verifica.</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const T&amp; acepta argumentos que T&amp; rechaza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3" cy="2057400"/>
        </p:xfrm>
        <a:graphic>
          <a:graphicData uri="http://schemas.openxmlformats.org/drawingml/2006/table">
            <a:tbl>
              <a:tblPr firstRow="1" bandRow="1">
                <a:tableStyleId>{5C22544A-7EE6-4342-B048-85BDC9FD1C3A}</a:tableStyleId>
              </a:tblPr>
              <a:tblGrid>
                <a:gridCol w="5318607"/>
                <a:gridCol w="2659303"/>
                <a:gridCol w="2659303"/>
              </a:tblGrid>
              <a:tr h="411480">
                <a:tc>
                  <a:txBody>
                    <a:bodyPr/>
                    <a:lstStyle/>
                    <a:p>
                      <a:r>
                        <a:rPr b="1" sz="1400">
                          <a:solidFill>
                            <a:srgbClr val="FFFFFF"/>
                          </a:solidFill>
                          <a:latin typeface="Helvetica Neue"/>
                        </a:rPr>
                        <a:t>Llamada</a:t>
                      </a:r>
                    </a:p>
                  </a:txBody>
                  <a:tcPr anchor="ctr" marL="109728" marR="109728">
                    <a:solidFill>
                      <a:srgbClr val="142638"/>
                    </a:solidFill>
                  </a:tcPr>
                </a:tc>
                <a:tc>
                  <a:txBody>
                    <a:bodyPr/>
                    <a:lstStyle/>
                    <a:p>
                      <a:r>
                        <a:rPr b="1" sz="1300">
                          <a:solidFill>
                            <a:srgbClr val="FFFFFF"/>
                          </a:solidFill>
                          <a:latin typeface="Menlo"/>
                        </a:rPr>
                        <a:t>const std::string&amp;</a:t>
                      </a:r>
                    </a:p>
                  </a:txBody>
                  <a:tcPr anchor="ctr" marL="109728" marR="109728">
                    <a:solidFill>
                      <a:srgbClr val="142638"/>
                    </a:solidFill>
                  </a:tcPr>
                </a:tc>
                <a:tc>
                  <a:txBody>
                    <a:bodyPr/>
                    <a:lstStyle/>
                    <a:p>
                      <a:r>
                        <a:rPr b="1" sz="1300">
                          <a:solidFill>
                            <a:srgbClr val="FFFFFF"/>
                          </a:solidFill>
                          <a:latin typeface="Menlo"/>
                        </a:rPr>
                        <a:t>std::string&amp;</a:t>
                      </a:r>
                    </a:p>
                  </a:txBody>
                  <a:tcPr anchor="ctr" marL="109728" marR="109728">
                    <a:solidFill>
                      <a:srgbClr val="142638"/>
                    </a:solidFill>
                  </a:tcPr>
                </a:tc>
              </a:tr>
              <a:tr h="411480">
                <a:tc>
                  <a:txBody>
                    <a:bodyPr/>
                    <a:lstStyle/>
                    <a:p>
                      <a:r>
                        <a:rPr sz="1300">
                          <a:solidFill>
                            <a:srgbClr val="0B6E6E"/>
                          </a:solidFill>
                          <a:latin typeface="Menlo"/>
                        </a:rPr>
                        <a:t>f(nombre)</a:t>
                      </a:r>
                      <a:r>
                        <a:rPr b="0" sz="1400">
                          <a:solidFill>
                            <a:srgbClr val="2E3A46"/>
                          </a:solidFill>
                          <a:latin typeface="Helvetica Neue"/>
                        </a:rPr>
                        <a:t> — un lvalue</a:t>
                      </a:r>
                    </a:p>
                  </a:txBody>
                  <a:tcPr anchor="ctr" marL="109728" marR="109728">
                    <a:solidFill>
                      <a:srgbClr val="FFFFFF"/>
                    </a:solidFill>
                  </a:tcPr>
                </a:tc>
                <a:tc>
                  <a:txBody>
                    <a:bodyPr/>
                    <a:lstStyle/>
                    <a:p>
                      <a:r>
                        <a:rPr b="0" sz="1400">
                          <a:solidFill>
                            <a:srgbClr val="2E3A46"/>
                          </a:solidFill>
                          <a:latin typeface="Helvetica Neue"/>
                        </a:rPr>
                        <a:t>sí</a:t>
                      </a:r>
                    </a:p>
                  </a:txBody>
                  <a:tcPr anchor="ctr" marL="109728" marR="109728">
                    <a:solidFill>
                      <a:srgbClr val="FFFFFF"/>
                    </a:solidFill>
                  </a:tcPr>
                </a:tc>
                <a:tc>
                  <a:txBody>
                    <a:bodyPr/>
                    <a:lstStyle/>
                    <a:p>
                      <a:r>
                        <a:rPr b="0" sz="1400">
                          <a:solidFill>
                            <a:srgbClr val="2E3A46"/>
                          </a:solidFill>
                          <a:latin typeface="Helvetica Neue"/>
                        </a:rPr>
                        <a:t>sí</a:t>
                      </a:r>
                    </a:p>
                  </a:txBody>
                  <a:tcPr anchor="ctr" marL="109728" marR="109728">
                    <a:solidFill>
                      <a:srgbClr val="FFFFFF"/>
                    </a:solidFill>
                  </a:tcPr>
                </a:tc>
              </a:tr>
              <a:tr h="411480">
                <a:tc>
                  <a:txBody>
                    <a:bodyPr/>
                    <a:lstStyle/>
                    <a:p>
                      <a:r>
                        <a:rPr sz="1300">
                          <a:solidFill>
                            <a:srgbClr val="0B6E6E"/>
                          </a:solidFill>
                          <a:latin typeface="Menlo"/>
                        </a:rPr>
                        <a:t>f("literal")</a:t>
                      </a:r>
                      <a:r>
                        <a:rPr b="0" sz="1400">
                          <a:solidFill>
                            <a:srgbClr val="2E3A46"/>
                          </a:solidFill>
                          <a:latin typeface="Helvetica Neue"/>
                        </a:rPr>
                        <a:t> — conversión</a:t>
                      </a:r>
                    </a:p>
                  </a:txBody>
                  <a:tcPr anchor="ctr" marL="109728" marR="109728">
                    <a:solidFill>
                      <a:srgbClr val="F2F4F3"/>
                    </a:solidFill>
                  </a:tcPr>
                </a:tc>
                <a:tc>
                  <a:txBody>
                    <a:bodyPr/>
                    <a:lstStyle/>
                    <a:p>
                      <a:r>
                        <a:rPr b="0" sz="1400">
                          <a:solidFill>
                            <a:srgbClr val="2E3A46"/>
                          </a:solidFill>
                          <a:latin typeface="Helvetica Neue"/>
                        </a:rPr>
                        <a:t>sí</a:t>
                      </a:r>
                    </a:p>
                  </a:txBody>
                  <a:tcPr anchor="ctr" marL="109728" marR="109728">
                    <a:solidFill>
                      <a:srgbClr val="F2F4F3"/>
                    </a:solidFill>
                  </a:tcPr>
                </a:tc>
                <a:tc>
                  <a:txBody>
                    <a:bodyPr/>
                    <a:lstStyle/>
                    <a:p>
                      <a:r>
                        <a:rPr b="1" sz="1400">
                          <a:solidFill>
                            <a:srgbClr val="142638"/>
                          </a:solidFill>
                          <a:latin typeface="Helvetica Neue"/>
                        </a:rPr>
                        <a:t>no</a:t>
                      </a:r>
                    </a:p>
                  </a:txBody>
                  <a:tcPr anchor="ctr" marL="109728" marR="109728">
                    <a:solidFill>
                      <a:srgbClr val="F2F4F3"/>
                    </a:solidFill>
                  </a:tcPr>
                </a:tc>
              </a:tr>
              <a:tr h="411480">
                <a:tc>
                  <a:txBody>
                    <a:bodyPr/>
                    <a:lstStyle/>
                    <a:p>
                      <a:r>
                        <a:rPr sz="1300">
                          <a:solidFill>
                            <a:srgbClr val="0B6E6E"/>
                          </a:solidFill>
                          <a:latin typeface="Menlo"/>
                        </a:rPr>
                        <a:t>f(std::string{"t"})</a:t>
                      </a:r>
                      <a:r>
                        <a:rPr b="0" sz="1400">
                          <a:solidFill>
                            <a:srgbClr val="2E3A46"/>
                          </a:solidFill>
                          <a:latin typeface="Helvetica Neue"/>
                        </a:rPr>
                        <a:t> — temporal</a:t>
                      </a:r>
                    </a:p>
                  </a:txBody>
                  <a:tcPr anchor="ctr" marL="109728" marR="109728">
                    <a:solidFill>
                      <a:srgbClr val="FFFFFF"/>
                    </a:solidFill>
                  </a:tcPr>
                </a:tc>
                <a:tc>
                  <a:txBody>
                    <a:bodyPr/>
                    <a:lstStyle/>
                    <a:p>
                      <a:r>
                        <a:rPr b="0" sz="1400">
                          <a:solidFill>
                            <a:srgbClr val="2E3A46"/>
                          </a:solidFill>
                          <a:latin typeface="Helvetica Neue"/>
                        </a:rPr>
                        <a:t>sí</a:t>
                      </a:r>
                    </a:p>
                  </a:txBody>
                  <a:tcPr anchor="ctr" marL="109728" marR="109728">
                    <a:solidFill>
                      <a:srgbClr val="FFFFFF"/>
                    </a:solidFill>
                  </a:tcPr>
                </a:tc>
                <a:tc>
                  <a:txBody>
                    <a:bodyPr/>
                    <a:lstStyle/>
                    <a:p>
                      <a:r>
                        <a:rPr b="1" sz="1400">
                          <a:solidFill>
                            <a:srgbClr val="142638"/>
                          </a:solidFill>
                          <a:latin typeface="Helvetica Neue"/>
                        </a:rPr>
                        <a:t>no</a:t>
                      </a:r>
                    </a:p>
                  </a:txBody>
                  <a:tcPr anchor="ctr" marL="109728" marR="109728">
                    <a:solidFill>
                      <a:srgbClr val="FFFFFF"/>
                    </a:solidFill>
                  </a:tcPr>
                </a:tc>
              </a:tr>
              <a:tr h="411480">
                <a:tc>
                  <a:txBody>
                    <a:bodyPr/>
                    <a:lstStyle/>
                    <a:p>
                      <a:r>
                        <a:rPr sz="1300">
                          <a:solidFill>
                            <a:srgbClr val="1E2B33"/>
                          </a:solidFill>
                          <a:latin typeface="Menlo"/>
                        </a:rPr>
                        <a:t>f(objeto_const)</a:t>
                      </a:r>
                    </a:p>
                  </a:txBody>
                  <a:tcPr anchor="ctr" marL="109728" marR="109728">
                    <a:solidFill>
                      <a:srgbClr val="F2F4F3"/>
                    </a:solidFill>
                  </a:tcPr>
                </a:tc>
                <a:tc>
                  <a:txBody>
                    <a:bodyPr/>
                    <a:lstStyle/>
                    <a:p>
                      <a:r>
                        <a:rPr b="0" sz="1400">
                          <a:solidFill>
                            <a:srgbClr val="2E3A46"/>
                          </a:solidFill>
                          <a:latin typeface="Helvetica Neue"/>
                        </a:rPr>
                        <a:t>sí</a:t>
                      </a:r>
                    </a:p>
                  </a:txBody>
                  <a:tcPr anchor="ctr" marL="109728" marR="109728">
                    <a:solidFill>
                      <a:srgbClr val="F2F4F3"/>
                    </a:solidFill>
                  </a:tcPr>
                </a:tc>
                <a:tc>
                  <a:txBody>
                    <a:bodyPr/>
                    <a:lstStyle/>
                    <a:p>
                      <a:r>
                        <a:rPr b="1" sz="1400">
                          <a:solidFill>
                            <a:srgbClr val="142638"/>
                          </a:solidFill>
                          <a:latin typeface="Helvetica Neue"/>
                        </a:rPr>
                        <a:t>no</a:t>
                      </a:r>
                    </a:p>
                  </a:txBody>
                  <a:tcPr anchor="ctr" marL="109728" marR="109728">
                    <a:solidFill>
                      <a:srgbClr val="F2F4F3"/>
                    </a:solidFill>
                  </a:tcPr>
                </a:tc>
              </a:tr>
            </a:tbl>
          </a:graphicData>
        </a:graphic>
      </p:graphicFrame>
      <p:sp>
        <p:nvSpPr>
          <p:cNvPr id="5" name="TextBox 4"/>
          <p:cNvSpPr txBox="1"/>
          <p:nvPr/>
        </p:nvSpPr>
        <p:spPr>
          <a:xfrm>
            <a:off x="777240" y="4114800"/>
            <a:ext cx="10637215" cy="548640"/>
          </a:xfrm>
          <a:prstGeom prst="rect">
            <a:avLst/>
          </a:prstGeom>
          <a:noFill/>
        </p:spPr>
        <p:txBody>
          <a:bodyPr wrap="square" lIns="0" rIns="0" tIns="0" bIns="0">
            <a:spAutoFit/>
          </a:bodyPr>
          <a:lstStyle/>
          <a:p>
            <a:r>
              <a:rPr b="0" sz="1500">
                <a:solidFill>
                  <a:srgbClr val="0B6E6E"/>
                </a:solidFill>
                <a:latin typeface="Helvetica Neue"/>
              </a:rPr>
              <a:t>Permitir modificar un temporal que va a morir en la siguiente línea casi siempre es un error. El lenguaje lo prohíbe.</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08_referencia_const.cpp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./build/bin/exp_08_referencia_const</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sz="1700">
                <a:solidFill>
                  <a:srgbClr val="0B6E6E"/>
                </a:solidFill>
                <a:latin typeface="Menlo"/>
              </a:rPr>
              <a:t>const&amp;</a:t>
            </a:r>
            <a:r>
              <a:rPr b="0" sz="1800">
                <a:solidFill>
                  <a:srgbClr val="2E3A46"/>
                </a:solidFill>
                <a:latin typeface="Helvetica Neue"/>
              </a:rPr>
              <a:t> no copia, no modifica y acepta temporales y objetos </a:t>
            </a:r>
            <a:r>
              <a:rPr sz="1700">
                <a:solidFill>
                  <a:srgbClr val="0B6E6E"/>
                </a:solidFill>
                <a:latin typeface="Menlo"/>
              </a:rPr>
              <a:t>const</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Descomentar en vivo las dos llamadas que </a:t>
            </a:r>
            <a:r>
              <a:rPr b="1" sz="1800">
                <a:solidFill>
                  <a:srgbClr val="142638"/>
                </a:solidFill>
                <a:latin typeface="Helvetica Neue"/>
              </a:rPr>
              <a:t>no compilan</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Vida extendida de un temporal ligado a </a:t>
            </a:r>
            <a:r>
              <a:rPr sz="1700">
                <a:solidFill>
                  <a:srgbClr val="0B6E6E"/>
                </a:solidFill>
                <a:latin typeface="Menlo"/>
              </a:rPr>
              <a:t>const&amp;</a:t>
            </a:r>
            <a:r>
              <a:rPr b="0" sz="1800">
                <a:solidFill>
                  <a:srgbClr val="2E3A46"/>
                </a:solidFill>
                <a:latin typeface="Helvetica Neue"/>
              </a:rPr>
              <a:t>.</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400">
                <a:solidFill>
                  <a:srgbClr val="FFFFFF"/>
                </a:solidFill>
                <a:latin typeface="Helvetica Neue"/>
              </a:rPr>
              <a:t>Una referencia </a:t>
            </a:r>
            <a:r>
              <a:rPr b="1" sz="3400">
                <a:solidFill>
                  <a:srgbClr val="FFFFFF"/>
                </a:solidFill>
                <a:latin typeface="Helvetica Neue"/>
              </a:rPr>
              <a:t>no es dueña</a:t>
            </a:r>
            <a:r>
              <a:rPr b="0" sz="3400">
                <a:solidFill>
                  <a:srgbClr val="FFFFFF"/>
                </a:solidFill>
                <a:latin typeface="Helvetica Neue"/>
              </a:rPr>
              <a:t> del objeto al que apunta.</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Si el objeto muere antes que la referencia, usarla es comportamiento indefinido.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dos causas de referencia colgante</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10512"/>
            <a:ext cx="5135727" cy="320040"/>
          </a:xfrm>
          <a:prstGeom prst="rect">
            <a:avLst/>
          </a:prstGeom>
          <a:noFill/>
        </p:spPr>
        <p:txBody>
          <a:bodyPr wrap="square" lIns="0" rIns="0" tIns="0" bIns="0">
            <a:spAutoFit/>
          </a:bodyPr>
          <a:lstStyle/>
          <a:p>
            <a:r>
              <a:rPr b="1" sz="1500">
                <a:solidFill>
                  <a:srgbClr val="A8431B"/>
                </a:solidFill>
                <a:latin typeface="Helvetica Neue"/>
              </a:rPr>
              <a:t>A · devolver una local</a:t>
            </a:r>
          </a:p>
        </p:txBody>
      </p:sp>
      <p:sp>
        <p:nvSpPr>
          <p:cNvPr id="5" name="Rounded Rectangle 4"/>
          <p:cNvSpPr/>
          <p:nvPr/>
        </p:nvSpPr>
        <p:spPr>
          <a:xfrm>
            <a:off x="777240" y="2194560"/>
            <a:ext cx="5135727" cy="2672334"/>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267712"/>
            <a:ext cx="50292" cy="252603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340864"/>
            <a:ext cx="4724247" cy="2398014"/>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int&amp; colgante() {</a:t>
            </a:r>
          </a:p>
          <a:p>
            <a:pPr>
              <a:lnSpc>
                <a:spcPct val="106000"/>
              </a:lnSpc>
              <a:spcBef>
                <a:spcPts val="0"/>
              </a:spcBef>
            </a:pPr>
            <a:r>
              <a:rPr sz="1300" b="0">
                <a:solidFill>
                  <a:srgbClr val="1E2B33"/>
                </a:solidFill>
                <a:latin typeface="Menlo"/>
              </a:rPr>
              <a:t>    int local = 1234;</a:t>
            </a:r>
          </a:p>
          <a:p>
            <a:pPr>
              <a:lnSpc>
                <a:spcPct val="106000"/>
              </a:lnSpc>
              <a:spcBef>
                <a:spcPts val="0"/>
              </a:spcBef>
            </a:pPr>
            <a:r>
              <a:rPr sz="1300" b="0">
                <a:solidFill>
                  <a:srgbClr val="1E2B33"/>
                </a:solidFill>
                <a:latin typeface="Menlo"/>
              </a:rPr>
              <a:t>    return local;      </a:t>
            </a:r>
            <a:r>
              <a:rPr sz="1300" b="0">
                <a:solidFill>
                  <a:srgbClr val="6B7A74"/>
                </a:solidFill>
                <a:latin typeface="Menlo"/>
              </a:rPr>
              <a:t>// muere aquí</a:t>
            </a:r>
          </a:p>
          <a:p>
            <a:pPr>
              <a:lnSpc>
                <a:spcPct val="106000"/>
              </a:lnSpc>
              <a:spcBef>
                <a:spcPts val="0"/>
              </a:spcBef>
            </a:pPr>
            <a:r>
              <a:rPr sz="1300" b="0">
                <a:solidFill>
                  <a:srgbClr val="1E2B33"/>
                </a:solidFill>
                <a:latin typeface="Menlo"/>
              </a:rPr>
              <a:t>}</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int&amp; r = colgante();</a:t>
            </a:r>
          </a:p>
          <a:p>
            <a:pPr>
              <a:lnSpc>
                <a:spcPct val="106000"/>
              </a:lnSpc>
              <a:spcBef>
                <a:spcPts val="0"/>
              </a:spcBef>
            </a:pPr>
            <a:r>
              <a:rPr sz="1300" b="0">
                <a:solidFill>
                  <a:srgbClr val="1E2B33"/>
                </a:solidFill>
                <a:latin typeface="Menlo"/>
              </a:rPr>
              <a:t>std::cout &lt;&lt; r;        </a:t>
            </a:r>
            <a:r>
              <a:rPr sz="1300" b="0">
                <a:solidFill>
                  <a:srgbClr val="6B7A74"/>
                </a:solidFill>
                <a:latin typeface="Menlo"/>
              </a:rPr>
              <a:t>// basura</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El compilador SÍ avisa:</a:t>
            </a:r>
          </a:p>
          <a:p>
            <a:pPr>
              <a:lnSpc>
                <a:spcPct val="106000"/>
              </a:lnSpc>
              <a:spcBef>
                <a:spcPts val="0"/>
              </a:spcBef>
            </a:pPr>
            <a:r>
              <a:rPr sz="1300" b="0">
                <a:solidFill>
                  <a:srgbClr val="6B7A74"/>
                </a:solidFill>
                <a:latin typeface="Menlo"/>
              </a:rPr>
              <a:t>// warning: reference to stack</a:t>
            </a:r>
          </a:p>
          <a:p>
            <a:pPr>
              <a:lnSpc>
                <a:spcPct val="106000"/>
              </a:lnSpc>
              <a:spcBef>
                <a:spcPts val="0"/>
              </a:spcBef>
            </a:pPr>
            <a:r>
              <a:rPr sz="1300" b="0">
                <a:solidFill>
                  <a:srgbClr val="6B7A74"/>
                </a:solidFill>
                <a:latin typeface="Menlo"/>
              </a:rPr>
              <a:t>// memory ... returned</a:t>
            </a:r>
          </a:p>
        </p:txBody>
      </p:sp>
      <p:sp>
        <p:nvSpPr>
          <p:cNvPr id="8" name="TextBox 7"/>
          <p:cNvSpPr txBox="1"/>
          <p:nvPr/>
        </p:nvSpPr>
        <p:spPr>
          <a:xfrm>
            <a:off x="6278727" y="1810512"/>
            <a:ext cx="5135727" cy="320040"/>
          </a:xfrm>
          <a:prstGeom prst="rect">
            <a:avLst/>
          </a:prstGeom>
          <a:noFill/>
        </p:spPr>
        <p:txBody>
          <a:bodyPr wrap="square" lIns="0" rIns="0" tIns="0" bIns="0">
            <a:spAutoFit/>
          </a:bodyPr>
          <a:lstStyle/>
          <a:p>
            <a:r>
              <a:rPr b="1" sz="1500">
                <a:solidFill>
                  <a:srgbClr val="0B6E6E"/>
                </a:solidFill>
                <a:latin typeface="Helvetica Neue"/>
              </a:rPr>
              <a:t>B · el contenedor crece</a:t>
            </a:r>
          </a:p>
        </p:txBody>
      </p:sp>
      <p:sp>
        <p:nvSpPr>
          <p:cNvPr id="9" name="Rounded Rectangle 8"/>
          <p:cNvSpPr/>
          <p:nvPr/>
        </p:nvSpPr>
        <p:spPr>
          <a:xfrm>
            <a:off x="6278727" y="2194560"/>
            <a:ext cx="5135727" cy="2672334"/>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8727" y="2267712"/>
            <a:ext cx="50292" cy="252603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4759" y="2340864"/>
            <a:ext cx="4724247" cy="2398014"/>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std::vector&lt;int&gt; v{10, 20, 30};</a:t>
            </a:r>
          </a:p>
          <a:p>
            <a:pPr>
              <a:lnSpc>
                <a:spcPct val="106000"/>
              </a:lnSpc>
              <a:spcBef>
                <a:spcPts val="0"/>
              </a:spcBef>
            </a:pPr>
            <a:r>
              <a:rPr sz="1300" b="0">
                <a:solidFill>
                  <a:srgbClr val="1E2B33"/>
                </a:solidFill>
                <a:latin typeface="Menlo"/>
              </a:rPr>
              <a:t>int&amp; primero = v[0];</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for (int i = 0; i &lt; 1000; ++i)</a:t>
            </a:r>
          </a:p>
          <a:p>
            <a:pPr>
              <a:lnSpc>
                <a:spcPct val="106000"/>
              </a:lnSpc>
              <a:spcBef>
                <a:spcPts val="0"/>
              </a:spcBef>
            </a:pPr>
            <a:r>
              <a:rPr sz="1300" b="0">
                <a:solidFill>
                  <a:srgbClr val="1E2B33"/>
                </a:solidFill>
                <a:latin typeface="Menlo"/>
              </a:rPr>
              <a:t>    v.push_back(i);    </a:t>
            </a:r>
            <a:r>
              <a:rPr sz="1300" b="0">
                <a:solidFill>
                  <a:srgbClr val="6B7A74"/>
                </a:solidFill>
                <a:latin typeface="Menlo"/>
              </a:rPr>
              <a:t>// realoja</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std::cout &lt;&lt; primero;  </a:t>
            </a:r>
            <a:r>
              <a:rPr sz="1300" b="0">
                <a:solidFill>
                  <a:srgbClr val="6B7A74"/>
                </a:solidFill>
                <a:latin typeface="Menlo"/>
              </a:rPr>
              <a:t>// colgante</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El compilador NO avisa.</a:t>
            </a:r>
          </a:p>
          <a:p>
            <a:pPr>
              <a:lnSpc>
                <a:spcPct val="106000"/>
              </a:lnSpc>
              <a:spcBef>
                <a:spcPts val="0"/>
              </a:spcBef>
            </a:pPr>
            <a:r>
              <a:rPr sz="1300" b="0">
                <a:solidFill>
                  <a:srgbClr val="6B7A74"/>
                </a:solidFill>
                <a:latin typeface="Menlo"/>
              </a:rPr>
              <a:t>// AddressSanitizer sí.</a:t>
            </a:r>
          </a:p>
        </p:txBody>
      </p:sp>
      <p:sp>
        <p:nvSpPr>
          <p:cNvPr id="12" name="TextBox 11"/>
          <p:cNvSpPr txBox="1"/>
          <p:nvPr/>
        </p:nvSpPr>
        <p:spPr>
          <a:xfrm>
            <a:off x="777240" y="5049774"/>
            <a:ext cx="10637215" cy="548640"/>
          </a:xfrm>
          <a:prstGeom prst="rect">
            <a:avLst/>
          </a:prstGeom>
          <a:noFill/>
        </p:spPr>
        <p:txBody>
          <a:bodyPr wrap="square" lIns="0" rIns="0" tIns="0" bIns="0">
            <a:spAutoFit/>
          </a:bodyPr>
          <a:lstStyle/>
          <a:p>
            <a:r>
              <a:rPr b="0" sz="1600">
                <a:solidFill>
                  <a:srgbClr val="0B6E6E"/>
                </a:solidFill>
                <a:latin typeface="Helvetica Neue"/>
              </a:rPr>
              <a:t>Solución práctica: no devuelvas referencias a locales, y guarda el ÍNDICE, no la referencia.</a:t>
            </a:r>
          </a:p>
        </p:txBody>
      </p:sp>
      <p:sp>
        <p:nvSpPr>
          <p:cNvPr id="13" name="TextBox 12"/>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09_referencias_colgantes.cpp</a:t>
            </a:r>
          </a:p>
        </p:txBody>
      </p:sp>
      <p:sp>
        <p:nvSpPr>
          <p:cNvPr id="5" name="Rounded Rectangle 4"/>
          <p:cNvSpPr/>
          <p:nvPr/>
        </p:nvSpPr>
        <p:spPr>
          <a:xfrm>
            <a:off x="777240" y="1874519"/>
            <a:ext cx="10637215" cy="75895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6126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484632"/>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ASAN_OPTIONS=detect_stack_use_after_return=1 \</a:t>
            </a:r>
          </a:p>
          <a:p>
            <a:pPr>
              <a:lnSpc>
                <a:spcPct val="106000"/>
              </a:lnSpc>
              <a:spcBef>
                <a:spcPts val="0"/>
              </a:spcBef>
            </a:pPr>
            <a:r>
              <a:rPr sz="1500" b="0">
                <a:solidFill>
                  <a:srgbClr val="1E2B33"/>
                </a:solidFill>
                <a:latin typeface="Menlo"/>
              </a:rPr>
              <a:t>    ./build/bin/exp_09_referencias_colgantes</a:t>
            </a:r>
          </a:p>
        </p:txBody>
      </p:sp>
      <p:sp>
        <p:nvSpPr>
          <p:cNvPr id="8" name="TextBox 7"/>
          <p:cNvSpPr txBox="1"/>
          <p:nvPr/>
        </p:nvSpPr>
        <p:spPr>
          <a:xfrm>
            <a:off x="777240" y="2999232"/>
            <a:ext cx="10637215" cy="3218688"/>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Ejecutarlo </a:t>
            </a:r>
            <a:r>
              <a:rPr b="1" sz="1800">
                <a:solidFill>
                  <a:srgbClr val="142638"/>
                </a:solidFill>
                <a:latin typeface="Helvetica Neue"/>
              </a:rPr>
              <a:t>primero sin</a:t>
            </a:r>
            <a:r>
              <a:rPr b="0" sz="1800">
                <a:solidFill>
                  <a:srgbClr val="2E3A46"/>
                </a:solidFill>
                <a:latin typeface="Helvetica Neue"/>
              </a:rPr>
              <a:t> la variable de entorno: termina sin quejarse.</a:t>
            </a:r>
          </a:p>
          <a:p>
            <a:pPr>
              <a:spcBef>
                <a:spcPts val="1000"/>
              </a:spcBef>
            </a:pPr>
            <a:r>
              <a:rPr sz="1800">
                <a:solidFill>
                  <a:srgbClr val="0B6E6E"/>
                </a:solidFill>
                <a:latin typeface="Helvetica Neue"/>
              </a:rPr>
              <a:t>→  </a:t>
            </a:r>
            <a:r>
              <a:rPr b="0" sz="1800">
                <a:solidFill>
                  <a:srgbClr val="2E3A46"/>
                </a:solidFill>
                <a:latin typeface="Helvetica Neue"/>
              </a:rPr>
              <a:t>Ejecutarlo </a:t>
            </a:r>
            <a:r>
              <a:rPr b="1" sz="1800">
                <a:solidFill>
                  <a:srgbClr val="142638"/>
                </a:solidFill>
                <a:latin typeface="Helvetica Neue"/>
              </a:rPr>
              <a:t>después con</a:t>
            </a:r>
            <a:r>
              <a:rPr b="0" sz="1800">
                <a:solidFill>
                  <a:srgbClr val="2E3A46"/>
                </a:solidFill>
                <a:latin typeface="Helvetica Neue"/>
              </a:rPr>
              <a:t> ella: AddressSanitizer aborta y señala la línea.</a:t>
            </a:r>
          </a:p>
          <a:p>
            <a:pPr>
              <a:spcBef>
                <a:spcPts val="1000"/>
              </a:spcBef>
            </a:pPr>
            <a:r>
              <a:rPr sz="1800">
                <a:solidFill>
                  <a:srgbClr val="0B6E6E"/>
                </a:solidFill>
                <a:latin typeface="Helvetica Neue"/>
              </a:rPr>
              <a:t>→  </a:t>
            </a:r>
            <a:r>
              <a:rPr b="0" sz="1800">
                <a:solidFill>
                  <a:srgbClr val="2E3A46"/>
                </a:solidFill>
                <a:latin typeface="Helvetica Neue"/>
              </a:rPr>
              <a:t>El mismo programa, dos comportamientos. Eso es comportamiento indefinido.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Devolver resultados: dos estilos</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F.20 y F.21 de las Core Guidelines</a:t>
            </a:r>
          </a:p>
        </p:txBody>
      </p:sp>
      <p:sp>
        <p:nvSpPr>
          <p:cNvPr id="5" name="TextBox 4"/>
          <p:cNvSpPr txBox="1"/>
          <p:nvPr/>
        </p:nvSpPr>
        <p:spPr>
          <a:xfrm>
            <a:off x="777240" y="1810512"/>
            <a:ext cx="5135727" cy="320040"/>
          </a:xfrm>
          <a:prstGeom prst="rect">
            <a:avLst/>
          </a:prstGeom>
          <a:noFill/>
        </p:spPr>
        <p:txBody>
          <a:bodyPr wrap="square" lIns="0" rIns="0" tIns="0" bIns="0">
            <a:spAutoFit/>
          </a:bodyPr>
          <a:lstStyle/>
          <a:p>
            <a:r>
              <a:rPr b="1" sz="1500">
                <a:solidFill>
                  <a:srgbClr val="A8431B"/>
                </a:solidFill>
                <a:latin typeface="Helvetica Neue"/>
              </a:rPr>
              <a:t>Parámetros de salida</a:t>
            </a:r>
          </a:p>
        </p:txBody>
      </p:sp>
      <p:sp>
        <p:nvSpPr>
          <p:cNvPr id="6" name="Rounded Rectangle 5"/>
          <p:cNvSpPr/>
          <p:nvPr/>
        </p:nvSpPr>
        <p:spPr>
          <a:xfrm>
            <a:off x="777240" y="2194560"/>
            <a:ext cx="5135727" cy="2672334"/>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67712"/>
            <a:ext cx="50292" cy="252603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340864"/>
            <a:ext cx="4724247" cy="2398014"/>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void estadisticas(</a:t>
            </a:r>
          </a:p>
          <a:p>
            <a:pPr>
              <a:lnSpc>
                <a:spcPct val="106000"/>
              </a:lnSpc>
              <a:spcBef>
                <a:spcPts val="0"/>
              </a:spcBef>
            </a:pPr>
            <a:r>
              <a:rPr sz="1300" b="0">
                <a:solidFill>
                  <a:srgbClr val="1E2B33"/>
                </a:solidFill>
                <a:latin typeface="Menlo"/>
              </a:rPr>
              <a:t>    const std::vector&lt;double&gt;&amp; d,</a:t>
            </a:r>
          </a:p>
          <a:p>
            <a:pPr>
              <a:lnSpc>
                <a:spcPct val="106000"/>
              </a:lnSpc>
              <a:spcBef>
                <a:spcPts val="0"/>
              </a:spcBef>
            </a:pPr>
            <a:r>
              <a:rPr sz="1300" b="0">
                <a:solidFill>
                  <a:srgbClr val="1E2B33"/>
                </a:solidFill>
                <a:latin typeface="Menlo"/>
              </a:rPr>
              <a:t>    double&amp; minimo,</a:t>
            </a:r>
          </a:p>
          <a:p>
            <a:pPr>
              <a:lnSpc>
                <a:spcPct val="106000"/>
              </a:lnSpc>
              <a:spcBef>
                <a:spcPts val="0"/>
              </a:spcBef>
            </a:pPr>
            <a:r>
              <a:rPr sz="1300" b="0">
                <a:solidFill>
                  <a:srgbClr val="1E2B33"/>
                </a:solidFill>
                <a:latin typeface="Menlo"/>
              </a:rPr>
              <a:t>    double&amp; maximo,</a:t>
            </a:r>
          </a:p>
          <a:p>
            <a:pPr>
              <a:lnSpc>
                <a:spcPct val="106000"/>
              </a:lnSpc>
              <a:spcBef>
                <a:spcPts val="0"/>
              </a:spcBef>
            </a:pPr>
            <a:r>
              <a:rPr sz="1300" b="0">
                <a:solidFill>
                  <a:srgbClr val="1E2B33"/>
                </a:solidFill>
                <a:latin typeface="Menlo"/>
              </a:rPr>
              <a:t>    double&amp; media);</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double mn = 0, mx = 0, md = 0;</a:t>
            </a:r>
          </a:p>
          <a:p>
            <a:pPr>
              <a:lnSpc>
                <a:spcPct val="106000"/>
              </a:lnSpc>
              <a:spcBef>
                <a:spcPts val="0"/>
              </a:spcBef>
            </a:pPr>
            <a:r>
              <a:rPr sz="1300" b="0">
                <a:solidFill>
                  <a:srgbClr val="1E2B33"/>
                </a:solidFill>
                <a:latin typeface="Menlo"/>
              </a:rPr>
              <a:t>estadisticas(datos, mn, mx, md);</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¿cuáles entran y cuáles salen?</a:t>
            </a:r>
          </a:p>
          <a:p>
            <a:pPr>
              <a:lnSpc>
                <a:spcPct val="106000"/>
              </a:lnSpc>
              <a:spcBef>
                <a:spcPts val="0"/>
              </a:spcBef>
            </a:pPr>
            <a:r>
              <a:rPr sz="1300" b="0">
                <a:solidFill>
                  <a:srgbClr val="6B7A74"/>
                </a:solidFill>
                <a:latin typeface="Menlo"/>
              </a:rPr>
              <a:t>// hay que ir a ver la firma</a:t>
            </a:r>
          </a:p>
        </p:txBody>
      </p:sp>
      <p:sp>
        <p:nvSpPr>
          <p:cNvPr id="9" name="TextBox 8"/>
          <p:cNvSpPr txBox="1"/>
          <p:nvPr/>
        </p:nvSpPr>
        <p:spPr>
          <a:xfrm>
            <a:off x="6278727" y="1810512"/>
            <a:ext cx="5135727" cy="320040"/>
          </a:xfrm>
          <a:prstGeom prst="rect">
            <a:avLst/>
          </a:prstGeom>
          <a:noFill/>
        </p:spPr>
        <p:txBody>
          <a:bodyPr wrap="square" lIns="0" rIns="0" tIns="0" bIns="0">
            <a:spAutoFit/>
          </a:bodyPr>
          <a:lstStyle/>
          <a:p>
            <a:r>
              <a:rPr b="1" sz="1500">
                <a:solidFill>
                  <a:srgbClr val="0B6E6E"/>
                </a:solidFill>
                <a:latin typeface="Helvetica Neue"/>
              </a:rPr>
              <a:t>Valor de retorno (preferido)</a:t>
            </a:r>
          </a:p>
        </p:txBody>
      </p:sp>
      <p:sp>
        <p:nvSpPr>
          <p:cNvPr id="10" name="Rounded Rectangle 9"/>
          <p:cNvSpPr/>
          <p:nvPr/>
        </p:nvSpPr>
        <p:spPr>
          <a:xfrm>
            <a:off x="6278727" y="2194560"/>
            <a:ext cx="5135727" cy="2672334"/>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7" y="2267712"/>
            <a:ext cx="50292" cy="252603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4759" y="2340864"/>
            <a:ext cx="4724247" cy="2398014"/>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struct Estadisticas {</a:t>
            </a:r>
          </a:p>
          <a:p>
            <a:pPr>
              <a:lnSpc>
                <a:spcPct val="106000"/>
              </a:lnSpc>
              <a:spcBef>
                <a:spcPts val="0"/>
              </a:spcBef>
            </a:pPr>
            <a:r>
              <a:rPr sz="1300" b="0">
                <a:solidFill>
                  <a:srgbClr val="1E2B33"/>
                </a:solidFill>
                <a:latin typeface="Menlo"/>
              </a:rPr>
              <a:t>    double minimo, maximo, media;</a:t>
            </a:r>
          </a:p>
          <a:p>
            <a:pPr>
              <a:lnSpc>
                <a:spcPct val="106000"/>
              </a:lnSpc>
              <a:spcBef>
                <a:spcPts val="0"/>
              </a:spcBef>
            </a:pPr>
            <a:r>
              <a:rPr sz="1300" b="0">
                <a:solidFill>
                  <a:srgbClr val="1E2B33"/>
                </a:solidFill>
                <a:latin typeface="Menlo"/>
              </a:rPr>
              <a:t>};</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Estadisticas estadisticas(</a:t>
            </a:r>
          </a:p>
          <a:p>
            <a:pPr>
              <a:lnSpc>
                <a:spcPct val="106000"/>
              </a:lnSpc>
              <a:spcBef>
                <a:spcPts val="0"/>
              </a:spcBef>
            </a:pPr>
            <a:r>
              <a:rPr sz="1300" b="0">
                <a:solidFill>
                  <a:srgbClr val="1E2B33"/>
                </a:solidFill>
                <a:latin typeface="Menlo"/>
              </a:rPr>
              <a:t>    const std::vector&lt;double&gt;&amp; d);</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auto [mn, mx, md] =</a:t>
            </a:r>
          </a:p>
          <a:p>
            <a:pPr>
              <a:lnSpc>
                <a:spcPct val="106000"/>
              </a:lnSpc>
              <a:spcBef>
                <a:spcPts val="0"/>
              </a:spcBef>
            </a:pPr>
            <a:r>
              <a:rPr sz="1300" b="0">
                <a:solidFill>
                  <a:srgbClr val="1E2B33"/>
                </a:solidFill>
                <a:latin typeface="Menlo"/>
              </a:rPr>
              <a:t>    estadisticas(datos);</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se lee sola</a:t>
            </a:r>
          </a:p>
        </p:txBody>
      </p:sp>
      <p:sp>
        <p:nvSpPr>
          <p:cNvPr id="13" name="TextBox 12"/>
          <p:cNvSpPr txBox="1"/>
          <p:nvPr/>
        </p:nvSpPr>
        <p:spPr>
          <a:xfrm>
            <a:off x="777240" y="5049774"/>
            <a:ext cx="10637215" cy="548640"/>
          </a:xfrm>
          <a:prstGeom prst="rect">
            <a:avLst/>
          </a:prstGeom>
          <a:noFill/>
        </p:spPr>
        <p:txBody>
          <a:bodyPr wrap="square" lIns="0" rIns="0" tIns="0" bIns="0">
            <a:spAutoFit/>
          </a:bodyPr>
          <a:lstStyle/>
          <a:p>
            <a:r>
              <a:rPr b="0" sz="1600">
                <a:solidFill>
                  <a:srgbClr val="0B6E6E"/>
                </a:solidFill>
                <a:latin typeface="Helvetica Neue"/>
              </a:rPr>
              <a:t>El valor de retorno no se puede ignorar por accidente y no obliga a declarar variables vacías antes.</a:t>
            </a:r>
          </a:p>
        </p:txBody>
      </p:sp>
      <p:sp>
        <p:nvSpPr>
          <p:cNvPr id="14" name="TextBox 13"/>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10_salida_por_parametro.cpp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./build/bin/exp_10_salida_por_parametro</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Los tres estilos: parámetros de salida, </a:t>
            </a:r>
            <a:r>
              <a:rPr sz="1700">
                <a:solidFill>
                  <a:srgbClr val="0B6E6E"/>
                </a:solidFill>
                <a:latin typeface="Menlo"/>
              </a:rPr>
              <a:t>struct</a:t>
            </a:r>
            <a:r>
              <a:rPr b="0" sz="1800">
                <a:solidFill>
                  <a:srgbClr val="2E3A46"/>
                </a:solidFill>
                <a:latin typeface="Helvetica Neue"/>
              </a:rPr>
              <a:t> de retorno y entrada/salida real.</a:t>
            </a:r>
          </a:p>
          <a:p>
            <a:pPr>
              <a:spcBef>
                <a:spcPts val="1000"/>
              </a:spcBef>
            </a:pPr>
            <a:r>
              <a:rPr sz="1800">
                <a:solidFill>
                  <a:srgbClr val="0B6E6E"/>
                </a:solidFill>
                <a:latin typeface="Helvetica Neue"/>
              </a:rPr>
              <a:t>→  </a:t>
            </a:r>
            <a:r>
              <a:rPr sz="1700">
                <a:solidFill>
                  <a:srgbClr val="0B6E6E"/>
                </a:solidFill>
                <a:latin typeface="Menlo"/>
              </a:rPr>
              <a:t>T&amp;</a:t>
            </a:r>
            <a:r>
              <a:rPr b="0" sz="1800">
                <a:solidFill>
                  <a:srgbClr val="2E3A46"/>
                </a:solidFill>
                <a:latin typeface="Helvetica Neue"/>
              </a:rPr>
              <a:t> sigue siendo correcto cuando el parámetro </a:t>
            </a:r>
            <a:r>
              <a:rPr b="1" sz="1800">
                <a:solidFill>
                  <a:srgbClr val="142638"/>
                </a:solidFill>
                <a:latin typeface="Helvetica Neue"/>
              </a:rPr>
              <a:t>entra con un valor y sale modificado</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Ejemplo: normalizar un vector en el sitio.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5</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const, punteros y referencias</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20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Cuándo usar cada uno</a:t>
            </a:r>
          </a:p>
          <a:p>
            <a:pPr>
              <a:spcBef>
                <a:spcPts val="500"/>
              </a:spcBef>
            </a:pPr>
            <a:r>
              <a:rPr b="0" sz="1500">
                <a:solidFill>
                  <a:srgbClr val="C5D0D8"/>
                </a:solidFill>
                <a:latin typeface="Helvetica Neue"/>
              </a:rPr>
              <a:t>·  El puntero también viaja por valor</a:t>
            </a:r>
          </a:p>
          <a:p>
            <a:pPr>
              <a:spcBef>
                <a:spcPts val="500"/>
              </a:spcBef>
            </a:pPr>
            <a:r>
              <a:rPr b="0" sz="1500">
                <a:solidFill>
                  <a:srgbClr val="C5D0D8"/>
                </a:solidFill>
                <a:latin typeface="Helvetica Neue"/>
              </a:rPr>
              <a:t>·  Dónde va el const</a:t>
            </a:r>
          </a:p>
          <a:p>
            <a:pPr>
              <a:spcBef>
                <a:spcPts val="500"/>
              </a:spcBef>
            </a:pPr>
            <a:r>
              <a:rPr b="0" sz="1500">
                <a:solidFill>
                  <a:srgbClr val="C5D0D8"/>
                </a:solidFill>
                <a:latin typeface="Helvetica Neue"/>
              </a:rPr>
              <a:t>·  Tabla de decisión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Referencia y puntero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4" cy="2825496"/>
        </p:xfrm>
        <a:graphic>
          <a:graphicData uri="http://schemas.openxmlformats.org/drawingml/2006/table">
            <a:tbl>
              <a:tblPr firstRow="1" bandRow="1">
                <a:tableStyleId>{5C22544A-7EE6-4342-B048-85BDC9FD1C3A}</a:tableStyleId>
              </a:tblPr>
              <a:tblGrid>
                <a:gridCol w="3545738"/>
                <a:gridCol w="3545738"/>
                <a:gridCol w="3545738"/>
              </a:tblGrid>
              <a:tr h="403642">
                <a:tc>
                  <a:txBody>
                    <a:bodyPr/>
                    <a:lstStyle/>
                    <a:p>
                      <a:r>
                        <a:rPr b="1" sz="1400">
                          <a:solidFill>
                            <a:srgbClr val="FFFFFF"/>
                          </a:solidFill>
                          <a:latin typeface="Helvetica Neue"/>
                        </a:rPr>
                        <a:t/>
                      </a:r>
                    </a:p>
                  </a:txBody>
                  <a:tcPr anchor="ctr" marL="109728" marR="109728">
                    <a:solidFill>
                      <a:srgbClr val="142638"/>
                    </a:solidFill>
                  </a:tcPr>
                </a:tc>
                <a:tc>
                  <a:txBody>
                    <a:bodyPr/>
                    <a:lstStyle/>
                    <a:p>
                      <a:r>
                        <a:rPr b="1" sz="1400">
                          <a:solidFill>
                            <a:srgbClr val="FFFFFF"/>
                          </a:solidFill>
                          <a:latin typeface="Helvetica Neue"/>
                        </a:rPr>
                        <a:t>`T&amp;` referencia</a:t>
                      </a:r>
                    </a:p>
                  </a:txBody>
                  <a:tcPr anchor="ctr" marL="109728" marR="109728">
                    <a:solidFill>
                      <a:srgbClr val="142638"/>
                    </a:solidFill>
                  </a:tcPr>
                </a:tc>
                <a:tc>
                  <a:txBody>
                    <a:bodyPr/>
                    <a:lstStyle/>
                    <a:p>
                      <a:r>
                        <a:rPr b="1" sz="1400">
                          <a:solidFill>
                            <a:srgbClr val="FFFFFF"/>
                          </a:solidFill>
                          <a:latin typeface="Helvetica Neue"/>
                        </a:rPr>
                        <a:t>`T*` puntero</a:t>
                      </a:r>
                    </a:p>
                  </a:txBody>
                  <a:tcPr anchor="ctr" marL="109728" marR="109728">
                    <a:solidFill>
                      <a:srgbClr val="142638"/>
                    </a:solidFill>
                  </a:tcPr>
                </a:tc>
              </a:tr>
              <a:tr h="403642">
                <a:tc>
                  <a:txBody>
                    <a:bodyPr/>
                    <a:lstStyle/>
                    <a:p>
                      <a:r>
                        <a:rPr b="0" sz="1400">
                          <a:solidFill>
                            <a:srgbClr val="2E3A46"/>
                          </a:solidFill>
                          <a:latin typeface="Helvetica Neue"/>
                        </a:rPr>
                        <a:t>Puede ser nulo</a:t>
                      </a:r>
                    </a:p>
                  </a:txBody>
                  <a:tcPr anchor="ctr" marL="109728" marR="109728">
                    <a:solidFill>
                      <a:srgbClr val="FFFFFF"/>
                    </a:solidFill>
                  </a:tcPr>
                </a:tc>
                <a:tc>
                  <a:txBody>
                    <a:bodyPr/>
                    <a:lstStyle/>
                    <a:p>
                      <a:r>
                        <a:rPr b="0" sz="1400">
                          <a:solidFill>
                            <a:srgbClr val="2E3A46"/>
                          </a:solidFill>
                          <a:latin typeface="Helvetica Neue"/>
                        </a:rPr>
                        <a:t>no</a:t>
                      </a:r>
                    </a:p>
                  </a:txBody>
                  <a:tcPr anchor="ctr" marL="109728" marR="109728">
                    <a:solidFill>
                      <a:srgbClr val="FFFFFF"/>
                    </a:solidFill>
                  </a:tcPr>
                </a:tc>
                <a:tc>
                  <a:txBody>
                    <a:bodyPr/>
                    <a:lstStyle/>
                    <a:p>
                      <a:r>
                        <a:rPr b="0" sz="1400">
                          <a:solidFill>
                            <a:srgbClr val="2E3A46"/>
                          </a:solidFill>
                          <a:latin typeface="Helvetica Neue"/>
                        </a:rPr>
                        <a:t>sí (</a:t>
                      </a:r>
                      <a:r>
                        <a:rPr sz="1300">
                          <a:solidFill>
                            <a:srgbClr val="0B6E6E"/>
                          </a:solidFill>
                          <a:latin typeface="Menlo"/>
                        </a:rPr>
                        <a:t>nullptr</a:t>
                      </a:r>
                      <a:r>
                        <a:rPr b="0" sz="1400">
                          <a:solidFill>
                            <a:srgbClr val="2E3A46"/>
                          </a:solidFill>
                          <a:latin typeface="Helvetica Neue"/>
                        </a:rPr>
                        <a:t>)</a:t>
                      </a:r>
                    </a:p>
                  </a:txBody>
                  <a:tcPr anchor="ctr" marL="109728" marR="109728">
                    <a:solidFill>
                      <a:srgbClr val="FFFFFF"/>
                    </a:solidFill>
                  </a:tcPr>
                </a:tc>
              </a:tr>
              <a:tr h="403642">
                <a:tc>
                  <a:txBody>
                    <a:bodyPr/>
                    <a:lstStyle/>
                    <a:p>
                      <a:r>
                        <a:rPr b="0" sz="1400">
                          <a:solidFill>
                            <a:srgbClr val="2E3A46"/>
                          </a:solidFill>
                          <a:latin typeface="Helvetica Neue"/>
                        </a:rPr>
                        <a:t>Se puede reapuntar</a:t>
                      </a:r>
                    </a:p>
                  </a:txBody>
                  <a:tcPr anchor="ctr" marL="109728" marR="109728">
                    <a:solidFill>
                      <a:srgbClr val="F2F4F3"/>
                    </a:solidFill>
                  </a:tcPr>
                </a:tc>
                <a:tc>
                  <a:txBody>
                    <a:bodyPr/>
                    <a:lstStyle/>
                    <a:p>
                      <a:r>
                        <a:rPr b="0" sz="1400">
                          <a:solidFill>
                            <a:srgbClr val="2E3A46"/>
                          </a:solidFill>
                          <a:latin typeface="Helvetica Neue"/>
                        </a:rPr>
                        <a:t>no</a:t>
                      </a:r>
                    </a:p>
                  </a:txBody>
                  <a:tcPr anchor="ctr" marL="109728" marR="109728">
                    <a:solidFill>
                      <a:srgbClr val="F2F4F3"/>
                    </a:solidFill>
                  </a:tcPr>
                </a:tc>
                <a:tc>
                  <a:txBody>
                    <a:bodyPr/>
                    <a:lstStyle/>
                    <a:p>
                      <a:r>
                        <a:rPr b="0" sz="1400">
                          <a:solidFill>
                            <a:srgbClr val="2E3A46"/>
                          </a:solidFill>
                          <a:latin typeface="Helvetica Neue"/>
                        </a:rPr>
                        <a:t>sí</a:t>
                      </a:r>
                    </a:p>
                  </a:txBody>
                  <a:tcPr anchor="ctr" marL="109728" marR="109728">
                    <a:solidFill>
                      <a:srgbClr val="F2F4F3"/>
                    </a:solidFill>
                  </a:tcPr>
                </a:tc>
              </a:tr>
              <a:tr h="403642">
                <a:tc>
                  <a:txBody>
                    <a:bodyPr/>
                    <a:lstStyle/>
                    <a:p>
                      <a:r>
                        <a:rPr b="0" sz="1400">
                          <a:solidFill>
                            <a:srgbClr val="2E3A46"/>
                          </a:solidFill>
                          <a:latin typeface="Helvetica Neue"/>
                        </a:rPr>
                        <a:t>Debe inicializarse</a:t>
                      </a:r>
                    </a:p>
                  </a:txBody>
                  <a:tcPr anchor="ctr" marL="109728" marR="109728">
                    <a:solidFill>
                      <a:srgbClr val="FFFFFF"/>
                    </a:solidFill>
                  </a:tcPr>
                </a:tc>
                <a:tc>
                  <a:txBody>
                    <a:bodyPr/>
                    <a:lstStyle/>
                    <a:p>
                      <a:r>
                        <a:rPr b="0" sz="1400">
                          <a:solidFill>
                            <a:srgbClr val="2E3A46"/>
                          </a:solidFill>
                          <a:latin typeface="Helvetica Neue"/>
                        </a:rPr>
                        <a:t>sí</a:t>
                      </a:r>
                    </a:p>
                  </a:txBody>
                  <a:tcPr anchor="ctr" marL="109728" marR="109728">
                    <a:solidFill>
                      <a:srgbClr val="FFFFFF"/>
                    </a:solidFill>
                  </a:tcPr>
                </a:tc>
                <a:tc>
                  <a:txBody>
                    <a:bodyPr/>
                    <a:lstStyle/>
                    <a:p>
                      <a:r>
                        <a:rPr b="0" sz="1400">
                          <a:solidFill>
                            <a:srgbClr val="2E3A46"/>
                          </a:solidFill>
                          <a:latin typeface="Helvetica Neue"/>
                        </a:rPr>
                        <a:t>no</a:t>
                      </a:r>
                    </a:p>
                  </a:txBody>
                  <a:tcPr anchor="ctr" marL="109728" marR="109728">
                    <a:solidFill>
                      <a:srgbClr val="FFFFFF"/>
                    </a:solidFill>
                  </a:tcPr>
                </a:tc>
              </a:tr>
              <a:tr h="403642">
                <a:tc>
                  <a:txBody>
                    <a:bodyPr/>
                    <a:lstStyle/>
                    <a:p>
                      <a:r>
                        <a:rPr b="0" sz="1400">
                          <a:solidFill>
                            <a:srgbClr val="2E3A46"/>
                          </a:solidFill>
                          <a:latin typeface="Helvetica Neue"/>
                        </a:rPr>
                        <a:t>En la llamada</a:t>
                      </a:r>
                    </a:p>
                  </a:txBody>
                  <a:tcPr anchor="ctr" marL="109728" marR="109728">
                    <a:solidFill>
                      <a:srgbClr val="F2F4F3"/>
                    </a:solidFill>
                  </a:tcPr>
                </a:tc>
                <a:tc>
                  <a:txBody>
                    <a:bodyPr/>
                    <a:lstStyle/>
                    <a:p>
                      <a:r>
                        <a:rPr sz="1300">
                          <a:solidFill>
                            <a:srgbClr val="1E2B33"/>
                          </a:solidFill>
                          <a:latin typeface="Menlo"/>
                        </a:rPr>
                        <a:t>f(x)</a:t>
                      </a:r>
                    </a:p>
                  </a:txBody>
                  <a:tcPr anchor="ctr" marL="109728" marR="109728">
                    <a:solidFill>
                      <a:srgbClr val="F2F4F3"/>
                    </a:solidFill>
                  </a:tcPr>
                </a:tc>
                <a:tc>
                  <a:txBody>
                    <a:bodyPr/>
                    <a:lstStyle/>
                    <a:p>
                      <a:r>
                        <a:rPr sz="1300">
                          <a:solidFill>
                            <a:srgbClr val="1E2B33"/>
                          </a:solidFill>
                          <a:latin typeface="Menlo"/>
                        </a:rPr>
                        <a:t>f(&amp;x)</a:t>
                      </a:r>
                    </a:p>
                  </a:txBody>
                  <a:tcPr anchor="ctr" marL="109728" marR="109728">
                    <a:solidFill>
                      <a:srgbClr val="F2F4F3"/>
                    </a:solidFill>
                  </a:tcPr>
                </a:tc>
              </a:tr>
              <a:tr h="403642">
                <a:tc>
                  <a:txBody>
                    <a:bodyPr/>
                    <a:lstStyle/>
                    <a:p>
                      <a:r>
                        <a:rPr b="0" sz="1400">
                          <a:solidFill>
                            <a:srgbClr val="2E3A46"/>
                          </a:solidFill>
                          <a:latin typeface="Helvetica Neue"/>
                        </a:rPr>
                        <a:t>Al usarlo</a:t>
                      </a:r>
                    </a:p>
                  </a:txBody>
                  <a:tcPr anchor="ctr" marL="109728" marR="109728">
                    <a:solidFill>
                      <a:srgbClr val="FFFFFF"/>
                    </a:solidFill>
                  </a:tcPr>
                </a:tc>
                <a:tc>
                  <a:txBody>
                    <a:bodyPr/>
                    <a:lstStyle/>
                    <a:p>
                      <a:r>
                        <a:rPr sz="1300">
                          <a:solidFill>
                            <a:srgbClr val="1E2B33"/>
                          </a:solidFill>
                          <a:latin typeface="Menlo"/>
                        </a:rPr>
                        <a:t>x</a:t>
                      </a:r>
                    </a:p>
                  </a:txBody>
                  <a:tcPr anchor="ctr" marL="109728" marR="109728">
                    <a:solidFill>
                      <a:srgbClr val="FFFFFF"/>
                    </a:solidFill>
                  </a:tcPr>
                </a:tc>
                <a:tc>
                  <a:txBody>
                    <a:bodyPr/>
                    <a:lstStyle/>
                    <a:p>
                      <a:r>
                        <a:rPr sz="1300">
                          <a:solidFill>
                            <a:srgbClr val="1E2B33"/>
                          </a:solidFill>
                          <a:latin typeface="Menlo"/>
                        </a:rPr>
                        <a:t>*p`  `p-&gt;</a:t>
                      </a:r>
                    </a:p>
                  </a:txBody>
                  <a:tcPr anchor="ctr" marL="109728" marR="109728">
                    <a:solidFill>
                      <a:srgbClr val="FFFFFF"/>
                    </a:solidFill>
                  </a:tcPr>
                </a:tc>
              </a:tr>
              <a:tr h="403644">
                <a:tc>
                  <a:txBody>
                    <a:bodyPr/>
                    <a:lstStyle/>
                    <a:p>
                      <a:r>
                        <a:rPr b="0" sz="1400">
                          <a:solidFill>
                            <a:srgbClr val="2E3A46"/>
                          </a:solidFill>
                          <a:latin typeface="Helvetica Neue"/>
                        </a:rPr>
                        <a:t>Aritmética</a:t>
                      </a:r>
                    </a:p>
                  </a:txBody>
                  <a:tcPr anchor="ctr" marL="109728" marR="109728">
                    <a:solidFill>
                      <a:srgbClr val="F2F4F3"/>
                    </a:solidFill>
                  </a:tcPr>
                </a:tc>
                <a:tc>
                  <a:txBody>
                    <a:bodyPr/>
                    <a:lstStyle/>
                    <a:p>
                      <a:r>
                        <a:rPr b="0" sz="1400">
                          <a:solidFill>
                            <a:srgbClr val="2E3A46"/>
                          </a:solidFill>
                          <a:latin typeface="Helvetica Neue"/>
                        </a:rPr>
                        <a:t>no</a:t>
                      </a:r>
                    </a:p>
                  </a:txBody>
                  <a:tcPr anchor="ctr" marL="109728" marR="109728">
                    <a:solidFill>
                      <a:srgbClr val="F2F4F3"/>
                    </a:solidFill>
                  </a:tcPr>
                </a:tc>
                <a:tc>
                  <a:txBody>
                    <a:bodyPr/>
                    <a:lstStyle/>
                    <a:p>
                      <a:r>
                        <a:rPr b="0" sz="1400">
                          <a:solidFill>
                            <a:srgbClr val="2E3A46"/>
                          </a:solidFill>
                          <a:latin typeface="Helvetica Neue"/>
                        </a:rPr>
                        <a:t>sí (</a:t>
                      </a:r>
                      <a:r>
                        <a:rPr sz="1300">
                          <a:solidFill>
                            <a:srgbClr val="0B6E6E"/>
                          </a:solidFill>
                          <a:latin typeface="Menlo"/>
                        </a:rPr>
                        <a:t>p + 1</a:t>
                      </a:r>
                      <a:r>
                        <a:rPr b="0" sz="1400">
                          <a:solidFill>
                            <a:srgbClr val="2E3A46"/>
                          </a:solidFill>
                          <a:latin typeface="Helvetica Neue"/>
                        </a:rPr>
                        <a:t>)</a:t>
                      </a:r>
                    </a:p>
                  </a:txBody>
                  <a:tcPr anchor="ctr" marL="109728" marR="109728">
                    <a:solidFill>
                      <a:srgbClr val="F2F4F3"/>
                    </a:solidFill>
                  </a:tcPr>
                </a:tc>
              </a:tr>
            </a:tbl>
          </a:graphicData>
        </a:graphic>
      </p:graphicFrame>
      <p:sp>
        <p:nvSpPr>
          <p:cNvPr id="5" name="TextBox 4"/>
          <p:cNvSpPr txBox="1"/>
          <p:nvPr/>
        </p:nvSpPr>
        <p:spPr>
          <a:xfrm>
            <a:off x="777240" y="4882896"/>
            <a:ext cx="10637215" cy="548640"/>
          </a:xfrm>
          <a:prstGeom prst="rect">
            <a:avLst/>
          </a:prstGeom>
          <a:noFill/>
        </p:spPr>
        <p:txBody>
          <a:bodyPr wrap="square" lIns="0" rIns="0" tIns="0" bIns="0">
            <a:spAutoFit/>
          </a:bodyPr>
          <a:lstStyle/>
          <a:p>
            <a:r>
              <a:rPr b="0" sz="1500">
                <a:solidFill>
                  <a:srgbClr val="0B6E6E"/>
                </a:solidFill>
                <a:latin typeface="Helvetica Neue"/>
              </a:rPr>
              <a:t>No son intercambiables: se diferencian en lo que PERMITEN.</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2800">
                <a:solidFill>
                  <a:srgbClr val="FFFFFF"/>
                </a:solidFill>
                <a:latin typeface="Helvetica Neue"/>
              </a:rPr>
              <a:t>F.60 — *Prefer </a:t>
            </a:r>
            <a:r>
              <a:rPr sz="2700">
                <a:solidFill>
                  <a:srgbClr val="0B6E6E"/>
                </a:solidFill>
                <a:latin typeface="Menlo"/>
              </a:rPr>
              <a:t>T*</a:t>
            </a:r>
            <a:r>
              <a:rPr b="0" sz="2800">
                <a:solidFill>
                  <a:srgbClr val="FFFFFF"/>
                </a:solidFill>
                <a:latin typeface="Helvetica Neue"/>
              </a:rPr>
              <a:t> over </a:t>
            </a:r>
            <a:r>
              <a:rPr sz="2700">
                <a:solidFill>
                  <a:srgbClr val="0B6E6E"/>
                </a:solidFill>
                <a:latin typeface="Menlo"/>
              </a:rPr>
              <a:t>T&amp;</a:t>
            </a:r>
            <a:r>
              <a:rPr b="0" sz="2800">
                <a:solidFill>
                  <a:srgbClr val="FFFFFF"/>
                </a:solidFill>
                <a:latin typeface="Helvetica Neue"/>
              </a:rPr>
              <a:t> when "no argument" is a valid option*</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Traducido: referencia por omisión; puntero cuando la ausencia de dato sea un caso legítimo.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punto que siempre se confunde</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Un puntero también se pasa por valor</a:t>
            </a:r>
          </a:p>
        </p:txBody>
      </p:sp>
      <p:sp>
        <p:nvSpPr>
          <p:cNvPr id="5" name="Rounded Rectangle 4"/>
          <p:cNvSpPr/>
          <p:nvPr/>
        </p:nvSpPr>
        <p:spPr>
          <a:xfrm>
            <a:off x="777240" y="1828800"/>
            <a:ext cx="10637215" cy="128016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113385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1005840"/>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void f(int* p) {</a:t>
            </a:r>
          </a:p>
          <a:p>
            <a:pPr>
              <a:lnSpc>
                <a:spcPct val="106000"/>
              </a:lnSpc>
              <a:spcBef>
                <a:spcPts val="0"/>
              </a:spcBef>
            </a:pPr>
            <a:r>
              <a:rPr sz="1400" b="1">
                <a:solidFill>
                  <a:srgbClr val="A8431B"/>
                </a:solidFill>
                <a:latin typeface="Menlo"/>
              </a:rPr>
              <a:t>    *p = 10;            </a:t>
            </a:r>
            <a:r>
              <a:rPr sz="1400" b="1">
                <a:solidFill>
                  <a:srgbClr val="A8431B"/>
                </a:solidFill>
                <a:latin typeface="Menlo"/>
              </a:rPr>
              <a:t>// SÍ afecta al objeto del llamador</a:t>
            </a:r>
          </a:p>
          <a:p>
            <a:pPr>
              <a:lnSpc>
                <a:spcPct val="106000"/>
              </a:lnSpc>
              <a:spcBef>
                <a:spcPts val="0"/>
              </a:spcBef>
            </a:pPr>
            <a:r>
              <a:rPr sz="1400" b="1">
                <a:solidFill>
                  <a:srgbClr val="A8431B"/>
                </a:solidFill>
                <a:latin typeface="Menlo"/>
              </a:rPr>
              <a:t>    p = nullptr;        </a:t>
            </a:r>
            <a:r>
              <a:rPr sz="1400" b="1">
                <a:solidFill>
                  <a:srgbClr val="A8431B"/>
                </a:solidFill>
                <a:latin typeface="Menlo"/>
              </a:rPr>
              <a:t>// NO afecta al puntero del llamador</a:t>
            </a:r>
          </a:p>
          <a:p>
            <a:pPr>
              <a:lnSpc>
                <a:spcPct val="106000"/>
              </a:lnSpc>
              <a:spcBef>
                <a:spcPts val="0"/>
              </a:spcBef>
            </a:pPr>
            <a:r>
              <a:rPr sz="1400" b="0">
                <a:solidFill>
                  <a:srgbClr val="1E2B33"/>
                </a:solidFill>
                <a:latin typeface="Menlo"/>
              </a:rPr>
              <a:t>}</a:t>
            </a:r>
          </a:p>
        </p:txBody>
      </p:sp>
      <p:sp>
        <p:nvSpPr>
          <p:cNvPr id="8" name="TextBox 7"/>
          <p:cNvSpPr txBox="1"/>
          <p:nvPr/>
        </p:nvSpPr>
        <p:spPr>
          <a:xfrm>
            <a:off x="777240" y="3310128"/>
            <a:ext cx="10637215" cy="548640"/>
          </a:xfrm>
          <a:prstGeom prst="rect">
            <a:avLst/>
          </a:prstGeom>
          <a:noFill/>
        </p:spPr>
        <p:txBody>
          <a:bodyPr wrap="square" lIns="0" rIns="0" tIns="0" bIns="0">
            <a:spAutoFit/>
          </a:bodyPr>
          <a:lstStyle/>
          <a:p>
            <a:r>
              <a:rPr b="0" sz="1600">
                <a:solidFill>
                  <a:srgbClr val="0B6E6E"/>
                </a:solidFill>
                <a:latin typeface="Helvetica Neue"/>
              </a:rPr>
              <a:t>La función recibe una COPIA de la dirección. Para cambiar el puntero del llamador hace falta int*&amp; o int**.</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Dónde va el const</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4" cy="2057400"/>
        </p:xfrm>
        <a:graphic>
          <a:graphicData uri="http://schemas.openxmlformats.org/drawingml/2006/table">
            <a:tbl>
              <a:tblPr firstRow="1" bandRow="1">
                <a:tableStyleId>{5C22544A-7EE6-4342-B048-85BDC9FD1C3A}</a:tableStyleId>
              </a:tblPr>
              <a:tblGrid>
                <a:gridCol w="3039204"/>
                <a:gridCol w="4558806"/>
                <a:gridCol w="1519602"/>
                <a:gridCol w="1519602"/>
              </a:tblGrid>
              <a:tr h="411480">
                <a:tc>
                  <a:txBody>
                    <a:bodyPr/>
                    <a:lstStyle/>
                    <a:p>
                      <a:r>
                        <a:rPr b="1" sz="1300">
                          <a:solidFill>
                            <a:srgbClr val="FFFFFF"/>
                          </a:solidFill>
                          <a:latin typeface="Helvetica Neue"/>
                        </a:rPr>
                        <a:t>Declaración</a:t>
                      </a:r>
                    </a:p>
                  </a:txBody>
                  <a:tcPr anchor="ctr" marL="109728" marR="109728">
                    <a:solidFill>
                      <a:srgbClr val="142638"/>
                    </a:solidFill>
                  </a:tcPr>
                </a:tc>
                <a:tc>
                  <a:txBody>
                    <a:bodyPr/>
                    <a:lstStyle/>
                    <a:p>
                      <a:r>
                        <a:rPr b="1" sz="1300">
                          <a:solidFill>
                            <a:srgbClr val="FFFFFF"/>
                          </a:solidFill>
                          <a:latin typeface="Helvetica Neue"/>
                        </a:rPr>
                        <a:t>Lectura (de derecha a izquierda)</a:t>
                      </a:r>
                    </a:p>
                  </a:txBody>
                  <a:tcPr anchor="ctr" marL="109728" marR="109728">
                    <a:solidFill>
                      <a:srgbClr val="142638"/>
                    </a:solidFill>
                  </a:tcPr>
                </a:tc>
                <a:tc>
                  <a:txBody>
                    <a:bodyPr/>
                    <a:lstStyle/>
                    <a:p>
                      <a:r>
                        <a:rPr b="1" sz="1200">
                          <a:solidFill>
                            <a:srgbClr val="FFFFFF"/>
                          </a:solidFill>
                          <a:latin typeface="Menlo"/>
                        </a:rPr>
                        <a:t>*p = 5</a:t>
                      </a:r>
                    </a:p>
                  </a:txBody>
                  <a:tcPr anchor="ctr" marL="109728" marR="109728">
                    <a:solidFill>
                      <a:srgbClr val="142638"/>
                    </a:solidFill>
                  </a:tcPr>
                </a:tc>
                <a:tc>
                  <a:txBody>
                    <a:bodyPr/>
                    <a:lstStyle/>
                    <a:p>
                      <a:r>
                        <a:rPr b="1" sz="1200">
                          <a:solidFill>
                            <a:srgbClr val="FFFFFF"/>
                          </a:solidFill>
                          <a:latin typeface="Menlo"/>
                        </a:rPr>
                        <a:t>p = &amp;otro</a:t>
                      </a:r>
                    </a:p>
                  </a:txBody>
                  <a:tcPr anchor="ctr" marL="109728" marR="109728">
                    <a:solidFill>
                      <a:srgbClr val="142638"/>
                    </a:solidFill>
                  </a:tcPr>
                </a:tc>
              </a:tr>
              <a:tr h="411480">
                <a:tc>
                  <a:txBody>
                    <a:bodyPr/>
                    <a:lstStyle/>
                    <a:p>
                      <a:r>
                        <a:rPr sz="1200">
                          <a:solidFill>
                            <a:srgbClr val="1E2B33"/>
                          </a:solidFill>
                          <a:latin typeface="Menlo"/>
                        </a:rPr>
                        <a:t>int* p</a:t>
                      </a:r>
                    </a:p>
                  </a:txBody>
                  <a:tcPr anchor="ctr" marL="109728" marR="109728">
                    <a:solidFill>
                      <a:srgbClr val="FFFFFF"/>
                    </a:solidFill>
                  </a:tcPr>
                </a:tc>
                <a:tc>
                  <a:txBody>
                    <a:bodyPr/>
                    <a:lstStyle/>
                    <a:p>
                      <a:r>
                        <a:rPr b="0" sz="1300">
                          <a:solidFill>
                            <a:srgbClr val="2E3A46"/>
                          </a:solidFill>
                          <a:latin typeface="Helvetica Neue"/>
                        </a:rPr>
                        <a:t>puntero a int</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r>
              <a:tr h="411480">
                <a:tc>
                  <a:txBody>
                    <a:bodyPr/>
                    <a:lstStyle/>
                    <a:p>
                      <a:r>
                        <a:rPr sz="1200">
                          <a:solidFill>
                            <a:srgbClr val="1E2B33"/>
                          </a:solidFill>
                          <a:latin typeface="Menlo"/>
                        </a:rPr>
                        <a:t>const int* p</a:t>
                      </a:r>
                    </a:p>
                  </a:txBody>
                  <a:tcPr anchor="ctr" marL="109728" marR="109728">
                    <a:solidFill>
                      <a:srgbClr val="F2F4F3"/>
                    </a:solidFill>
                  </a:tcPr>
                </a:tc>
                <a:tc>
                  <a:txBody>
                    <a:bodyPr/>
                    <a:lstStyle/>
                    <a:p>
                      <a:r>
                        <a:rPr b="0" sz="1300">
                          <a:solidFill>
                            <a:srgbClr val="2E3A46"/>
                          </a:solidFill>
                          <a:latin typeface="Helvetica Neue"/>
                        </a:rPr>
                        <a:t>puntero a int </a:t>
                      </a:r>
                      <a:r>
                        <a:rPr b="1" sz="1300">
                          <a:solidFill>
                            <a:srgbClr val="142638"/>
                          </a:solidFill>
                          <a:latin typeface="Helvetica Neue"/>
                        </a:rPr>
                        <a:t>constante</a:t>
                      </a:r>
                    </a:p>
                  </a:txBody>
                  <a:tcPr anchor="ctr" marL="109728" marR="109728">
                    <a:solidFill>
                      <a:srgbClr val="F2F4F3"/>
                    </a:solidFill>
                  </a:tcPr>
                </a:tc>
                <a:tc>
                  <a:txBody>
                    <a:bodyPr/>
                    <a:lstStyle/>
                    <a:p>
                      <a:r>
                        <a:rPr b="1" sz="1300">
                          <a:solidFill>
                            <a:srgbClr val="142638"/>
                          </a:solidFill>
                          <a:latin typeface="Helvetica Neue"/>
                        </a:rPr>
                        <a:t>no</a:t>
                      </a:r>
                    </a:p>
                  </a:txBody>
                  <a:tcPr anchor="ctr" marL="109728" marR="109728">
                    <a:solidFill>
                      <a:srgbClr val="F2F4F3"/>
                    </a:solidFill>
                  </a:tcPr>
                </a:tc>
                <a:tc>
                  <a:txBody>
                    <a:bodyPr/>
                    <a:lstStyle/>
                    <a:p>
                      <a:r>
                        <a:rPr b="0" sz="1300">
                          <a:solidFill>
                            <a:srgbClr val="2E3A46"/>
                          </a:solidFill>
                          <a:latin typeface="Helvetica Neue"/>
                        </a:rPr>
                        <a:t>sí</a:t>
                      </a:r>
                    </a:p>
                  </a:txBody>
                  <a:tcPr anchor="ctr" marL="109728" marR="109728">
                    <a:solidFill>
                      <a:srgbClr val="F2F4F3"/>
                    </a:solidFill>
                  </a:tcPr>
                </a:tc>
              </a:tr>
              <a:tr h="411480">
                <a:tc>
                  <a:txBody>
                    <a:bodyPr/>
                    <a:lstStyle/>
                    <a:p>
                      <a:r>
                        <a:rPr sz="1200">
                          <a:solidFill>
                            <a:srgbClr val="1E2B33"/>
                          </a:solidFill>
                          <a:latin typeface="Menlo"/>
                        </a:rPr>
                        <a:t>int* const p</a:t>
                      </a:r>
                    </a:p>
                  </a:txBody>
                  <a:tcPr anchor="ctr" marL="109728" marR="109728">
                    <a:solidFill>
                      <a:srgbClr val="FFFFFF"/>
                    </a:solidFill>
                  </a:tcPr>
                </a:tc>
                <a:tc>
                  <a:txBody>
                    <a:bodyPr/>
                    <a:lstStyle/>
                    <a:p>
                      <a:r>
                        <a:rPr b="0" sz="1300">
                          <a:solidFill>
                            <a:srgbClr val="2E3A46"/>
                          </a:solidFill>
                          <a:latin typeface="Helvetica Neue"/>
                        </a:rPr>
                        <a:t>puntero </a:t>
                      </a:r>
                      <a:r>
                        <a:rPr b="1" sz="1300">
                          <a:solidFill>
                            <a:srgbClr val="142638"/>
                          </a:solidFill>
                          <a:latin typeface="Helvetica Neue"/>
                        </a:rPr>
                        <a:t>constante</a:t>
                      </a:r>
                      <a:r>
                        <a:rPr b="0" sz="1300">
                          <a:solidFill>
                            <a:srgbClr val="2E3A46"/>
                          </a:solidFill>
                          <a:latin typeface="Helvetica Neue"/>
                        </a:rPr>
                        <a:t> a int</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1" sz="1300">
                          <a:solidFill>
                            <a:srgbClr val="142638"/>
                          </a:solidFill>
                          <a:latin typeface="Helvetica Neue"/>
                        </a:rPr>
                        <a:t>no</a:t>
                      </a:r>
                    </a:p>
                  </a:txBody>
                  <a:tcPr anchor="ctr" marL="109728" marR="109728">
                    <a:solidFill>
                      <a:srgbClr val="FFFFFF"/>
                    </a:solidFill>
                  </a:tcPr>
                </a:tc>
              </a:tr>
              <a:tr h="411480">
                <a:tc>
                  <a:txBody>
                    <a:bodyPr/>
                    <a:lstStyle/>
                    <a:p>
                      <a:r>
                        <a:rPr sz="1200">
                          <a:solidFill>
                            <a:srgbClr val="1E2B33"/>
                          </a:solidFill>
                          <a:latin typeface="Menlo"/>
                        </a:rPr>
                        <a:t>const int* const p</a:t>
                      </a:r>
                    </a:p>
                  </a:txBody>
                  <a:tcPr anchor="ctr" marL="109728" marR="109728">
                    <a:solidFill>
                      <a:srgbClr val="F2F4F3"/>
                    </a:solidFill>
                  </a:tcPr>
                </a:tc>
                <a:tc>
                  <a:txBody>
                    <a:bodyPr/>
                    <a:lstStyle/>
                    <a:p>
                      <a:r>
                        <a:rPr b="0" sz="1300">
                          <a:solidFill>
                            <a:srgbClr val="2E3A46"/>
                          </a:solidFill>
                          <a:latin typeface="Helvetica Neue"/>
                        </a:rPr>
                        <a:t>puntero constante a int constante</a:t>
                      </a:r>
                    </a:p>
                  </a:txBody>
                  <a:tcPr anchor="ctr" marL="109728" marR="109728">
                    <a:solidFill>
                      <a:srgbClr val="F2F4F3"/>
                    </a:solidFill>
                  </a:tcPr>
                </a:tc>
                <a:tc>
                  <a:txBody>
                    <a:bodyPr/>
                    <a:lstStyle/>
                    <a:p>
                      <a:r>
                        <a:rPr b="1" sz="1300">
                          <a:solidFill>
                            <a:srgbClr val="142638"/>
                          </a:solidFill>
                          <a:latin typeface="Helvetica Neue"/>
                        </a:rPr>
                        <a:t>no</a:t>
                      </a:r>
                    </a:p>
                  </a:txBody>
                  <a:tcPr anchor="ctr" marL="109728" marR="109728">
                    <a:solidFill>
                      <a:srgbClr val="F2F4F3"/>
                    </a:solidFill>
                  </a:tcPr>
                </a:tc>
                <a:tc>
                  <a:txBody>
                    <a:bodyPr/>
                    <a:lstStyle/>
                    <a:p>
                      <a:r>
                        <a:rPr b="1" sz="1300">
                          <a:solidFill>
                            <a:srgbClr val="142638"/>
                          </a:solidFill>
                          <a:latin typeface="Helvetica Neue"/>
                        </a:rPr>
                        <a:t>no</a:t>
                      </a:r>
                    </a:p>
                  </a:txBody>
                  <a:tcPr anchor="ctr" marL="109728" marR="109728">
                    <a:solidFill>
                      <a:srgbClr val="F2F4F3"/>
                    </a:solidFill>
                  </a:tcPr>
                </a:tc>
              </a:tr>
            </a:tbl>
          </a:graphicData>
        </a:graphic>
      </p:graphicFrame>
      <p:sp>
        <p:nvSpPr>
          <p:cNvPr id="5" name="TextBox 4"/>
          <p:cNvSpPr txBox="1"/>
          <p:nvPr/>
        </p:nvSpPr>
        <p:spPr>
          <a:xfrm>
            <a:off x="777240" y="4114800"/>
            <a:ext cx="10637215" cy="548640"/>
          </a:xfrm>
          <a:prstGeom prst="rect">
            <a:avLst/>
          </a:prstGeom>
          <a:noFill/>
        </p:spPr>
        <p:txBody>
          <a:bodyPr wrap="square" lIns="0" rIns="0" tIns="0" bIns="0">
            <a:spAutoFit/>
          </a:bodyPr>
          <a:lstStyle/>
          <a:p>
            <a:r>
              <a:rPr b="0" sz="1500">
                <a:solidFill>
                  <a:srgbClr val="0B6E6E"/>
                </a:solidFill>
                <a:latin typeface="Helvetica Neue"/>
              </a:rPr>
              <a:t>const int* e int const* son el mismo tipo. Con referencias no hay ambigüedad: solo const T&amp; y T&amp;.</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Tabla de decisión</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La diapositiva que conviene fotografiar</a:t>
            </a:r>
          </a:p>
        </p:txBody>
      </p:sp>
      <p:graphicFrame>
        <p:nvGraphicFramePr>
          <p:cNvPr id="5" name="Table 4"/>
          <p:cNvGraphicFramePr>
            <a:graphicFrameLocks noGrp="1"/>
          </p:cNvGraphicFramePr>
          <p:nvPr/>
        </p:nvGraphicFramePr>
        <p:xfrm>
          <a:off x="777240" y="1828800"/>
          <a:ext cx="10637214" cy="3209544"/>
        </p:xfrm>
        <a:graphic>
          <a:graphicData uri="http://schemas.openxmlformats.org/drawingml/2006/table">
            <a:tbl>
              <a:tblPr firstRow="1" bandRow="1">
                <a:tableStyleId>{5C22544A-7EE6-4342-B048-85BDC9FD1C3A}</a:tableStyleId>
              </a:tblPr>
              <a:tblGrid>
                <a:gridCol w="5318607"/>
                <a:gridCol w="3545738"/>
                <a:gridCol w="1772869"/>
              </a:tblGrid>
              <a:tr h="401193">
                <a:tc>
                  <a:txBody>
                    <a:bodyPr/>
                    <a:lstStyle/>
                    <a:p>
                      <a:r>
                        <a:rPr b="1" sz="1400">
                          <a:solidFill>
                            <a:srgbClr val="FFFFFF"/>
                          </a:solidFill>
                          <a:latin typeface="Helvetica Neue"/>
                        </a:rPr>
                        <a:t>Intención</a:t>
                      </a:r>
                    </a:p>
                  </a:txBody>
                  <a:tcPr anchor="ctr" marL="109728" marR="109728">
                    <a:solidFill>
                      <a:srgbClr val="142638"/>
                    </a:solidFill>
                  </a:tcPr>
                </a:tc>
                <a:tc>
                  <a:txBody>
                    <a:bodyPr/>
                    <a:lstStyle/>
                    <a:p>
                      <a:r>
                        <a:rPr b="1" sz="1400">
                          <a:solidFill>
                            <a:srgbClr val="FFFFFF"/>
                          </a:solidFill>
                          <a:latin typeface="Helvetica Neue"/>
                        </a:rPr>
                        <a:t>Parámetro</a:t>
                      </a:r>
                    </a:p>
                  </a:txBody>
                  <a:tcPr anchor="ctr" marL="109728" marR="109728">
                    <a:solidFill>
                      <a:srgbClr val="142638"/>
                    </a:solidFill>
                  </a:tcPr>
                </a:tc>
                <a:tc>
                  <a:txBody>
                    <a:bodyPr/>
                    <a:lstStyle/>
                    <a:p>
                      <a:r>
                        <a:rPr b="1" sz="1400">
                          <a:solidFill>
                            <a:srgbClr val="FFFFFF"/>
                          </a:solidFill>
                          <a:latin typeface="Helvetica Neue"/>
                        </a:rPr>
                        <a:t>Regla</a:t>
                      </a:r>
                    </a:p>
                  </a:txBody>
                  <a:tcPr anchor="ctr" marL="109728" marR="109728">
                    <a:solidFill>
                      <a:srgbClr val="142638"/>
                    </a:solidFill>
                  </a:tcPr>
                </a:tc>
              </a:tr>
              <a:tr h="401193">
                <a:tc>
                  <a:txBody>
                    <a:bodyPr/>
                    <a:lstStyle/>
                    <a:p>
                      <a:r>
                        <a:rPr b="0" sz="1400">
                          <a:solidFill>
                            <a:srgbClr val="2E3A46"/>
                          </a:solidFill>
                          <a:latin typeface="Helvetica Neue"/>
                        </a:rPr>
                        <a:t>Entrada, tipo barato de copiar</a:t>
                      </a:r>
                    </a:p>
                  </a:txBody>
                  <a:tcPr anchor="ctr" marL="109728" marR="109728">
                    <a:solidFill>
                      <a:srgbClr val="FFFFFF"/>
                    </a:solidFill>
                  </a:tcPr>
                </a:tc>
                <a:tc>
                  <a:txBody>
                    <a:bodyPr/>
                    <a:lstStyle/>
                    <a:p>
                      <a:r>
                        <a:rPr sz="1300">
                          <a:solidFill>
                            <a:srgbClr val="1E2B33"/>
                          </a:solidFill>
                          <a:latin typeface="Menlo"/>
                        </a:rPr>
                        <a:t>T</a:t>
                      </a:r>
                    </a:p>
                  </a:txBody>
                  <a:tcPr anchor="ctr" marL="109728" marR="109728">
                    <a:solidFill>
                      <a:srgbClr val="FFFFFF"/>
                    </a:solidFill>
                  </a:tcPr>
                </a:tc>
                <a:tc>
                  <a:txBody>
                    <a:bodyPr/>
                    <a:lstStyle/>
                    <a:p>
                      <a:r>
                        <a:rPr b="0" sz="1400">
                          <a:solidFill>
                            <a:srgbClr val="2E3A46"/>
                          </a:solidFill>
                          <a:latin typeface="Helvetica Neue"/>
                        </a:rPr>
                        <a:t>F.16</a:t>
                      </a:r>
                    </a:p>
                  </a:txBody>
                  <a:tcPr anchor="ctr" marL="109728" marR="109728">
                    <a:solidFill>
                      <a:srgbClr val="FFFFFF"/>
                    </a:solidFill>
                  </a:tcPr>
                </a:tc>
              </a:tr>
              <a:tr h="401193">
                <a:tc>
                  <a:txBody>
                    <a:bodyPr/>
                    <a:lstStyle/>
                    <a:p>
                      <a:r>
                        <a:rPr b="0" sz="1400">
                          <a:solidFill>
                            <a:srgbClr val="2E3A46"/>
                          </a:solidFill>
                          <a:latin typeface="Helvetica Neue"/>
                        </a:rPr>
                        <a:t>Entrada, tipo caro de copiar</a:t>
                      </a:r>
                    </a:p>
                  </a:txBody>
                  <a:tcPr anchor="ctr" marL="109728" marR="109728">
                    <a:solidFill>
                      <a:srgbClr val="F2F4F3"/>
                    </a:solidFill>
                  </a:tcPr>
                </a:tc>
                <a:tc>
                  <a:txBody>
                    <a:bodyPr/>
                    <a:lstStyle/>
                    <a:p>
                      <a:r>
                        <a:rPr sz="1300">
                          <a:solidFill>
                            <a:srgbClr val="1E2B33"/>
                          </a:solidFill>
                          <a:latin typeface="Menlo"/>
                        </a:rPr>
                        <a:t>const T&amp;</a:t>
                      </a:r>
                    </a:p>
                  </a:txBody>
                  <a:tcPr anchor="ctr" marL="109728" marR="109728">
                    <a:solidFill>
                      <a:srgbClr val="F2F4F3"/>
                    </a:solidFill>
                  </a:tcPr>
                </a:tc>
                <a:tc>
                  <a:txBody>
                    <a:bodyPr/>
                    <a:lstStyle/>
                    <a:p>
                      <a:r>
                        <a:rPr b="0" sz="1400">
                          <a:solidFill>
                            <a:srgbClr val="2E3A46"/>
                          </a:solidFill>
                          <a:latin typeface="Helvetica Neue"/>
                        </a:rPr>
                        <a:t>F.16</a:t>
                      </a:r>
                    </a:p>
                  </a:txBody>
                  <a:tcPr anchor="ctr" marL="109728" marR="109728">
                    <a:solidFill>
                      <a:srgbClr val="F2F4F3"/>
                    </a:solidFill>
                  </a:tcPr>
                </a:tc>
              </a:tr>
              <a:tr h="401193">
                <a:tc>
                  <a:txBody>
                    <a:bodyPr/>
                    <a:lstStyle/>
                    <a:p>
                      <a:r>
                        <a:rPr b="0" sz="1400">
                          <a:solidFill>
                            <a:srgbClr val="2E3A46"/>
                          </a:solidFill>
                          <a:latin typeface="Helvetica Neue"/>
                        </a:rPr>
                        <a:t>Entrada y salida</a:t>
                      </a:r>
                    </a:p>
                  </a:txBody>
                  <a:tcPr anchor="ctr" marL="109728" marR="109728">
                    <a:solidFill>
                      <a:srgbClr val="FFFFFF"/>
                    </a:solidFill>
                  </a:tcPr>
                </a:tc>
                <a:tc>
                  <a:txBody>
                    <a:bodyPr/>
                    <a:lstStyle/>
                    <a:p>
                      <a:r>
                        <a:rPr sz="1300">
                          <a:solidFill>
                            <a:srgbClr val="1E2B33"/>
                          </a:solidFill>
                          <a:latin typeface="Menlo"/>
                        </a:rPr>
                        <a:t>T&amp;</a:t>
                      </a:r>
                    </a:p>
                  </a:txBody>
                  <a:tcPr anchor="ctr" marL="109728" marR="109728">
                    <a:solidFill>
                      <a:srgbClr val="FFFFFF"/>
                    </a:solidFill>
                  </a:tcPr>
                </a:tc>
                <a:tc>
                  <a:txBody>
                    <a:bodyPr/>
                    <a:lstStyle/>
                    <a:p>
                      <a:r>
                        <a:rPr b="0" sz="1400">
                          <a:solidFill>
                            <a:srgbClr val="2E3A46"/>
                          </a:solidFill>
                          <a:latin typeface="Helvetica Neue"/>
                        </a:rPr>
                        <a:t>F.17</a:t>
                      </a:r>
                    </a:p>
                  </a:txBody>
                  <a:tcPr anchor="ctr" marL="109728" marR="109728">
                    <a:solidFill>
                      <a:srgbClr val="FFFFFF"/>
                    </a:solidFill>
                  </a:tcPr>
                </a:tc>
              </a:tr>
              <a:tr h="401193">
                <a:tc>
                  <a:txBody>
                    <a:bodyPr/>
                    <a:lstStyle/>
                    <a:p>
                      <a:r>
                        <a:rPr b="0" sz="1400">
                          <a:solidFill>
                            <a:srgbClr val="2E3A46"/>
                          </a:solidFill>
                          <a:latin typeface="Helvetica Neue"/>
                        </a:rPr>
                        <a:t>Solo salida</a:t>
                      </a:r>
                    </a:p>
                  </a:txBody>
                  <a:tcPr anchor="ctr" marL="109728" marR="109728">
                    <a:solidFill>
                      <a:srgbClr val="F2F4F3"/>
                    </a:solidFill>
                  </a:tcPr>
                </a:tc>
                <a:tc>
                  <a:txBody>
                    <a:bodyPr/>
                    <a:lstStyle/>
                    <a:p>
                      <a:r>
                        <a:rPr b="0" sz="1400">
                          <a:solidFill>
                            <a:srgbClr val="2E3A46"/>
                          </a:solidFill>
                          <a:latin typeface="Helvetica Neue"/>
                        </a:rPr>
                        <a:t>valor de retorno</a:t>
                      </a:r>
                    </a:p>
                  </a:txBody>
                  <a:tcPr anchor="ctr" marL="109728" marR="109728">
                    <a:solidFill>
                      <a:srgbClr val="F2F4F3"/>
                    </a:solidFill>
                  </a:tcPr>
                </a:tc>
                <a:tc>
                  <a:txBody>
                    <a:bodyPr/>
                    <a:lstStyle/>
                    <a:p>
                      <a:r>
                        <a:rPr b="0" sz="1400">
                          <a:solidFill>
                            <a:srgbClr val="2E3A46"/>
                          </a:solidFill>
                          <a:latin typeface="Helvetica Neue"/>
                        </a:rPr>
                        <a:t>F.20</a:t>
                      </a:r>
                    </a:p>
                  </a:txBody>
                  <a:tcPr anchor="ctr" marL="109728" marR="109728">
                    <a:solidFill>
                      <a:srgbClr val="F2F4F3"/>
                    </a:solidFill>
                  </a:tcPr>
                </a:tc>
              </a:tr>
              <a:tr h="401193">
                <a:tc>
                  <a:txBody>
                    <a:bodyPr/>
                    <a:lstStyle/>
                    <a:p>
                      <a:r>
                        <a:rPr b="0" sz="1400">
                          <a:solidFill>
                            <a:srgbClr val="2E3A46"/>
                          </a:solidFill>
                          <a:latin typeface="Helvetica Neue"/>
                        </a:rPr>
                        <a:t>Varias salidas</a:t>
                      </a:r>
                    </a:p>
                  </a:txBody>
                  <a:tcPr anchor="ctr" marL="109728" marR="109728">
                    <a:solidFill>
                      <a:srgbClr val="FFFFFF"/>
                    </a:solidFill>
                  </a:tcPr>
                </a:tc>
                <a:tc>
                  <a:txBody>
                    <a:bodyPr/>
                    <a:lstStyle/>
                    <a:p>
                      <a:r>
                        <a:rPr sz="1300">
                          <a:solidFill>
                            <a:srgbClr val="0B6E6E"/>
                          </a:solidFill>
                          <a:latin typeface="Menlo"/>
                        </a:rPr>
                        <a:t>struct</a:t>
                      </a:r>
                      <a:r>
                        <a:rPr b="0" sz="1400">
                          <a:solidFill>
                            <a:srgbClr val="2E3A46"/>
                          </a:solidFill>
                          <a:latin typeface="Helvetica Neue"/>
                        </a:rPr>
                        <a:t> de retorno</a:t>
                      </a:r>
                    </a:p>
                  </a:txBody>
                  <a:tcPr anchor="ctr" marL="109728" marR="109728">
                    <a:solidFill>
                      <a:srgbClr val="FFFFFF"/>
                    </a:solidFill>
                  </a:tcPr>
                </a:tc>
                <a:tc>
                  <a:txBody>
                    <a:bodyPr/>
                    <a:lstStyle/>
                    <a:p>
                      <a:r>
                        <a:rPr b="0" sz="1400">
                          <a:solidFill>
                            <a:srgbClr val="2E3A46"/>
                          </a:solidFill>
                          <a:latin typeface="Helvetica Neue"/>
                        </a:rPr>
                        <a:t>F.21</a:t>
                      </a:r>
                    </a:p>
                  </a:txBody>
                  <a:tcPr anchor="ctr" marL="109728" marR="109728">
                    <a:solidFill>
                      <a:srgbClr val="FFFFFF"/>
                    </a:solidFill>
                  </a:tcPr>
                </a:tc>
              </a:tr>
              <a:tr h="401193">
                <a:tc>
                  <a:txBody>
                    <a:bodyPr/>
                    <a:lstStyle/>
                    <a:p>
                      <a:r>
                        <a:rPr b="0" sz="1400">
                          <a:solidFill>
                            <a:srgbClr val="2E3A46"/>
                          </a:solidFill>
                          <a:latin typeface="Helvetica Neue"/>
                        </a:rPr>
                        <a:t>Puede no haber argumento</a:t>
                      </a:r>
                    </a:p>
                  </a:txBody>
                  <a:tcPr anchor="ctr" marL="109728" marR="109728">
                    <a:solidFill>
                      <a:srgbClr val="F2F4F3"/>
                    </a:solidFill>
                  </a:tcPr>
                </a:tc>
                <a:tc>
                  <a:txBody>
                    <a:bodyPr/>
                    <a:lstStyle/>
                    <a:p>
                      <a:r>
                        <a:rPr sz="1300">
                          <a:solidFill>
                            <a:srgbClr val="1E2B33"/>
                          </a:solidFill>
                          <a:latin typeface="Menlo"/>
                        </a:rPr>
                        <a:t>T*` o `std::optional</a:t>
                      </a:r>
                    </a:p>
                  </a:txBody>
                  <a:tcPr anchor="ctr" marL="109728" marR="109728">
                    <a:solidFill>
                      <a:srgbClr val="F2F4F3"/>
                    </a:solidFill>
                  </a:tcPr>
                </a:tc>
                <a:tc>
                  <a:txBody>
                    <a:bodyPr/>
                    <a:lstStyle/>
                    <a:p>
                      <a:r>
                        <a:rPr b="0" sz="1400">
                          <a:solidFill>
                            <a:srgbClr val="2E3A46"/>
                          </a:solidFill>
                          <a:latin typeface="Helvetica Neue"/>
                        </a:rPr>
                        <a:t>F.60</a:t>
                      </a:r>
                    </a:p>
                  </a:txBody>
                  <a:tcPr anchor="ctr" marL="109728" marR="109728">
                    <a:solidFill>
                      <a:srgbClr val="F2F4F3"/>
                    </a:solidFill>
                  </a:tcPr>
                </a:tc>
              </a:tr>
              <a:tr h="401193">
                <a:tc>
                  <a:txBody>
                    <a:bodyPr/>
                    <a:lstStyle/>
                    <a:p>
                      <a:r>
                        <a:rPr b="0" sz="1400">
                          <a:solidFill>
                            <a:srgbClr val="2E3A46"/>
                          </a:solidFill>
                          <a:latin typeface="Helvetica Neue"/>
                        </a:rPr>
                        <a:t>Secuencia contigua</a:t>
                      </a:r>
                    </a:p>
                  </a:txBody>
                  <a:tcPr anchor="ctr" marL="109728" marR="109728">
                    <a:solidFill>
                      <a:srgbClr val="FFFFFF"/>
                    </a:solidFill>
                  </a:tcPr>
                </a:tc>
                <a:tc>
                  <a:txBody>
                    <a:bodyPr/>
                    <a:lstStyle/>
                    <a:p>
                      <a:r>
                        <a:rPr sz="1300">
                          <a:solidFill>
                            <a:srgbClr val="1E2B33"/>
                          </a:solidFill>
                          <a:latin typeface="Menlo"/>
                        </a:rPr>
                        <a:t>std::span&lt;T&gt;</a:t>
                      </a:r>
                    </a:p>
                  </a:txBody>
                  <a:tcPr anchor="ctr" marL="109728" marR="109728">
                    <a:solidFill>
                      <a:srgbClr val="FFFFFF"/>
                    </a:solidFill>
                  </a:tcPr>
                </a:tc>
                <a:tc>
                  <a:txBody>
                    <a:bodyPr/>
                    <a:lstStyle/>
                    <a:p>
                      <a:r>
                        <a:rPr b="0" sz="1400">
                          <a:solidFill>
                            <a:srgbClr val="2E3A46"/>
                          </a:solidFill>
                          <a:latin typeface="Helvetica Neue"/>
                        </a:rPr>
                        <a:t>F.24, I.13</a:t>
                      </a:r>
                    </a:p>
                  </a:txBody>
                  <a:tcPr anchor="ctr" marL="109728" marR="109728">
                    <a:solidFill>
                      <a:srgbClr val="FFFFFF"/>
                    </a:solidFill>
                  </a:tcPr>
                </a:tc>
              </a:tr>
            </a:tbl>
          </a:graphicData>
        </a:graphic>
      </p:graphicFrame>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11 y 12 · punteros, referencias y const</a:t>
            </a:r>
          </a:p>
        </p:txBody>
      </p:sp>
      <p:sp>
        <p:nvSpPr>
          <p:cNvPr id="5" name="Rounded Rectangle 4"/>
          <p:cNvSpPr/>
          <p:nvPr/>
        </p:nvSpPr>
        <p:spPr>
          <a:xfrm>
            <a:off x="777240" y="1874519"/>
            <a:ext cx="10637215" cy="75895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6126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484632"/>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./build/bin/exp_11_punteros_vs_referencias</a:t>
            </a:r>
          </a:p>
          <a:p>
            <a:pPr>
              <a:lnSpc>
                <a:spcPct val="106000"/>
              </a:lnSpc>
              <a:spcBef>
                <a:spcPts val="0"/>
              </a:spcBef>
            </a:pPr>
            <a:r>
              <a:rPr sz="1500" b="0">
                <a:solidFill>
                  <a:srgbClr val="1E2B33"/>
                </a:solidFill>
                <a:latin typeface="Menlo"/>
              </a:rPr>
              <a:t>./build/bin/exp_12_const_y_punteros</a:t>
            </a:r>
          </a:p>
        </p:txBody>
      </p:sp>
      <p:sp>
        <p:nvSpPr>
          <p:cNvPr id="8" name="TextBox 7"/>
          <p:cNvSpPr txBox="1"/>
          <p:nvPr/>
        </p:nvSpPr>
        <p:spPr>
          <a:xfrm>
            <a:off x="777240" y="2999232"/>
            <a:ext cx="10637215" cy="3218688"/>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Argumento obligatorio frente a argumento opcional.</a:t>
            </a:r>
          </a:p>
          <a:p>
            <a:pPr>
              <a:spcBef>
                <a:spcPts val="1000"/>
              </a:spcBef>
            </a:pPr>
            <a:r>
              <a:rPr sz="1800">
                <a:solidFill>
                  <a:srgbClr val="0B6E6E"/>
                </a:solidFill>
                <a:latin typeface="Helvetica Neue"/>
              </a:rPr>
              <a:t>→  </a:t>
            </a:r>
            <a:r>
              <a:rPr b="0" sz="1800">
                <a:solidFill>
                  <a:srgbClr val="2E3A46"/>
                </a:solidFill>
                <a:latin typeface="Helvetica Neue"/>
              </a:rPr>
              <a:t>Aritmética de punteros para recorrer.</a:t>
            </a:r>
          </a:p>
          <a:p>
            <a:pPr>
              <a:spcBef>
                <a:spcPts val="1000"/>
              </a:spcBef>
            </a:pPr>
            <a:r>
              <a:rPr sz="1800">
                <a:solidFill>
                  <a:srgbClr val="0B6E6E"/>
                </a:solidFill>
                <a:latin typeface="Helvetica Neue"/>
              </a:rPr>
              <a:t>→  </a:t>
            </a:r>
            <a:r>
              <a:rPr b="0" sz="1800">
                <a:solidFill>
                  <a:srgbClr val="2E3A46"/>
                </a:solidFill>
                <a:latin typeface="Helvetica Neue"/>
              </a:rPr>
              <a:t>Las cuatro combinaciones de </a:t>
            </a:r>
            <a:r>
              <a:rPr sz="1700">
                <a:solidFill>
                  <a:srgbClr val="0B6E6E"/>
                </a:solidFill>
                <a:latin typeface="Menlo"/>
              </a:rPr>
              <a:t>const</a:t>
            </a:r>
            <a:r>
              <a:rPr b="0" sz="1800">
                <a:solidFill>
                  <a:srgbClr val="2E3A46"/>
                </a:solidFill>
                <a:latin typeface="Helvetica Neue"/>
              </a:rPr>
              <a:t>, con los errores comentados.</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371600"/>
            <a:ext cx="10637215" cy="731520"/>
          </a:xfrm>
          <a:prstGeom prst="rect">
            <a:avLst/>
          </a:prstGeom>
          <a:noFill/>
        </p:spPr>
        <p:txBody>
          <a:bodyPr wrap="square" lIns="0" rIns="0" tIns="0" bIns="0">
            <a:spAutoFit/>
          </a:bodyPr>
          <a:lstStyle/>
          <a:p>
            <a:r>
              <a:rPr b="1" sz="3600">
                <a:solidFill>
                  <a:srgbClr val="FFFFFF"/>
                </a:solidFill>
                <a:latin typeface="Helvetica Neue"/>
              </a:rPr>
              <a:t>Práctica 2 · Referencias, punteros y const</a:t>
            </a:r>
          </a:p>
        </p:txBody>
      </p:sp>
      <p:sp>
        <p:nvSpPr>
          <p:cNvPr id="3" name="TextBox 2"/>
          <p:cNvSpPr txBox="1"/>
          <p:nvPr/>
        </p:nvSpPr>
        <p:spPr>
          <a:xfrm>
            <a:off x="777240" y="2240280"/>
            <a:ext cx="10637215" cy="411480"/>
          </a:xfrm>
          <a:prstGeom prst="rect">
            <a:avLst/>
          </a:prstGeom>
          <a:noFill/>
        </p:spPr>
        <p:txBody>
          <a:bodyPr wrap="square" lIns="0" rIns="0" tIns="0" bIns="0">
            <a:spAutoFit/>
          </a:bodyPr>
          <a:lstStyle/>
          <a:p>
            <a:r>
              <a:rPr b="0" sz="1500">
                <a:solidFill>
                  <a:srgbClr val="9FC4C4"/>
                </a:solidFill>
                <a:latin typeface="Helvetica Neue"/>
              </a:rPr>
              <a:t>15 minutos · por parejas   ·   ejercicios/practica-2-referencias-y-const.md</a:t>
            </a:r>
          </a:p>
        </p:txBody>
      </p:sp>
      <p:sp>
        <p:nvSpPr>
          <p:cNvPr id="4" name="TextBox 3"/>
          <p:cNvSpPr txBox="1"/>
          <p:nvPr/>
        </p:nvSpPr>
        <p:spPr>
          <a:xfrm>
            <a:off x="777240" y="3017520"/>
            <a:ext cx="10637215" cy="3108960"/>
          </a:xfrm>
          <a:prstGeom prst="rect">
            <a:avLst/>
          </a:prstGeom>
          <a:noFill/>
        </p:spPr>
        <p:txBody>
          <a:bodyPr wrap="square" lIns="0" rIns="0" tIns="0" bIns="0">
            <a:spAutoFit/>
          </a:bodyPr>
          <a:lstStyle/>
          <a:p>
            <a:pPr>
              <a:spcBef>
                <a:spcPts val="1200"/>
              </a:spcBef>
            </a:pPr>
            <a:r>
              <a:rPr sz="1900" b="1">
                <a:solidFill>
                  <a:srgbClr val="0B6E6E"/>
                </a:solidFill>
                <a:latin typeface="Helvetica Neue"/>
              </a:rPr>
              <a:t>1.  </a:t>
            </a:r>
            <a:r>
              <a:rPr b="0" sz="1900">
                <a:solidFill>
                  <a:srgbClr val="E4EAEE"/>
                </a:solidFill>
                <a:latin typeface="Helvetica Neue"/>
              </a:rPr>
              <a:t>Escribir cuatro firmas de función a partir de su intención.</a:t>
            </a:r>
          </a:p>
          <a:p>
            <a:pPr>
              <a:spcBef>
                <a:spcPts val="1200"/>
              </a:spcBef>
            </a:pPr>
            <a:r>
              <a:rPr sz="1900" b="1">
                <a:solidFill>
                  <a:srgbClr val="0B6E6E"/>
                </a:solidFill>
                <a:latin typeface="Helvetica Neue"/>
              </a:rPr>
              <a:t>2.  </a:t>
            </a:r>
            <a:r>
              <a:rPr b="0" sz="1900">
                <a:solidFill>
                  <a:srgbClr val="E4EAEE"/>
                </a:solidFill>
                <a:latin typeface="Helvetica Neue"/>
              </a:rPr>
              <a:t>Detectar dos errores de vida y decir cuál atrapa el compilador.</a:t>
            </a:r>
          </a:p>
          <a:p>
            <a:pPr>
              <a:spcBef>
                <a:spcPts val="1200"/>
              </a:spcBef>
            </a:pPr>
            <a:r>
              <a:rPr sz="1900" b="1">
                <a:solidFill>
                  <a:srgbClr val="0B6E6E"/>
                </a:solidFill>
                <a:latin typeface="Helvetica Neue"/>
              </a:rPr>
              <a:t>3.  </a:t>
            </a:r>
            <a:r>
              <a:rPr b="0" sz="1900">
                <a:solidFill>
                  <a:srgbClr val="E4EAEE"/>
                </a:solidFill>
                <a:latin typeface="Helvetica Neue"/>
              </a:rPr>
              <a:t>Completar la tabla de lectura de const.</a:t>
            </a:r>
          </a:p>
          <a:p>
            <a:pPr>
              <a:spcBef>
                <a:spcPts val="1200"/>
              </a:spcBef>
            </a:pPr>
            <a:r>
              <a:rPr sz="1900" b="1">
                <a:solidFill>
                  <a:srgbClr val="0B6E6E"/>
                </a:solidFill>
                <a:latin typeface="Helvetica Neue"/>
              </a:rPr>
              <a:t>4.  </a:t>
            </a:r>
            <a:r>
              <a:rPr b="0" sz="1900">
                <a:solidFill>
                  <a:srgbClr val="E4EAEE"/>
                </a:solidFill>
                <a:latin typeface="Helvetica Neue"/>
              </a:rPr>
              <a:t>Reto: la misma función con punteros y con referencias.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7</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Arreglos unidimensionales</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25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Bloque contiguo, tamaño fijo</a:t>
            </a:r>
          </a:p>
          <a:p>
            <a:pPr>
              <a:spcBef>
                <a:spcPts val="500"/>
              </a:spcBef>
            </a:pPr>
            <a:r>
              <a:rPr b="0" sz="1500">
                <a:solidFill>
                  <a:srgbClr val="C5D0D8"/>
                </a:solidFill>
                <a:latin typeface="Helvetica Neue"/>
              </a:rPr>
              <a:t>·  Índices y direcciones</a:t>
            </a:r>
          </a:p>
          <a:p>
            <a:pPr>
              <a:spcBef>
                <a:spcPts val="500"/>
              </a:spcBef>
            </a:pPr>
            <a:r>
              <a:rPr b="0" sz="1500">
                <a:solidFill>
                  <a:srgbClr val="C5D0D8"/>
                </a:solidFill>
                <a:latin typeface="Helvetica Neue"/>
              </a:rPr>
              <a:t>·  Sin comprobación de límites</a:t>
            </a:r>
          </a:p>
          <a:p>
            <a:pPr>
              <a:spcBef>
                <a:spcPts val="500"/>
              </a:spcBef>
            </a:pPr>
            <a:r>
              <a:rPr b="0" sz="1500">
                <a:solidFill>
                  <a:srgbClr val="C5D0D8"/>
                </a:solidFill>
                <a:latin typeface="Helvetica Neue"/>
              </a:rPr>
              <a:t>·  Algoritmos típicos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400">
                <a:solidFill>
                  <a:srgbClr val="FFFFFF"/>
                </a:solidFill>
                <a:latin typeface="Helvetica Neue"/>
              </a:rPr>
              <a:t>Un arreglo es un </a:t>
            </a:r>
            <a:r>
              <a:rPr b="1" sz="3400">
                <a:solidFill>
                  <a:srgbClr val="FFFFFF"/>
                </a:solidFill>
                <a:latin typeface="Helvetica Neue"/>
              </a:rPr>
              <a:t>bloque contiguo de N objetos del mismo tipo</a:t>
            </a:r>
            <a:r>
              <a:rPr b="0" sz="3400">
                <a:solidFill>
                  <a:srgbClr val="FFFFFF"/>
                </a:solidFill>
                <a:latin typeface="Helvetica Neue"/>
              </a:rPr>
              <a:t>, con N fijo y conocido en tiempo de compilación.</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Todo lo demás se deduce de esas dos propiedades: contigüidad y tamaño fijo.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tamaño debe ser constante</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62432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47802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2350008"/>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int v[5];              </a:t>
            </a:r>
            <a:r>
              <a:rPr sz="1400" b="0">
                <a:solidFill>
                  <a:srgbClr val="6B7A74"/>
                </a:solidFill>
                <a:latin typeface="Menlo"/>
              </a:rPr>
              <a:t>// bien: 5 es una expresión constante</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const int N = 10;</a:t>
            </a:r>
          </a:p>
          <a:p>
            <a:pPr>
              <a:lnSpc>
                <a:spcPct val="106000"/>
              </a:lnSpc>
              <a:spcBef>
                <a:spcPts val="0"/>
              </a:spcBef>
            </a:pPr>
            <a:r>
              <a:rPr sz="1400" b="0">
                <a:solidFill>
                  <a:srgbClr val="1E2B33"/>
                </a:solidFill>
                <a:latin typeface="Menlo"/>
              </a:rPr>
              <a:t>int w[N];              </a:t>
            </a:r>
            <a:r>
              <a:rPr sz="1400" b="0">
                <a:solidFill>
                  <a:srgbClr val="6B7A74"/>
                </a:solidFill>
                <a:latin typeface="Menlo"/>
              </a:rPr>
              <a:t>// bien: N es constante</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int n;</a:t>
            </a:r>
          </a:p>
          <a:p>
            <a:pPr>
              <a:lnSpc>
                <a:spcPct val="106000"/>
              </a:lnSpc>
              <a:spcBef>
                <a:spcPts val="0"/>
              </a:spcBef>
            </a:pPr>
            <a:r>
              <a:rPr sz="1400" b="0">
                <a:solidFill>
                  <a:srgbClr val="1E2B33"/>
                </a:solidFill>
                <a:latin typeface="Menlo"/>
              </a:rPr>
              <a:t>std::cin &gt;&gt; n;</a:t>
            </a:r>
          </a:p>
          <a:p>
            <a:pPr>
              <a:lnSpc>
                <a:spcPct val="106000"/>
              </a:lnSpc>
              <a:spcBef>
                <a:spcPts val="0"/>
              </a:spcBef>
            </a:pPr>
            <a:r>
              <a:rPr sz="1400" b="0">
                <a:solidFill>
                  <a:srgbClr val="1E2B33"/>
                </a:solidFill>
                <a:latin typeface="Menlo"/>
              </a:rPr>
              <a:t>int malo[n];           </a:t>
            </a:r>
            <a:r>
              <a:rPr sz="1400" b="0">
                <a:solidFill>
                  <a:srgbClr val="6B7A74"/>
                </a:solidFill>
                <a:latin typeface="Menlo"/>
              </a:rPr>
              <a:t>// NO es C++ estándar (esto es un VLA de C99)</a:t>
            </a:r>
          </a:p>
          <a:p>
            <a:pPr>
              <a:lnSpc>
                <a:spcPct val="106000"/>
              </a:lnSpc>
              <a:spcBef>
                <a:spcPts val="0"/>
              </a:spcBef>
            </a:pPr>
            <a:r>
              <a:rPr sz="1400" b="1">
                <a:solidFill>
                  <a:srgbClr val="A8431B"/>
                </a:solidFill>
                <a:latin typeface="Menlo"/>
              </a:rPr>
              <a:t> </a:t>
            </a:r>
          </a:p>
          <a:p>
            <a:pPr>
              <a:lnSpc>
                <a:spcPct val="106000"/>
              </a:lnSpc>
              <a:spcBef>
                <a:spcPts val="0"/>
              </a:spcBef>
            </a:pPr>
            <a:r>
              <a:rPr sz="1400" b="0">
                <a:solidFill>
                  <a:srgbClr val="1E2B33"/>
                </a:solidFill>
                <a:latin typeface="Menlo"/>
              </a:rPr>
              <a:t>std::vector&lt;int&gt; bien(n);   </a:t>
            </a:r>
            <a:r>
              <a:rPr sz="1400" b="0">
                <a:solidFill>
                  <a:srgbClr val="6B7A74"/>
                </a:solidFill>
                <a:latin typeface="Menlo"/>
              </a:rPr>
              <a:t>// ESTA es la respuesta correcta</a:t>
            </a:r>
          </a:p>
        </p:txBody>
      </p:sp>
      <p:sp>
        <p:nvSpPr>
          <p:cNvPr id="7" name="TextBox 6"/>
          <p:cNvSpPr txBox="1"/>
          <p:nvPr/>
        </p:nvSpPr>
        <p:spPr>
          <a:xfrm>
            <a:off x="777240" y="4654296"/>
            <a:ext cx="10637215" cy="548640"/>
          </a:xfrm>
          <a:prstGeom prst="rect">
            <a:avLst/>
          </a:prstGeom>
          <a:noFill/>
        </p:spPr>
        <p:txBody>
          <a:bodyPr wrap="square" lIns="0" rIns="0" tIns="0" bIns="0">
            <a:spAutoFit/>
          </a:bodyPr>
          <a:lstStyle/>
          <a:p>
            <a:r>
              <a:rPr b="0" sz="1600">
                <a:solidFill>
                  <a:srgbClr val="0B6E6E"/>
                </a:solidFill>
                <a:latin typeface="Helvetica Neue"/>
              </a:rPr>
              <a:t>[dcl.array]/1 — el tamaño debe ser una expresión constante convertida de tipo std::size_t, mayor que cero.</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Formas de inicializar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5" cy="2441448"/>
        </p:xfrm>
        <a:graphic>
          <a:graphicData uri="http://schemas.openxmlformats.org/drawingml/2006/table">
            <a:tbl>
              <a:tblPr firstRow="1" bandRow="1">
                <a:tableStyleId>{5C22544A-7EE6-4342-B048-85BDC9FD1C3A}</a:tableStyleId>
              </a:tblPr>
              <a:tblGrid>
                <a:gridCol w="4432173"/>
                <a:gridCol w="6205042"/>
              </a:tblGrid>
              <a:tr h="406908">
                <a:tc>
                  <a:txBody>
                    <a:bodyPr/>
                    <a:lstStyle/>
                    <a:p>
                      <a:r>
                        <a:rPr b="1" sz="1400">
                          <a:solidFill>
                            <a:srgbClr val="FFFFFF"/>
                          </a:solidFill>
                          <a:latin typeface="Helvetica Neue"/>
                        </a:rPr>
                        <a:t>Declaración</a:t>
                      </a:r>
                    </a:p>
                  </a:txBody>
                  <a:tcPr anchor="ctr" marL="109728" marR="109728">
                    <a:solidFill>
                      <a:srgbClr val="142638"/>
                    </a:solidFill>
                  </a:tcPr>
                </a:tc>
                <a:tc>
                  <a:txBody>
                    <a:bodyPr/>
                    <a:lstStyle/>
                    <a:p>
                      <a:r>
                        <a:rPr b="1" sz="1400">
                          <a:solidFill>
                            <a:srgbClr val="FFFFFF"/>
                          </a:solidFill>
                          <a:latin typeface="Helvetica Neue"/>
                        </a:rPr>
                        <a:t>Resultado</a:t>
                      </a:r>
                    </a:p>
                  </a:txBody>
                  <a:tcPr anchor="ctr" marL="109728" marR="109728">
                    <a:solidFill>
                      <a:srgbClr val="142638"/>
                    </a:solidFill>
                  </a:tcPr>
                </a:tc>
              </a:tr>
              <a:tr h="406908">
                <a:tc>
                  <a:txBody>
                    <a:bodyPr/>
                    <a:lstStyle/>
                    <a:p>
                      <a:r>
                        <a:rPr sz="1300">
                          <a:solidFill>
                            <a:srgbClr val="1E2B33"/>
                          </a:solidFill>
                          <a:latin typeface="Menlo"/>
                        </a:rPr>
                        <a:t>int a[5] = {10,20,30,40,50};</a:t>
                      </a:r>
                    </a:p>
                  </a:txBody>
                  <a:tcPr anchor="ctr" marL="109728" marR="109728">
                    <a:solidFill>
                      <a:srgbClr val="FFFFFF"/>
                    </a:solidFill>
                  </a:tcPr>
                </a:tc>
                <a:tc>
                  <a:txBody>
                    <a:bodyPr/>
                    <a:lstStyle/>
                    <a:p>
                      <a:r>
                        <a:rPr b="0" sz="1400">
                          <a:solidFill>
                            <a:srgbClr val="2E3A46"/>
                          </a:solidFill>
                          <a:latin typeface="Helvetica Neue"/>
                        </a:rPr>
                        <a:t>los cinco valores dados</a:t>
                      </a:r>
                    </a:p>
                  </a:txBody>
                  <a:tcPr anchor="ctr" marL="109728" marR="109728">
                    <a:solidFill>
                      <a:srgbClr val="FFFFFF"/>
                    </a:solidFill>
                  </a:tcPr>
                </a:tc>
              </a:tr>
              <a:tr h="406908">
                <a:tc>
                  <a:txBody>
                    <a:bodyPr/>
                    <a:lstStyle/>
                    <a:p>
                      <a:r>
                        <a:rPr sz="1300">
                          <a:solidFill>
                            <a:srgbClr val="1E2B33"/>
                          </a:solidFill>
                          <a:latin typeface="Menlo"/>
                        </a:rPr>
                        <a:t>int b[5] = {1,2};</a:t>
                      </a:r>
                    </a:p>
                  </a:txBody>
                  <a:tcPr anchor="ctr" marL="109728" marR="109728">
                    <a:solidFill>
                      <a:srgbClr val="F2F4F3"/>
                    </a:solidFill>
                  </a:tcPr>
                </a:tc>
                <a:tc>
                  <a:txBody>
                    <a:bodyPr/>
                    <a:lstStyle/>
                    <a:p>
                      <a:r>
                        <a:rPr sz="1300">
                          <a:solidFill>
                            <a:srgbClr val="0B6E6E"/>
                          </a:solidFill>
                          <a:latin typeface="Menlo"/>
                        </a:rPr>
                        <a:t>1 2 0 0 0</a:t>
                      </a:r>
                      <a:r>
                        <a:rPr b="0" sz="1400">
                          <a:solidFill>
                            <a:srgbClr val="2E3A46"/>
                          </a:solidFill>
                          <a:latin typeface="Helvetica Neue"/>
                        </a:rPr>
                        <a:t> — lo que falta se pone a cero</a:t>
                      </a:r>
                    </a:p>
                  </a:txBody>
                  <a:tcPr anchor="ctr" marL="109728" marR="109728">
                    <a:solidFill>
                      <a:srgbClr val="F2F4F3"/>
                    </a:solidFill>
                  </a:tcPr>
                </a:tc>
              </a:tr>
              <a:tr h="406908">
                <a:tc>
                  <a:txBody>
                    <a:bodyPr/>
                    <a:lstStyle/>
                    <a:p>
                      <a:r>
                        <a:rPr sz="1300">
                          <a:solidFill>
                            <a:srgbClr val="1E2B33"/>
                          </a:solidFill>
                          <a:latin typeface="Menlo"/>
                        </a:rPr>
                        <a:t>int c[5] = {};</a:t>
                      </a:r>
                    </a:p>
                  </a:txBody>
                  <a:tcPr anchor="ctr" marL="109728" marR="109728">
                    <a:solidFill>
                      <a:srgbClr val="FFFFFF"/>
                    </a:solidFill>
                  </a:tcPr>
                </a:tc>
                <a:tc>
                  <a:txBody>
                    <a:bodyPr/>
                    <a:lstStyle/>
                    <a:p>
                      <a:r>
                        <a:rPr b="0" sz="1400">
                          <a:solidFill>
                            <a:srgbClr val="2E3A46"/>
                          </a:solidFill>
                          <a:latin typeface="Helvetica Neue"/>
                        </a:rPr>
                        <a:t>los cinco a cero</a:t>
                      </a:r>
                    </a:p>
                  </a:txBody>
                  <a:tcPr anchor="ctr" marL="109728" marR="109728">
                    <a:solidFill>
                      <a:srgbClr val="FFFFFF"/>
                    </a:solidFill>
                  </a:tcPr>
                </a:tc>
              </a:tr>
              <a:tr h="406908">
                <a:tc>
                  <a:txBody>
                    <a:bodyPr/>
                    <a:lstStyle/>
                    <a:p>
                      <a:r>
                        <a:rPr sz="1300">
                          <a:solidFill>
                            <a:srgbClr val="1E2B33"/>
                          </a:solidFill>
                          <a:latin typeface="Menlo"/>
                        </a:rPr>
                        <a:t>int d[] = {7,8,9};</a:t>
                      </a:r>
                    </a:p>
                  </a:txBody>
                  <a:tcPr anchor="ctr" marL="109728" marR="109728">
                    <a:solidFill>
                      <a:srgbClr val="F2F4F3"/>
                    </a:solidFill>
                  </a:tcPr>
                </a:tc>
                <a:tc>
                  <a:txBody>
                    <a:bodyPr/>
                    <a:lstStyle/>
                    <a:p>
                      <a:r>
                        <a:rPr b="0" sz="1400">
                          <a:solidFill>
                            <a:srgbClr val="2E3A46"/>
                          </a:solidFill>
                          <a:latin typeface="Helvetica Neue"/>
                        </a:rPr>
                        <a:t>tamaño deducido: 3</a:t>
                      </a:r>
                    </a:p>
                  </a:txBody>
                  <a:tcPr anchor="ctr" marL="109728" marR="109728">
                    <a:solidFill>
                      <a:srgbClr val="F2F4F3"/>
                    </a:solidFill>
                  </a:tcPr>
                </a:tc>
              </a:tr>
              <a:tr h="406908">
                <a:tc>
                  <a:txBody>
                    <a:bodyPr/>
                    <a:lstStyle/>
                    <a:p>
                      <a:r>
                        <a:rPr sz="1300">
                          <a:solidFill>
                            <a:srgbClr val="1E2B33"/>
                          </a:solidFill>
                          <a:latin typeface="Menlo"/>
                        </a:rPr>
                        <a:t>int e[3];</a:t>
                      </a:r>
                    </a:p>
                  </a:txBody>
                  <a:tcPr anchor="ctr" marL="109728" marR="109728">
                    <a:solidFill>
                      <a:srgbClr val="FFFFFF"/>
                    </a:solidFill>
                  </a:tcPr>
                </a:tc>
                <a:tc>
                  <a:txBody>
                    <a:bodyPr/>
                    <a:lstStyle/>
                    <a:p>
                      <a:r>
                        <a:rPr b="0" sz="1400">
                          <a:solidFill>
                            <a:srgbClr val="2E3A46"/>
                          </a:solidFill>
                          <a:latin typeface="Helvetica Neue"/>
                        </a:rPr>
                        <a:t>valores </a:t>
                      </a:r>
                      <a:r>
                        <a:rPr b="1" sz="1400">
                          <a:solidFill>
                            <a:srgbClr val="142638"/>
                          </a:solidFill>
                          <a:latin typeface="Helvetica Neue"/>
                        </a:rPr>
                        <a:t>indeterminados</a:t>
                      </a:r>
                      <a:r>
                        <a:rPr b="0" sz="1400">
                          <a:solidFill>
                            <a:srgbClr val="2E3A46"/>
                          </a:solidFill>
                          <a:latin typeface="Helvetica Neue"/>
                        </a:rPr>
                        <a:t>: leerlos es comportamiento indefinido</a:t>
                      </a:r>
                    </a:p>
                  </a:txBody>
                  <a:tcPr anchor="ctr" marL="109728" marR="109728">
                    <a:solidFill>
                      <a:srgbClr val="FFFFFF"/>
                    </a:solidFill>
                  </a:tcPr>
                </a:tc>
              </a:tr>
            </a:tbl>
          </a:graphicData>
        </a:graphic>
      </p:graphicFrame>
      <p:sp>
        <p:nvSpPr>
          <p:cNvPr id="5" name="TextBox 4"/>
          <p:cNvSpPr txBox="1"/>
          <p:nvPr/>
        </p:nvSpPr>
        <p:spPr>
          <a:xfrm>
            <a:off x="777240" y="4498848"/>
            <a:ext cx="10637215" cy="548640"/>
          </a:xfrm>
          <a:prstGeom prst="rect">
            <a:avLst/>
          </a:prstGeom>
          <a:noFill/>
        </p:spPr>
        <p:txBody>
          <a:bodyPr wrap="square" lIns="0" rIns="0" tIns="0" bIns="0">
            <a:spAutoFit/>
          </a:bodyPr>
          <a:lstStyle/>
          <a:p>
            <a:r>
              <a:rPr b="0" sz="1500">
                <a:solidFill>
                  <a:srgbClr val="0B6E6E"/>
                </a:solidFill>
                <a:latin typeface="Helvetica Neue"/>
              </a:rPr>
              <a:t>Desde C++11 se puede omitir el =:  int a[5]{10,20,30,40,50};</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Índices y direcciones</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Por qué los índices empiezan en cero</a:t>
            </a:r>
          </a:p>
        </p:txBody>
      </p:sp>
      <p:sp>
        <p:nvSpPr>
          <p:cNvPr id="5" name="Rounded Rectangle 4"/>
          <p:cNvSpPr/>
          <p:nvPr/>
        </p:nvSpPr>
        <p:spPr>
          <a:xfrm>
            <a:off x="777240" y="1828800"/>
            <a:ext cx="10637215" cy="120015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105384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925830"/>
          </a:xfrm>
          <a:prstGeom prst="rect">
            <a:avLst/>
          </a:prstGeom>
          <a:noFill/>
        </p:spPr>
        <p:txBody>
          <a:bodyPr wrap="square" lIns="0" rIns="0" tIns="0" bIns="0">
            <a:spAutoFit/>
          </a:bodyPr>
          <a:lstStyle/>
          <a:p>
            <a:pPr>
              <a:lnSpc>
                <a:spcPct val="106000"/>
              </a:lnSpc>
              <a:spcBef>
                <a:spcPts val="0"/>
              </a:spcBef>
            </a:pPr>
            <a:r>
              <a:rPr sz="1700" b="0">
                <a:solidFill>
                  <a:srgbClr val="1E2B33"/>
                </a:solidFill>
                <a:latin typeface="Menlo"/>
              </a:rPr>
              <a:t>v[i]  ==  *(v + i)            </a:t>
            </a:r>
            <a:r>
              <a:rPr sz="1700" b="0">
                <a:solidFill>
                  <a:srgbClr val="6B7A74"/>
                </a:solidFill>
                <a:latin typeface="Menlo"/>
              </a:rPr>
              <a:t>// por definición del operador []</a:t>
            </a:r>
          </a:p>
          <a:p>
            <a:pPr>
              <a:lnSpc>
                <a:spcPct val="106000"/>
              </a:lnSpc>
              <a:spcBef>
                <a:spcPts val="0"/>
              </a:spcBef>
            </a:pPr>
            <a:r>
              <a:rPr sz="1700" b="0">
                <a:solidFill>
                  <a:srgbClr val="1E2B33"/>
                </a:solidFill>
                <a:latin typeface="Menlo"/>
              </a:rPr>
              <a:t> </a:t>
            </a:r>
          </a:p>
          <a:p>
            <a:pPr>
              <a:lnSpc>
                <a:spcPct val="106000"/>
              </a:lnSpc>
              <a:spcBef>
                <a:spcPts val="0"/>
              </a:spcBef>
            </a:pPr>
            <a:r>
              <a:rPr sz="1700" b="0">
                <a:solidFill>
                  <a:srgbClr val="1E2B33"/>
                </a:solidFill>
                <a:latin typeface="Menlo"/>
              </a:rPr>
              <a:t>&amp;v[i] ==  dirección_base + i * sizeof(T)</a:t>
            </a:r>
          </a:p>
        </p:txBody>
      </p:sp>
      <p:sp>
        <p:nvSpPr>
          <p:cNvPr id="8" name="TextBox 7"/>
          <p:cNvSpPr txBox="1"/>
          <p:nvPr/>
        </p:nvSpPr>
        <p:spPr>
          <a:xfrm>
            <a:off x="777240" y="3230118"/>
            <a:ext cx="10637215" cy="548640"/>
          </a:xfrm>
          <a:prstGeom prst="rect">
            <a:avLst/>
          </a:prstGeom>
          <a:noFill/>
        </p:spPr>
        <p:txBody>
          <a:bodyPr wrap="square" lIns="0" rIns="0" tIns="0" bIns="0">
            <a:spAutoFit/>
          </a:bodyPr>
          <a:lstStyle/>
          <a:p>
            <a:r>
              <a:rPr b="0" sz="1600">
                <a:solidFill>
                  <a:srgbClr val="0B6E6E"/>
                </a:solidFill>
                <a:latin typeface="Helvetica Neue"/>
              </a:rPr>
              <a:t>El índice es un DESPLAZAMIENTO desde el inicio, no una posición ordinal. El primer elemento está a desplazamiento cero.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Tamaño y recorrido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17627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02996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1901952"/>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sizeof(a)                  </a:t>
            </a:r>
            <a:r>
              <a:rPr sz="1400" b="0">
                <a:solidFill>
                  <a:srgbClr val="6B7A74"/>
                </a:solidFill>
                <a:latin typeface="Menlo"/>
              </a:rPr>
              <a:t>// bytes que ocupa TODO el arreglo</a:t>
            </a:r>
          </a:p>
          <a:p>
            <a:pPr>
              <a:lnSpc>
                <a:spcPct val="106000"/>
              </a:lnSpc>
              <a:spcBef>
                <a:spcPts val="0"/>
              </a:spcBef>
            </a:pPr>
            <a:r>
              <a:rPr sz="1400" b="0">
                <a:solidFill>
                  <a:srgbClr val="1E2B33"/>
                </a:solidFill>
                <a:latin typeface="Menlo"/>
              </a:rPr>
              <a:t>sizeof(a) / sizeof(a[0])   </a:t>
            </a:r>
            <a:r>
              <a:rPr sz="1400" b="0">
                <a:solidFill>
                  <a:srgbClr val="6B7A74"/>
                </a:solidFill>
                <a:latin typeface="Menlo"/>
              </a:rPr>
              <a:t>// número de elementos, forma clásica</a:t>
            </a:r>
          </a:p>
          <a:p>
            <a:pPr>
              <a:lnSpc>
                <a:spcPct val="106000"/>
              </a:lnSpc>
              <a:spcBef>
                <a:spcPts val="0"/>
              </a:spcBef>
            </a:pPr>
            <a:r>
              <a:rPr sz="1400" b="1">
                <a:solidFill>
                  <a:srgbClr val="A8431B"/>
                </a:solidFill>
                <a:latin typeface="Menlo"/>
              </a:rPr>
              <a:t>std::size(a)               </a:t>
            </a:r>
            <a:r>
              <a:rPr sz="1400" b="1">
                <a:solidFill>
                  <a:srgbClr val="A8431B"/>
                </a:solidFill>
                <a:latin typeface="Menlo"/>
              </a:rPr>
              <a:t>// número de elementos, C++17, &lt;iterator&gt;</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for (std::size_t i = 0; i &lt; std::size(a); ++i)  { ... a[i] ... }</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for (int valor : a)        { ... }        </a:t>
            </a:r>
            <a:r>
              <a:rPr sz="1400" b="0">
                <a:solidFill>
                  <a:srgbClr val="6B7A74"/>
                </a:solidFill>
                <a:latin typeface="Menlo"/>
              </a:rPr>
              <a:t>// C++11, sin índices</a:t>
            </a:r>
          </a:p>
          <a:p>
            <a:pPr>
              <a:lnSpc>
                <a:spcPct val="106000"/>
              </a:lnSpc>
              <a:spcBef>
                <a:spcPts val="0"/>
              </a:spcBef>
            </a:pPr>
            <a:r>
              <a:rPr sz="1400" b="0">
                <a:solidFill>
                  <a:srgbClr val="1E2B33"/>
                </a:solidFill>
                <a:latin typeface="Menlo"/>
              </a:rPr>
              <a:t>for (int&amp; valor : a)       { valor *= 2; } </a:t>
            </a:r>
            <a:r>
              <a:rPr sz="1400" b="0">
                <a:solidFill>
                  <a:srgbClr val="6B7A74"/>
                </a:solidFill>
                <a:latin typeface="Menlo"/>
              </a:rPr>
              <a:t>// con &amp; para modificar</a:t>
            </a:r>
          </a:p>
        </p:txBody>
      </p:sp>
      <p:sp>
        <p:nvSpPr>
          <p:cNvPr id="7" name="TextBox 6"/>
          <p:cNvSpPr txBox="1"/>
          <p:nvPr/>
        </p:nvSpPr>
        <p:spPr>
          <a:xfrm>
            <a:off x="777240" y="4206240"/>
            <a:ext cx="10637215" cy="548640"/>
          </a:xfrm>
          <a:prstGeom prst="rect">
            <a:avLst/>
          </a:prstGeom>
          <a:noFill/>
        </p:spPr>
        <p:txBody>
          <a:bodyPr wrap="square" lIns="0" rIns="0" tIns="0" bIns="0">
            <a:spAutoFit/>
          </a:bodyPr>
          <a:lstStyle/>
          <a:p>
            <a:r>
              <a:rPr b="0" sz="1600">
                <a:solidFill>
                  <a:srgbClr val="0B6E6E"/>
                </a:solidFill>
                <a:latin typeface="Helvetica Neue"/>
              </a:rPr>
              <a:t>std::size es preferible: falla al compilar si se aplica a un puntero, que es justo el error que la forma clásica no detecta.</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13_arreglo_basico.cpp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./build/bin/exp_13_arreglo_basico</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Las cinco formas de inicializar, con su resultado real.</a:t>
            </a:r>
          </a:p>
          <a:p>
            <a:pPr>
              <a:spcBef>
                <a:spcPts val="1000"/>
              </a:spcBef>
            </a:pPr>
            <a:r>
              <a:rPr sz="1800">
                <a:solidFill>
                  <a:srgbClr val="0B6E6E"/>
                </a:solidFill>
                <a:latin typeface="Helvetica Neue"/>
              </a:rPr>
              <a:t>→  </a:t>
            </a:r>
            <a:r>
              <a:rPr b="0" sz="1800">
                <a:solidFill>
                  <a:srgbClr val="2E3A46"/>
                </a:solidFill>
                <a:latin typeface="Helvetica Neue"/>
              </a:rPr>
              <a:t>Las direcciones de los elementos, separadas exactamente por </a:t>
            </a:r>
            <a:r>
              <a:rPr sz="1700">
                <a:solidFill>
                  <a:srgbClr val="0B6E6E"/>
                </a:solidFill>
                <a:latin typeface="Menlo"/>
              </a:rPr>
              <a:t>sizeof(T)</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Recorrido clásico, por rango y por rango con referencia.</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000">
                <a:solidFill>
                  <a:srgbClr val="FFFFFF"/>
                </a:solidFill>
                <a:latin typeface="Helvetica Neue"/>
              </a:rPr>
              <a:t>Un arreglo </a:t>
            </a:r>
            <a:r>
              <a:rPr b="1" sz="3000">
                <a:solidFill>
                  <a:srgbClr val="FFFFFF"/>
                </a:solidFill>
                <a:latin typeface="Helvetica Neue"/>
              </a:rPr>
              <a:t>no comprueba sus límites</a:t>
            </a:r>
            <a:r>
              <a:rPr b="0" sz="3000">
                <a:solidFill>
                  <a:srgbClr val="FFFFFF"/>
                </a:solidFill>
                <a:latin typeface="Helvetica Neue"/>
              </a:rPr>
              <a:t>. </a:t>
            </a:r>
            <a:r>
              <a:rPr sz="2900">
                <a:solidFill>
                  <a:srgbClr val="0B6E6E"/>
                </a:solidFill>
                <a:latin typeface="Menlo"/>
              </a:rPr>
              <a:t>v[10]</a:t>
            </a:r>
            <a:r>
              <a:rPr b="0" sz="3000">
                <a:solidFill>
                  <a:srgbClr val="FFFFFF"/>
                </a:solidFill>
                <a:latin typeface="Helvetica Neue"/>
              </a:rPr>
              <a:t> en un arreglo de cinco elementos compila y se ejecuta.</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Lee o escribe memoria que no le pertenece. El estándar lo llama comportamiento indefinido.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Qué sí avisa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4" cy="2057400"/>
        </p:xfrm>
        <a:graphic>
          <a:graphicData uri="http://schemas.openxmlformats.org/drawingml/2006/table">
            <a:tbl>
              <a:tblPr firstRow="1" bandRow="1">
                <a:tableStyleId>{5C22544A-7EE6-4342-B048-85BDC9FD1C3A}</a:tableStyleId>
              </a:tblPr>
              <a:tblGrid>
                <a:gridCol w="3545738"/>
                <a:gridCol w="3545738"/>
                <a:gridCol w="3545738"/>
              </a:tblGrid>
              <a:tr h="411480">
                <a:tc>
                  <a:txBody>
                    <a:bodyPr/>
                    <a:lstStyle/>
                    <a:p>
                      <a:r>
                        <a:rPr b="1" sz="1300">
                          <a:solidFill>
                            <a:srgbClr val="FFFFFF"/>
                          </a:solidFill>
                          <a:latin typeface="Helvetica Neue"/>
                        </a:rPr>
                        <a:t>Herramienta</a:t>
                      </a:r>
                    </a:p>
                  </a:txBody>
                  <a:tcPr anchor="ctr" marL="109728" marR="109728">
                    <a:solidFill>
                      <a:srgbClr val="142638"/>
                    </a:solidFill>
                  </a:tcPr>
                </a:tc>
                <a:tc>
                  <a:txBody>
                    <a:bodyPr/>
                    <a:lstStyle/>
                    <a:p>
                      <a:r>
                        <a:rPr b="1" sz="1300">
                          <a:solidFill>
                            <a:srgbClr val="FFFFFF"/>
                          </a:solidFill>
                          <a:latin typeface="Helvetica Neue"/>
                        </a:rPr>
                        <a:t>Qué detecta</a:t>
                      </a:r>
                    </a:p>
                  </a:txBody>
                  <a:tcPr anchor="ctr" marL="109728" marR="109728">
                    <a:solidFill>
                      <a:srgbClr val="142638"/>
                    </a:solidFill>
                  </a:tcPr>
                </a:tc>
                <a:tc>
                  <a:txBody>
                    <a:bodyPr/>
                    <a:lstStyle/>
                    <a:p>
                      <a:r>
                        <a:rPr b="1" sz="1300">
                          <a:solidFill>
                            <a:srgbClr val="FFFFFF"/>
                          </a:solidFill>
                          <a:latin typeface="Helvetica Neue"/>
                        </a:rPr>
                        <a:t>Cuándo</a:t>
                      </a:r>
                    </a:p>
                  </a:txBody>
                  <a:tcPr anchor="ctr" marL="109728" marR="109728">
                    <a:solidFill>
                      <a:srgbClr val="142638"/>
                    </a:solidFill>
                  </a:tcPr>
                </a:tc>
              </a:tr>
              <a:tr h="411480">
                <a:tc>
                  <a:txBody>
                    <a:bodyPr/>
                    <a:lstStyle/>
                    <a:p>
                      <a:r>
                        <a:rPr sz="1200">
                          <a:solidFill>
                            <a:srgbClr val="1E2B33"/>
                          </a:solidFill>
                          <a:latin typeface="Menlo"/>
                        </a:rPr>
                        <a:t>-Warray-bounds</a:t>
                      </a:r>
                    </a:p>
                  </a:txBody>
                  <a:tcPr anchor="ctr" marL="109728" marR="109728">
                    <a:solidFill>
                      <a:srgbClr val="FFFFFF"/>
                    </a:solidFill>
                  </a:tcPr>
                </a:tc>
                <a:tc>
                  <a:txBody>
                    <a:bodyPr/>
                    <a:lstStyle/>
                    <a:p>
                      <a:r>
                        <a:rPr b="0" sz="1300">
                          <a:solidFill>
                            <a:srgbClr val="2E3A46"/>
                          </a:solidFill>
                          <a:latin typeface="Helvetica Neue"/>
                        </a:rPr>
                        <a:t>índice </a:t>
                      </a:r>
                      <a:r>
                        <a:rPr b="1" sz="1300">
                          <a:solidFill>
                            <a:srgbClr val="142638"/>
                          </a:solidFill>
                          <a:latin typeface="Helvetica Neue"/>
                        </a:rPr>
                        <a:t>constante</a:t>
                      </a:r>
                      <a:r>
                        <a:rPr b="0" sz="1300">
                          <a:solidFill>
                            <a:srgbClr val="2E3A46"/>
                          </a:solidFill>
                          <a:latin typeface="Helvetica Neue"/>
                        </a:rPr>
                        <a:t> fuera de rango</a:t>
                      </a:r>
                    </a:p>
                  </a:txBody>
                  <a:tcPr anchor="ctr" marL="109728" marR="109728">
                    <a:solidFill>
                      <a:srgbClr val="FFFFFF"/>
                    </a:solidFill>
                  </a:tcPr>
                </a:tc>
                <a:tc>
                  <a:txBody>
                    <a:bodyPr/>
                    <a:lstStyle/>
                    <a:p>
                      <a:r>
                        <a:rPr b="0" sz="1300">
                          <a:solidFill>
                            <a:srgbClr val="2E3A46"/>
                          </a:solidFill>
                          <a:latin typeface="Helvetica Neue"/>
                        </a:rPr>
                        <a:t>compilación</a:t>
                      </a:r>
                    </a:p>
                  </a:txBody>
                  <a:tcPr anchor="ctr" marL="109728" marR="109728">
                    <a:solidFill>
                      <a:srgbClr val="FFFFFF"/>
                    </a:solidFill>
                  </a:tcPr>
                </a:tc>
              </a:tr>
              <a:tr h="411480">
                <a:tc>
                  <a:txBody>
                    <a:bodyPr/>
                    <a:lstStyle/>
                    <a:p>
                      <a:r>
                        <a:rPr sz="1200">
                          <a:solidFill>
                            <a:srgbClr val="1E2B33"/>
                          </a:solidFill>
                          <a:latin typeface="Menlo"/>
                        </a:rPr>
                        <a:t>array::at()` / `vector::at()</a:t>
                      </a:r>
                    </a:p>
                  </a:txBody>
                  <a:tcPr anchor="ctr" marL="109728" marR="109728">
                    <a:solidFill>
                      <a:srgbClr val="F2F4F3"/>
                    </a:solidFill>
                  </a:tcPr>
                </a:tc>
                <a:tc>
                  <a:txBody>
                    <a:bodyPr/>
                    <a:lstStyle/>
                    <a:p>
                      <a:r>
                        <a:rPr b="0" sz="1300">
                          <a:solidFill>
                            <a:srgbClr val="2E3A46"/>
                          </a:solidFill>
                          <a:latin typeface="Helvetica Neue"/>
                        </a:rPr>
                        <a:t>cualquier índice fuera de rango</a:t>
                      </a:r>
                    </a:p>
                  </a:txBody>
                  <a:tcPr anchor="ctr" marL="109728" marR="109728">
                    <a:solidFill>
                      <a:srgbClr val="F2F4F3"/>
                    </a:solidFill>
                  </a:tcPr>
                </a:tc>
                <a:tc>
                  <a:txBody>
                    <a:bodyPr/>
                    <a:lstStyle/>
                    <a:p>
                      <a:r>
                        <a:rPr b="0" sz="1300">
                          <a:solidFill>
                            <a:srgbClr val="2E3A46"/>
                          </a:solidFill>
                          <a:latin typeface="Helvetica Neue"/>
                        </a:rPr>
                        <a:t>ejecución, lanza </a:t>
                      </a:r>
                      <a:r>
                        <a:rPr sz="1200">
                          <a:solidFill>
                            <a:srgbClr val="0B6E6E"/>
                          </a:solidFill>
                          <a:latin typeface="Menlo"/>
                        </a:rPr>
                        <a:t>std::out_of_range</a:t>
                      </a:r>
                    </a:p>
                  </a:txBody>
                  <a:tcPr anchor="ctr" marL="109728" marR="109728">
                    <a:solidFill>
                      <a:srgbClr val="F2F4F3"/>
                    </a:solidFill>
                  </a:tcPr>
                </a:tc>
              </a:tr>
              <a:tr h="411480">
                <a:tc>
                  <a:txBody>
                    <a:bodyPr/>
                    <a:lstStyle/>
                    <a:p>
                      <a:r>
                        <a:rPr b="0" sz="1300">
                          <a:solidFill>
                            <a:srgbClr val="2E3A46"/>
                          </a:solidFill>
                          <a:latin typeface="Helvetica Neue"/>
                        </a:rPr>
                        <a:t>AddressSanitizer</a:t>
                      </a:r>
                    </a:p>
                  </a:txBody>
                  <a:tcPr anchor="ctr" marL="109728" marR="109728">
                    <a:solidFill>
                      <a:srgbClr val="FFFFFF"/>
                    </a:solidFill>
                  </a:tcPr>
                </a:tc>
                <a:tc>
                  <a:txBody>
                    <a:bodyPr/>
                    <a:lstStyle/>
                    <a:p>
                      <a:r>
                        <a:rPr b="0" sz="1300">
                          <a:solidFill>
                            <a:srgbClr val="2E3A46"/>
                          </a:solidFill>
                          <a:latin typeface="Helvetica Neue"/>
                        </a:rPr>
                        <a:t>accesos fuera de rango reales</a:t>
                      </a:r>
                    </a:p>
                  </a:txBody>
                  <a:tcPr anchor="ctr" marL="109728" marR="109728">
                    <a:solidFill>
                      <a:srgbClr val="FFFFFF"/>
                    </a:solidFill>
                  </a:tcPr>
                </a:tc>
                <a:tc>
                  <a:txBody>
                    <a:bodyPr/>
                    <a:lstStyle/>
                    <a:p>
                      <a:r>
                        <a:rPr b="0" sz="1300">
                          <a:solidFill>
                            <a:srgbClr val="2E3A46"/>
                          </a:solidFill>
                          <a:latin typeface="Helvetica Neue"/>
                        </a:rPr>
                        <a:t>ejecución</a:t>
                      </a:r>
                    </a:p>
                  </a:txBody>
                  <a:tcPr anchor="ctr" marL="109728" marR="109728">
                    <a:solidFill>
                      <a:srgbClr val="FFFFFF"/>
                    </a:solidFill>
                  </a:tcPr>
                </a:tc>
              </a:tr>
              <a:tr h="411480">
                <a:tc>
                  <a:txBody>
                    <a:bodyPr/>
                    <a:lstStyle/>
                    <a:p>
                      <a:r>
                        <a:rPr b="0" sz="1300">
                          <a:solidFill>
                            <a:srgbClr val="2E3A46"/>
                          </a:solidFill>
                          <a:latin typeface="Helvetica Neue"/>
                        </a:rPr>
                        <a:t>UndefinedBehaviorSanitizer</a:t>
                      </a:r>
                    </a:p>
                  </a:txBody>
                  <a:tcPr anchor="ctr" marL="109728" marR="109728">
                    <a:solidFill>
                      <a:srgbClr val="F2F4F3"/>
                    </a:solidFill>
                  </a:tcPr>
                </a:tc>
                <a:tc>
                  <a:txBody>
                    <a:bodyPr/>
                    <a:lstStyle/>
                    <a:p>
                      <a:r>
                        <a:rPr b="0" sz="1300">
                          <a:solidFill>
                            <a:srgbClr val="2E3A46"/>
                          </a:solidFill>
                          <a:latin typeface="Helvetica Neue"/>
                        </a:rPr>
                        <a:t>índices fuera de rango, entre otras cosas</a:t>
                      </a:r>
                    </a:p>
                  </a:txBody>
                  <a:tcPr anchor="ctr" marL="109728" marR="109728">
                    <a:solidFill>
                      <a:srgbClr val="F2F4F3"/>
                    </a:solidFill>
                  </a:tcPr>
                </a:tc>
                <a:tc>
                  <a:txBody>
                    <a:bodyPr/>
                    <a:lstStyle/>
                    <a:p>
                      <a:r>
                        <a:rPr b="0" sz="1300">
                          <a:solidFill>
                            <a:srgbClr val="2E3A46"/>
                          </a:solidFill>
                          <a:latin typeface="Helvetica Neue"/>
                        </a:rPr>
                        <a:t>ejecución</a:t>
                      </a:r>
                    </a:p>
                  </a:txBody>
                  <a:tcPr anchor="ctr" marL="109728" marR="109728">
                    <a:solidFill>
                      <a:srgbClr val="F2F4F3"/>
                    </a:solidFill>
                  </a:tcPr>
                </a:tc>
              </a:tr>
            </a:tbl>
          </a:graphicData>
        </a:graphic>
      </p:graphicFrame>
      <p:sp>
        <p:nvSpPr>
          <p:cNvPr id="5" name="TextBox 4"/>
          <p:cNvSpPr txBox="1"/>
          <p:nvPr/>
        </p:nvSpPr>
        <p:spPr>
          <a:xfrm>
            <a:off x="777240" y="4114800"/>
            <a:ext cx="10637215" cy="548640"/>
          </a:xfrm>
          <a:prstGeom prst="rect">
            <a:avLst/>
          </a:prstGeom>
          <a:noFill/>
        </p:spPr>
        <p:txBody>
          <a:bodyPr wrap="square" lIns="0" rIns="0" tIns="0" bIns="0">
            <a:spAutoFit/>
          </a:bodyPr>
          <a:lstStyle/>
          <a:p>
            <a:r>
              <a:rPr b="0" sz="1500">
                <a:solidFill>
                  <a:srgbClr val="0B6E6E"/>
                </a:solidFill>
                <a:latin typeface="Helvetica Neue"/>
              </a:rPr>
              <a:t>El compilador solo puede avisar de lo que puede calcular. Si el índice se conoce hasta la ejecución, no hay aviso.</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error de un elemento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off by one</a:t>
            </a:r>
          </a:p>
        </p:txBody>
      </p:sp>
      <p:sp>
        <p:nvSpPr>
          <p:cNvPr id="5" name="Rounded Rectangle 4"/>
          <p:cNvSpPr/>
          <p:nvPr/>
        </p:nvSpPr>
        <p:spPr>
          <a:xfrm>
            <a:off x="777240" y="1828800"/>
            <a:ext cx="10637215" cy="928116"/>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781812"/>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653796"/>
          </a:xfrm>
          <a:prstGeom prst="rect">
            <a:avLst/>
          </a:prstGeom>
          <a:noFill/>
        </p:spPr>
        <p:txBody>
          <a:bodyPr wrap="square" lIns="0" rIns="0" tIns="0" bIns="0">
            <a:spAutoFit/>
          </a:bodyPr>
          <a:lstStyle/>
          <a:p>
            <a:pPr>
              <a:lnSpc>
                <a:spcPct val="106000"/>
              </a:lnSpc>
              <a:spcBef>
                <a:spcPts val="0"/>
              </a:spcBef>
            </a:pPr>
            <a:r>
              <a:rPr sz="1700" b="1">
                <a:solidFill>
                  <a:srgbClr val="A8431B"/>
                </a:solidFill>
                <a:latin typeface="Menlo"/>
              </a:rPr>
              <a:t>for (int i = 0; i &lt;= 5; ++i)   </a:t>
            </a:r>
            <a:r>
              <a:rPr sz="1700" b="1">
                <a:solidFill>
                  <a:srgbClr val="A8431B"/>
                </a:solidFill>
                <a:latin typeface="Menlo"/>
              </a:rPr>
              <a:t>// MAL: recorre SEIS posiciones</a:t>
            </a:r>
          </a:p>
          <a:p>
            <a:pPr>
              <a:lnSpc>
                <a:spcPct val="106000"/>
              </a:lnSpc>
              <a:spcBef>
                <a:spcPts val="0"/>
              </a:spcBef>
            </a:pPr>
            <a:r>
              <a:rPr sz="1700" b="0">
                <a:solidFill>
                  <a:srgbClr val="1E2B33"/>
                </a:solidFill>
                <a:latin typeface="Menlo"/>
              </a:rPr>
              <a:t>for (int i = 0; i &lt;  5; ++i)   </a:t>
            </a:r>
            <a:r>
              <a:rPr sz="1700" b="0">
                <a:solidFill>
                  <a:srgbClr val="6B7A74"/>
                </a:solidFill>
                <a:latin typeface="Menlo"/>
              </a:rPr>
              <a:t>// BIEN</a:t>
            </a:r>
          </a:p>
        </p:txBody>
      </p:sp>
      <p:sp>
        <p:nvSpPr>
          <p:cNvPr id="8" name="TextBox 7"/>
          <p:cNvSpPr txBox="1"/>
          <p:nvPr/>
        </p:nvSpPr>
        <p:spPr>
          <a:xfrm>
            <a:off x="777240" y="2958084"/>
            <a:ext cx="10637215" cy="548640"/>
          </a:xfrm>
          <a:prstGeom prst="rect">
            <a:avLst/>
          </a:prstGeom>
          <a:noFill/>
        </p:spPr>
        <p:txBody>
          <a:bodyPr wrap="square" lIns="0" rIns="0" tIns="0" bIns="0">
            <a:spAutoFit/>
          </a:bodyPr>
          <a:lstStyle/>
          <a:p>
            <a:r>
              <a:rPr b="0" sz="1600">
                <a:solidFill>
                  <a:srgbClr val="0B6E6E"/>
                </a:solidFill>
                <a:latin typeface="Helvetica Neue"/>
              </a:rPr>
              <a:t>El índice válido máximo es N-1. La condición correcta usa &lt;, nunca &lt;=.</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14_fuera_de_rango.cpp</a:t>
            </a:r>
          </a:p>
        </p:txBody>
      </p:sp>
      <p:sp>
        <p:nvSpPr>
          <p:cNvPr id="5" name="Rounded Rectangle 4"/>
          <p:cNvSpPr/>
          <p:nvPr/>
        </p:nvSpPr>
        <p:spPr>
          <a:xfrm>
            <a:off x="777240" y="1874519"/>
            <a:ext cx="10637215" cy="75895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6126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484632"/>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./build/bin/exp_14_fuera_de_rango</a:t>
            </a:r>
          </a:p>
          <a:p>
            <a:pPr>
              <a:lnSpc>
                <a:spcPct val="106000"/>
              </a:lnSpc>
              <a:spcBef>
                <a:spcPts val="0"/>
              </a:spcBef>
            </a:pPr>
            <a:r>
              <a:rPr sz="1500" b="0">
                <a:solidFill>
                  <a:srgbClr val="1E2B33"/>
                </a:solidFill>
                <a:latin typeface="Menlo"/>
              </a:rPr>
              <a:t>ASAN_OPTIONS=detect_stack_use_after_return=1 ./build/bin/exp_14_fuera_de_rango</a:t>
            </a:r>
          </a:p>
        </p:txBody>
      </p:sp>
      <p:sp>
        <p:nvSpPr>
          <p:cNvPr id="8" name="TextBox 7"/>
          <p:cNvSpPr txBox="1"/>
          <p:nvPr/>
        </p:nvSpPr>
        <p:spPr>
          <a:xfrm>
            <a:off x="777240" y="2999232"/>
            <a:ext cx="10637215" cy="3218688"/>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Ejecutarlo </a:t>
            </a:r>
            <a:r>
              <a:rPr b="1" sz="1800">
                <a:solidFill>
                  <a:srgbClr val="142638"/>
                </a:solidFill>
                <a:latin typeface="Helvetica Neue"/>
              </a:rPr>
              <a:t>dos veces</a:t>
            </a:r>
            <a:r>
              <a:rPr b="0" sz="1800">
                <a:solidFill>
                  <a:srgbClr val="2E3A46"/>
                </a:solidFill>
                <a:latin typeface="Helvetica Neue"/>
              </a:rPr>
              <a:t>: sin sanitizador, termina; con él, aborta.</a:t>
            </a:r>
          </a:p>
          <a:p>
            <a:pPr>
              <a:spcBef>
                <a:spcPts val="1000"/>
              </a:spcBef>
            </a:pPr>
            <a:r>
              <a:rPr sz="1800">
                <a:solidFill>
                  <a:srgbClr val="0B6E6E"/>
                </a:solidFill>
                <a:latin typeface="Helvetica Neue"/>
              </a:rPr>
              <a:t>→  </a:t>
            </a:r>
            <a:r>
              <a:rPr sz="1700">
                <a:solidFill>
                  <a:srgbClr val="0B6E6E"/>
                </a:solidFill>
                <a:latin typeface="Menlo"/>
              </a:rPr>
              <a:t>std::array::at()</a:t>
            </a:r>
            <a:r>
              <a:rPr b="0" sz="1800">
                <a:solidFill>
                  <a:srgbClr val="2E3A46"/>
                </a:solidFill>
                <a:latin typeface="Helvetica Neue"/>
              </a:rPr>
              <a:t> lanza </a:t>
            </a:r>
            <a:r>
              <a:rPr sz="1700">
                <a:solidFill>
                  <a:srgbClr val="0B6E6E"/>
                </a:solidFill>
                <a:latin typeface="Menlo"/>
              </a:rPr>
              <a:t>std::out_of_range</a:t>
            </a:r>
            <a:r>
              <a:rPr b="0" sz="1800">
                <a:solidFill>
                  <a:srgbClr val="2E3A46"/>
                </a:solidFill>
                <a:latin typeface="Helvetica Neue"/>
              </a:rPr>
              <a:t> y se puede atrapar.</a:t>
            </a:r>
          </a:p>
          <a:p>
            <a:pPr>
              <a:spcBef>
                <a:spcPts val="1000"/>
              </a:spcBef>
            </a:pPr>
            <a:r>
              <a:rPr sz="1800">
                <a:solidFill>
                  <a:srgbClr val="0B6E6E"/>
                </a:solidFill>
                <a:latin typeface="Helvetica Neue"/>
              </a:rPr>
              <a:t>→  </a:t>
            </a:r>
            <a:r>
              <a:rPr b="0" sz="1800">
                <a:solidFill>
                  <a:srgbClr val="2E3A46"/>
                </a:solidFill>
                <a:latin typeface="Helvetica Neue"/>
              </a:rPr>
              <a:t>Los centinelas alrededor del arreglo muestran qué se corrompe.</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Lo que un arreglo NO puede hacer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900">
                <a:solidFill>
                  <a:srgbClr val="0B6E6E"/>
                </a:solidFill>
                <a:latin typeface="Helvetica Neue"/>
              </a:rPr>
              <a:t>•  </a:t>
            </a:r>
            <a:r>
              <a:rPr b="1" sz="1900">
                <a:solidFill>
                  <a:srgbClr val="142638"/>
                </a:solidFill>
                <a:latin typeface="Helvetica Neue"/>
              </a:rPr>
              <a:t>No se puede asignar</a:t>
            </a:r>
            <a:r>
              <a:rPr b="0" sz="1900">
                <a:solidFill>
                  <a:srgbClr val="2E3A46"/>
                </a:solidFill>
                <a:latin typeface="Helvetica Neue"/>
              </a:rPr>
              <a:t>: </a:t>
            </a:r>
            <a:r>
              <a:rPr sz="1800">
                <a:solidFill>
                  <a:srgbClr val="0B6E6E"/>
                </a:solidFill>
                <a:latin typeface="Menlo"/>
              </a:rPr>
              <a:t>a = b;</a:t>
            </a:r>
            <a:r>
              <a:rPr b="0" sz="1900">
                <a:solidFill>
                  <a:srgbClr val="2E3A46"/>
                </a:solidFill>
                <a:latin typeface="Helvetica Neue"/>
              </a:rPr>
              <a:t> no compila.</a:t>
            </a:r>
          </a:p>
          <a:p>
            <a:pPr marL="301752" indent="-301752">
              <a:spcBef>
                <a:spcPts val="1100"/>
              </a:spcBef>
            </a:pPr>
            <a:r>
              <a:rPr sz="1900">
                <a:solidFill>
                  <a:srgbClr val="0B6E6E"/>
                </a:solidFill>
                <a:latin typeface="Helvetica Neue"/>
              </a:rPr>
              <a:t>•  </a:t>
            </a:r>
            <a:r>
              <a:rPr b="1" sz="1900">
                <a:solidFill>
                  <a:srgbClr val="142638"/>
                </a:solidFill>
                <a:latin typeface="Helvetica Neue"/>
              </a:rPr>
              <a:t>No se puede copiar</a:t>
            </a:r>
            <a:r>
              <a:rPr b="0" sz="1900">
                <a:solidFill>
                  <a:srgbClr val="2E3A46"/>
                </a:solidFill>
                <a:latin typeface="Helvetica Neue"/>
              </a:rPr>
              <a:t> al inicializar: </a:t>
            </a:r>
            <a:r>
              <a:rPr sz="1800">
                <a:solidFill>
                  <a:srgbClr val="0B6E6E"/>
                </a:solidFill>
                <a:latin typeface="Menlo"/>
              </a:rPr>
              <a:t>int b[5] = a;</a:t>
            </a:r>
            <a:r>
              <a:rPr b="0" sz="1900">
                <a:solidFill>
                  <a:srgbClr val="2E3A46"/>
                </a:solidFill>
                <a:latin typeface="Helvetica Neue"/>
              </a:rPr>
              <a:t> no compila.</a:t>
            </a:r>
          </a:p>
          <a:p>
            <a:pPr marL="301752" indent="-301752">
              <a:spcBef>
                <a:spcPts val="1100"/>
              </a:spcBef>
            </a:pPr>
            <a:r>
              <a:rPr sz="1900">
                <a:solidFill>
                  <a:srgbClr val="0B6E6E"/>
                </a:solidFill>
                <a:latin typeface="Helvetica Neue"/>
              </a:rPr>
              <a:t>•  </a:t>
            </a:r>
            <a:r>
              <a:rPr b="1" sz="1900">
                <a:solidFill>
                  <a:srgbClr val="142638"/>
                </a:solidFill>
                <a:latin typeface="Helvetica Neue"/>
              </a:rPr>
              <a:t>No se puede devolver</a:t>
            </a:r>
            <a:r>
              <a:rPr b="0" sz="1900">
                <a:solidFill>
                  <a:srgbClr val="2E3A46"/>
                </a:solidFill>
                <a:latin typeface="Helvetica Neue"/>
              </a:rPr>
              <a:t> desde una función.</a:t>
            </a:r>
          </a:p>
          <a:p>
            <a:pPr marL="301752" indent="-301752">
              <a:spcBef>
                <a:spcPts val="1100"/>
              </a:spcBef>
            </a:pPr>
            <a:r>
              <a:rPr sz="1900">
                <a:solidFill>
                  <a:srgbClr val="0B6E6E"/>
                </a:solidFill>
                <a:latin typeface="Helvetica Neue"/>
              </a:rPr>
              <a:t>•  </a:t>
            </a:r>
            <a:r>
              <a:rPr b="1" sz="1900">
                <a:solidFill>
                  <a:srgbClr val="142638"/>
                </a:solidFill>
                <a:latin typeface="Helvetica Neue"/>
              </a:rPr>
              <a:t>No se puede comparar</a:t>
            </a:r>
            <a:r>
              <a:rPr b="0" sz="1900">
                <a:solidFill>
                  <a:srgbClr val="2E3A46"/>
                </a:solidFill>
                <a:latin typeface="Helvetica Neue"/>
              </a:rPr>
              <a:t>: </a:t>
            </a:r>
            <a:r>
              <a:rPr sz="1800">
                <a:solidFill>
                  <a:srgbClr val="0B6E6E"/>
                </a:solidFill>
                <a:latin typeface="Menlo"/>
              </a:rPr>
              <a:t>a == b</a:t>
            </a:r>
            <a:r>
              <a:rPr b="0" sz="1900">
                <a:solidFill>
                  <a:srgbClr val="2E3A46"/>
                </a:solidFill>
                <a:latin typeface="Helvetica Neue"/>
              </a:rPr>
              <a:t> compara direcciones, no contenidos.</a:t>
            </a:r>
          </a:p>
          <a:p>
            <a:pPr marL="301752" indent="-301752">
              <a:spcBef>
                <a:spcPts val="1100"/>
              </a:spcBef>
            </a:pPr>
            <a:r>
              <a:rPr sz="1900">
                <a:solidFill>
                  <a:srgbClr val="0B6E6E"/>
                </a:solidFill>
                <a:latin typeface="Helvetica Neue"/>
              </a:rPr>
              <a:t>•  </a:t>
            </a:r>
            <a:r>
              <a:rPr b="1" sz="1900">
                <a:solidFill>
                  <a:srgbClr val="142638"/>
                </a:solidFill>
                <a:latin typeface="Helvetica Neue"/>
              </a:rPr>
              <a:t>No conoce su tamaño</a:t>
            </a:r>
            <a:r>
              <a:rPr b="0" sz="1900">
                <a:solidFill>
                  <a:srgbClr val="2E3A46"/>
                </a:solidFill>
                <a:latin typeface="Helvetica Neue"/>
              </a:rPr>
              <a:t> una vez pasado a una función.</a:t>
            </a:r>
          </a:p>
          <a:p>
            <a:pPr>
              <a:spcBef>
                <a:spcPts val="1100"/>
              </a:spcBef>
            </a:pPr>
          </a:p>
          <a:p>
            <a:pPr marL="301752" indent="-301752">
              <a:spcBef>
                <a:spcPts val="1100"/>
              </a:spcBef>
            </a:pPr>
            <a:r>
              <a:rPr sz="1900">
                <a:solidFill>
                  <a:srgbClr val="0B6E6E"/>
                </a:solidFill>
                <a:latin typeface="Helvetica Neue"/>
              </a:rPr>
              <a:t>•  </a:t>
            </a:r>
            <a:r>
              <a:rPr sz="1800">
                <a:solidFill>
                  <a:srgbClr val="0B6E6E"/>
                </a:solidFill>
                <a:latin typeface="Menlo"/>
              </a:rPr>
              <a:t>std::array&lt;T,N&gt;</a:t>
            </a:r>
            <a:r>
              <a:rPr b="0" sz="1900">
                <a:solidFill>
                  <a:srgbClr val="2E3A46"/>
                </a:solidFill>
                <a:latin typeface="Helvetica Neue"/>
              </a:rPr>
              <a:t> sí puede hacer todo eso, con el mismo rendimiento y sin sobrecosto de memoria.</a:t>
            </a:r>
          </a:p>
        </p:txBody>
      </p:sp>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15_arreglo_algoritmos.cpp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./build/bin/exp_15_arreglo_algoritmos</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Media, máximo, búsqueda lineal y ordenamiento por burbuja.</a:t>
            </a:r>
          </a:p>
          <a:p>
            <a:pPr>
              <a:spcBef>
                <a:spcPts val="1000"/>
              </a:spcBef>
            </a:pPr>
            <a:r>
              <a:rPr sz="1800">
                <a:solidFill>
                  <a:srgbClr val="0B6E6E"/>
                </a:solidFill>
                <a:latin typeface="Helvetica Neue"/>
              </a:rPr>
              <a:t>→  </a:t>
            </a:r>
            <a:r>
              <a:rPr b="0" sz="1800">
                <a:solidFill>
                  <a:srgbClr val="2E3A46"/>
                </a:solidFill>
                <a:latin typeface="Helvetica Neue"/>
              </a:rPr>
              <a:t>Todos comparten el mismo esqueleto de recorrido.</a:t>
            </a:r>
          </a:p>
          <a:p>
            <a:pPr>
              <a:spcBef>
                <a:spcPts val="1000"/>
              </a:spcBef>
            </a:pPr>
            <a:r>
              <a:rPr sz="1800">
                <a:solidFill>
                  <a:srgbClr val="0B6E6E"/>
                </a:solidFill>
                <a:latin typeface="Helvetica Neue"/>
              </a:rPr>
              <a:t>→  </a:t>
            </a:r>
            <a:r>
              <a:rPr b="0" sz="1800">
                <a:solidFill>
                  <a:srgbClr val="2E3A46"/>
                </a:solidFill>
                <a:latin typeface="Helvetica Neue"/>
              </a:rPr>
              <a:t>Al final, los equivalentes de </a:t>
            </a:r>
            <a:r>
              <a:rPr sz="1700">
                <a:solidFill>
                  <a:srgbClr val="0B6E6E"/>
                </a:solidFill>
                <a:latin typeface="Menlo"/>
              </a:rPr>
              <a:t>&lt;algorithm&gt;</a:t>
            </a:r>
            <a:r>
              <a:rPr b="0" sz="1800">
                <a:solidFill>
                  <a:srgbClr val="2E3A46"/>
                </a:solidFill>
                <a:latin typeface="Helvetica Neue"/>
              </a:rPr>
              <a:t>: </a:t>
            </a:r>
            <a:r>
              <a:rPr sz="1700">
                <a:solidFill>
                  <a:srgbClr val="0B6E6E"/>
                </a:solidFill>
                <a:latin typeface="Menlo"/>
              </a:rPr>
              <a:t>sort</a:t>
            </a:r>
            <a:r>
              <a:rPr b="0" sz="1800">
                <a:solidFill>
                  <a:srgbClr val="2E3A46"/>
                </a:solidFill>
                <a:latin typeface="Helvetica Neue"/>
              </a:rPr>
              <a:t>, </a:t>
            </a:r>
            <a:r>
              <a:rPr sz="1700">
                <a:solidFill>
                  <a:srgbClr val="0B6E6E"/>
                </a:solidFill>
                <a:latin typeface="Menlo"/>
              </a:rPr>
              <a:t>find</a:t>
            </a:r>
            <a:r>
              <a:rPr b="0" sz="1800">
                <a:solidFill>
                  <a:srgbClr val="2E3A46"/>
                </a:solidFill>
                <a:latin typeface="Helvetica Neue"/>
              </a:rPr>
              <a:t>, </a:t>
            </a:r>
            <a:r>
              <a:rPr sz="1700">
                <a:solidFill>
                  <a:srgbClr val="0B6E6E"/>
                </a:solidFill>
                <a:latin typeface="Menlo"/>
              </a:rPr>
              <a:t>max_element</a:t>
            </a:r>
            <a:r>
              <a:rPr b="0" sz="1800">
                <a:solidFill>
                  <a:srgbClr val="2E3A46"/>
                </a:solidFill>
                <a:latin typeface="Helvetica Neue"/>
              </a:rPr>
              <a:t>.</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8</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Arreglos como parámetros: el decaimiento</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20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La bisagra entre los dos temas de la sesión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600">
                <a:solidFill>
                  <a:srgbClr val="FFFFFF"/>
                </a:solidFill>
                <a:latin typeface="Helvetica Neue"/>
              </a:rPr>
              <a:t>¿Un arreglo se pasa por valor o por referencia?</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Ni una cosa ni la otra.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dos reglas de la norma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ISO/IEC 14882 — decaimiento, array-to-pointer decay</a:t>
            </a:r>
          </a:p>
        </p:txBody>
      </p:sp>
      <p:sp>
        <p:nvSpPr>
          <p:cNvPr id="5" name="Rounded Rectangle 4"/>
          <p:cNvSpPr/>
          <p:nvPr/>
        </p:nvSpPr>
        <p:spPr>
          <a:xfrm>
            <a:off x="777240" y="1828800"/>
            <a:ext cx="10637215" cy="206425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191795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1789938"/>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[conv.array]/1</a:t>
            </a:r>
          </a:p>
          <a:p>
            <a:pPr>
              <a:lnSpc>
                <a:spcPct val="106000"/>
              </a:lnSpc>
              <a:spcBef>
                <a:spcPts val="0"/>
              </a:spcBef>
            </a:pPr>
            <a:r>
              <a:rPr sz="1500" b="0">
                <a:solidFill>
                  <a:srgbClr val="1E2B33"/>
                </a:solidFill>
                <a:latin typeface="Menlo"/>
              </a:rPr>
              <a:t>  "Una expresión E de tipo 'arreglo de N T' puede convertirse</a:t>
            </a:r>
          </a:p>
          <a:p>
            <a:pPr>
              <a:lnSpc>
                <a:spcPct val="106000"/>
              </a:lnSpc>
              <a:spcBef>
                <a:spcPts val="0"/>
              </a:spcBef>
            </a:pPr>
            <a:r>
              <a:rPr sz="1500" b="0">
                <a:solidFill>
                  <a:srgbClr val="1E2B33"/>
                </a:solidFill>
                <a:latin typeface="Menlo"/>
              </a:rPr>
              <a:t>   a un prvalue de tipo 'puntero a T'."</a:t>
            </a:r>
          </a:p>
          <a:p>
            <a:pPr>
              <a:lnSpc>
                <a:spcPct val="106000"/>
              </a:lnSpc>
              <a:spcBef>
                <a:spcPts val="0"/>
              </a:spcBef>
            </a:pPr>
            <a:r>
              <a:rPr sz="1500" b="0">
                <a:solidFill>
                  <a:srgbClr val="1E2B33"/>
                </a:solidFill>
                <a:latin typeface="Menlo"/>
              </a:rPr>
              <a:t> </a:t>
            </a:r>
          </a:p>
          <a:p>
            <a:pPr>
              <a:lnSpc>
                <a:spcPct val="106000"/>
              </a:lnSpc>
              <a:spcBef>
                <a:spcPts val="0"/>
              </a:spcBef>
            </a:pPr>
            <a:r>
              <a:rPr sz="1500" b="0">
                <a:solidFill>
                  <a:srgbClr val="1E2B33"/>
                </a:solidFill>
                <a:latin typeface="Menlo"/>
              </a:rPr>
              <a:t>[dcl.fct]/5</a:t>
            </a:r>
          </a:p>
          <a:p>
            <a:pPr>
              <a:lnSpc>
                <a:spcPct val="106000"/>
              </a:lnSpc>
              <a:spcBef>
                <a:spcPts val="0"/>
              </a:spcBef>
            </a:pPr>
            <a:r>
              <a:rPr sz="1500" b="0">
                <a:solidFill>
                  <a:srgbClr val="1E2B33"/>
                </a:solidFill>
                <a:latin typeface="Menlo"/>
              </a:rPr>
              <a:t>  "Después de determinar el tipo de cada parámetro, todo parámetro</a:t>
            </a:r>
          </a:p>
          <a:p>
            <a:pPr>
              <a:lnSpc>
                <a:spcPct val="106000"/>
              </a:lnSpc>
              <a:spcBef>
                <a:spcPts val="0"/>
              </a:spcBef>
            </a:pPr>
            <a:r>
              <a:rPr sz="1500" b="0">
                <a:solidFill>
                  <a:srgbClr val="1E2B33"/>
                </a:solidFill>
                <a:latin typeface="Menlo"/>
              </a:rPr>
              <a:t>   de tipo 'arreglo de T' se ajusta para ser 'puntero a T'."</a:t>
            </a:r>
          </a:p>
        </p:txBody>
      </p:sp>
      <p:sp>
        <p:nvSpPr>
          <p:cNvPr id="8" name="TextBox 7"/>
          <p:cNvSpPr txBox="1"/>
          <p:nvPr/>
        </p:nvSpPr>
        <p:spPr>
          <a:xfrm>
            <a:off x="777240" y="4094226"/>
            <a:ext cx="10637215" cy="548640"/>
          </a:xfrm>
          <a:prstGeom prst="rect">
            <a:avLst/>
          </a:prstGeom>
          <a:noFill/>
        </p:spPr>
        <p:txBody>
          <a:bodyPr wrap="square" lIns="0" rIns="0" tIns="0" bIns="0">
            <a:spAutoFit/>
          </a:bodyPr>
          <a:lstStyle/>
          <a:p>
            <a:r>
              <a:rPr b="0" sz="1600">
                <a:solidFill>
                  <a:srgbClr val="0B6E6E"/>
                </a:solidFill>
                <a:latin typeface="Helvetica Neue"/>
              </a:rPr>
              <a:t>La primera describe la conversión en el punto de llamada; la segunda, el ajuste del parámetro.</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tres declaraciones son la MISMA función</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120015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105384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925830"/>
          </a:xfrm>
          <a:prstGeom prst="rect">
            <a:avLst/>
          </a:prstGeom>
          <a:noFill/>
        </p:spPr>
        <p:txBody>
          <a:bodyPr wrap="square" lIns="0" rIns="0" tIns="0" bIns="0">
            <a:spAutoFit/>
          </a:bodyPr>
          <a:lstStyle/>
          <a:p>
            <a:pPr>
              <a:lnSpc>
                <a:spcPct val="106000"/>
              </a:lnSpc>
              <a:spcBef>
                <a:spcPts val="0"/>
              </a:spcBef>
            </a:pPr>
            <a:r>
              <a:rPr sz="1700" b="0">
                <a:solidFill>
                  <a:srgbClr val="1E2B33"/>
                </a:solidFill>
                <a:latin typeface="Menlo"/>
              </a:rPr>
              <a:t>void f(int v[10]);    </a:t>
            </a:r>
            <a:r>
              <a:rPr sz="1700" b="0">
                <a:solidFill>
                  <a:srgbClr val="6B7A74"/>
                </a:solidFill>
                <a:latin typeface="Menlo"/>
              </a:rPr>
              <a:t>// el 10 se ignora por completo</a:t>
            </a:r>
          </a:p>
          <a:p>
            <a:pPr>
              <a:lnSpc>
                <a:spcPct val="106000"/>
              </a:lnSpc>
              <a:spcBef>
                <a:spcPts val="0"/>
              </a:spcBef>
            </a:pPr>
            <a:r>
              <a:rPr sz="1700" b="0">
                <a:solidFill>
                  <a:srgbClr val="1E2B33"/>
                </a:solidFill>
                <a:latin typeface="Menlo"/>
              </a:rPr>
              <a:t>void f(int v[]);</a:t>
            </a:r>
          </a:p>
          <a:p>
            <a:pPr>
              <a:lnSpc>
                <a:spcPct val="106000"/>
              </a:lnSpc>
              <a:spcBef>
                <a:spcPts val="0"/>
              </a:spcBef>
            </a:pPr>
            <a:r>
              <a:rPr sz="1700" b="1">
                <a:solidFill>
                  <a:srgbClr val="A8431B"/>
                </a:solidFill>
                <a:latin typeface="Menlo"/>
              </a:rPr>
              <a:t>void f(int* v);       </a:t>
            </a:r>
            <a:r>
              <a:rPr sz="1700" b="1">
                <a:solidFill>
                  <a:srgbClr val="A8431B"/>
                </a:solidFill>
                <a:latin typeface="Menlo"/>
              </a:rPr>
              <a:t>// esta es la firma real de las tres</a:t>
            </a:r>
          </a:p>
        </p:txBody>
      </p:sp>
      <p:sp>
        <p:nvSpPr>
          <p:cNvPr id="7" name="TextBox 6"/>
          <p:cNvSpPr txBox="1"/>
          <p:nvPr/>
        </p:nvSpPr>
        <p:spPr>
          <a:xfrm>
            <a:off x="777240" y="3230118"/>
            <a:ext cx="10637215" cy="548640"/>
          </a:xfrm>
          <a:prstGeom prst="rect">
            <a:avLst/>
          </a:prstGeom>
          <a:noFill/>
        </p:spPr>
        <p:txBody>
          <a:bodyPr wrap="square" lIns="0" rIns="0" tIns="0" bIns="0">
            <a:spAutoFit/>
          </a:bodyPr>
          <a:lstStyle/>
          <a:p>
            <a:r>
              <a:rPr b="0" sz="1600">
                <a:solidFill>
                  <a:srgbClr val="0B6E6E"/>
                </a:solidFill>
                <a:latin typeface="Helvetica Neue"/>
              </a:rPr>
              <a:t>Declarar las tres en el mismo programa da error: redefinition of 'f'.</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sizeof deja de servir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10512"/>
            <a:ext cx="5135727" cy="320040"/>
          </a:xfrm>
          <a:prstGeom prst="rect">
            <a:avLst/>
          </a:prstGeom>
          <a:noFill/>
        </p:spPr>
        <p:txBody>
          <a:bodyPr wrap="square" lIns="0" rIns="0" tIns="0" bIns="0">
            <a:spAutoFit/>
          </a:bodyPr>
          <a:lstStyle/>
          <a:p>
            <a:r>
              <a:rPr b="1" sz="1500">
                <a:solidFill>
                  <a:srgbClr val="A8431B"/>
                </a:solidFill>
                <a:latin typeface="Helvetica Neue"/>
              </a:rPr>
              <a:t>En main</a:t>
            </a:r>
          </a:p>
        </p:txBody>
      </p:sp>
      <p:sp>
        <p:nvSpPr>
          <p:cNvPr id="5" name="Rounded Rectangle 4"/>
          <p:cNvSpPr/>
          <p:nvPr/>
        </p:nvSpPr>
        <p:spPr>
          <a:xfrm>
            <a:off x="777240" y="2194560"/>
            <a:ext cx="5135727" cy="2048256"/>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267712"/>
            <a:ext cx="50292" cy="1901952"/>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340864"/>
            <a:ext cx="4724247" cy="1773936"/>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int datos[10];</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sizeof(datos);      </a:t>
            </a:r>
            <a:r>
              <a:rPr sz="1300" b="0">
                <a:solidFill>
                  <a:srgbClr val="6B7A74"/>
                </a:solidFill>
                <a:latin typeface="Menlo"/>
              </a:rPr>
              <a:t>// 40</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std::size(datos);   </a:t>
            </a:r>
            <a:r>
              <a:rPr sz="1300" b="0">
                <a:solidFill>
                  <a:srgbClr val="6B7A74"/>
                </a:solidFill>
                <a:latin typeface="Menlo"/>
              </a:rPr>
              <a:t>// 10</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for (int x : datos) </a:t>
            </a:r>
            <a:r>
              <a:rPr sz="1300" b="0">
                <a:solidFill>
                  <a:srgbClr val="6B7A74"/>
                </a:solidFill>
                <a:latin typeface="Menlo"/>
              </a:rPr>
              <a:t>// compila</a:t>
            </a:r>
          </a:p>
        </p:txBody>
      </p:sp>
      <p:sp>
        <p:nvSpPr>
          <p:cNvPr id="8" name="TextBox 7"/>
          <p:cNvSpPr txBox="1"/>
          <p:nvPr/>
        </p:nvSpPr>
        <p:spPr>
          <a:xfrm>
            <a:off x="6278727" y="1810512"/>
            <a:ext cx="5135727" cy="320040"/>
          </a:xfrm>
          <a:prstGeom prst="rect">
            <a:avLst/>
          </a:prstGeom>
          <a:noFill/>
        </p:spPr>
        <p:txBody>
          <a:bodyPr wrap="square" lIns="0" rIns="0" tIns="0" bIns="0">
            <a:spAutoFit/>
          </a:bodyPr>
          <a:lstStyle/>
          <a:p>
            <a:r>
              <a:rPr b="1" sz="1500">
                <a:solidFill>
                  <a:srgbClr val="0B6E6E"/>
                </a:solidFill>
                <a:latin typeface="Helvetica Neue"/>
              </a:rPr>
              <a:t>Dentro de la función</a:t>
            </a:r>
          </a:p>
        </p:txBody>
      </p:sp>
      <p:sp>
        <p:nvSpPr>
          <p:cNvPr id="9" name="Rounded Rectangle 8"/>
          <p:cNvSpPr/>
          <p:nvPr/>
        </p:nvSpPr>
        <p:spPr>
          <a:xfrm>
            <a:off x="6278727" y="2194560"/>
            <a:ext cx="5135727" cy="2048256"/>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8727" y="2267712"/>
            <a:ext cx="50292" cy="1901952"/>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4759" y="2340864"/>
            <a:ext cx="4724247" cy="1773936"/>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void f(int v[10]) {</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    sizeof(v);      </a:t>
            </a:r>
            <a:r>
              <a:rPr sz="1300" b="0">
                <a:solidFill>
                  <a:srgbClr val="6B7A74"/>
                </a:solidFill>
                <a:latin typeface="Menlo"/>
              </a:rPr>
              <a:t>// 8</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 std::size(v) NO compila</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 for (int x : v) NO compila</a:t>
            </a:r>
          </a:p>
          <a:p>
            <a:pPr>
              <a:lnSpc>
                <a:spcPct val="106000"/>
              </a:lnSpc>
              <a:spcBef>
                <a:spcPts val="0"/>
              </a:spcBef>
            </a:pPr>
            <a:r>
              <a:rPr sz="1300" b="0">
                <a:solidFill>
                  <a:srgbClr val="1E2B33"/>
                </a:solidFill>
                <a:latin typeface="Menlo"/>
              </a:rPr>
              <a:t>}</a:t>
            </a:r>
          </a:p>
        </p:txBody>
      </p:sp>
      <p:sp>
        <p:nvSpPr>
          <p:cNvPr id="12" name="TextBox 11"/>
          <p:cNvSpPr txBox="1"/>
          <p:nvPr/>
        </p:nvSpPr>
        <p:spPr>
          <a:xfrm>
            <a:off x="777240" y="4425696"/>
            <a:ext cx="10637215" cy="548640"/>
          </a:xfrm>
          <a:prstGeom prst="rect">
            <a:avLst/>
          </a:prstGeom>
          <a:noFill/>
        </p:spPr>
        <p:txBody>
          <a:bodyPr wrap="square" lIns="0" rIns="0" tIns="0" bIns="0">
            <a:spAutoFit/>
          </a:bodyPr>
          <a:lstStyle/>
          <a:p>
            <a:r>
              <a:rPr b="0" sz="1600">
                <a:solidFill>
                  <a:srgbClr val="0B6E6E"/>
                </a:solidFill>
                <a:latin typeface="Helvetica Neue"/>
              </a:rPr>
              <a:t>Calcular sizeof(v)/sizeof(v[0]) dentro de la función es uno de los errores más frecuentes del lenguaje.</a:t>
            </a:r>
          </a:p>
        </p:txBody>
      </p:sp>
      <p:sp>
        <p:nvSpPr>
          <p:cNvPr id="13" name="TextBox 12"/>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000">
                <a:solidFill>
                  <a:srgbClr val="FFFFFF"/>
                </a:solidFill>
                <a:latin typeface="Helvetica Neue"/>
              </a:rPr>
              <a:t>Como solo viaja la dirección, un arreglo </a:t>
            </a:r>
            <a:r>
              <a:rPr b="1" sz="3000">
                <a:solidFill>
                  <a:srgbClr val="FFFFFF"/>
                </a:solidFill>
                <a:latin typeface="Helvetica Neue"/>
              </a:rPr>
              <a:t>nunca se copia</a:t>
            </a:r>
            <a:r>
              <a:rPr b="0" sz="3000">
                <a:solidFill>
                  <a:srgbClr val="FFFFFF"/>
                </a:solidFill>
                <a:latin typeface="Helvetica Neue"/>
              </a:rPr>
              <a:t> al pasarlo, y la función </a:t>
            </a:r>
            <a:r>
              <a:rPr b="1" sz="3000">
                <a:solidFill>
                  <a:srgbClr val="FFFFFF"/>
                </a:solidFill>
                <a:latin typeface="Helvetica Neue"/>
              </a:rPr>
              <a:t>sí puede modificar</a:t>
            </a:r>
            <a:r>
              <a:rPr b="0" sz="3000">
                <a:solidFill>
                  <a:srgbClr val="FFFFFF"/>
                </a:solidFill>
                <a:latin typeface="Helvetica Neue"/>
              </a:rPr>
              <a:t> los elementos del llamador.</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Es la única excepción a la regla 'por valor significa copia'.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16_decaimiento.cpp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./build/bin/exp_16_decaimiento</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sz="1700">
                <a:solidFill>
                  <a:srgbClr val="0B6E6E"/>
                </a:solidFill>
                <a:latin typeface="Menlo"/>
              </a:rPr>
              <a:t>sizeof</a:t>
            </a:r>
            <a:r>
              <a:rPr b="0" sz="1800">
                <a:solidFill>
                  <a:srgbClr val="2E3A46"/>
                </a:solidFill>
                <a:latin typeface="Helvetica Neue"/>
              </a:rPr>
              <a:t> vale 40 fuera de la función y 8 dentro.</a:t>
            </a:r>
          </a:p>
          <a:p>
            <a:pPr>
              <a:spcBef>
                <a:spcPts val="1000"/>
              </a:spcBef>
            </a:pPr>
            <a:r>
              <a:rPr sz="1800">
                <a:solidFill>
                  <a:srgbClr val="0B6E6E"/>
                </a:solidFill>
                <a:latin typeface="Helvetica Neue"/>
              </a:rPr>
              <a:t>→  </a:t>
            </a:r>
            <a:r>
              <a:rPr b="0" sz="1800">
                <a:solidFill>
                  <a:srgbClr val="2E3A46"/>
                </a:solidFill>
                <a:latin typeface="Helvetica Neue"/>
              </a:rPr>
              <a:t>La función modifica el arreglo del llamador sin haberlo copiado.</a:t>
            </a:r>
          </a:p>
          <a:p>
            <a:pPr>
              <a:spcBef>
                <a:spcPts val="1000"/>
              </a:spcBef>
            </a:pPr>
            <a:r>
              <a:rPr sz="1800">
                <a:solidFill>
                  <a:srgbClr val="0B6E6E"/>
                </a:solidFill>
                <a:latin typeface="Helvetica Neue"/>
              </a:rPr>
              <a:t>→  </a:t>
            </a:r>
            <a:r>
              <a:rPr b="0" sz="1800">
                <a:solidFill>
                  <a:srgbClr val="2E3A46"/>
                </a:solidFill>
                <a:latin typeface="Helvetica Neue"/>
              </a:rPr>
              <a:t>El decaimiento también ocurre fuera de las llamadas: </a:t>
            </a:r>
            <a:r>
              <a:rPr sz="1700">
                <a:solidFill>
                  <a:srgbClr val="0B6E6E"/>
                </a:solidFill>
                <a:latin typeface="Menlo"/>
              </a:rPr>
              <a:t>int* p = datos;</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Solución 1 · conservar el tamaño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10512"/>
            <a:ext cx="5135727" cy="320040"/>
          </a:xfrm>
          <a:prstGeom prst="rect">
            <a:avLst/>
          </a:prstGeom>
          <a:noFill/>
        </p:spPr>
        <p:txBody>
          <a:bodyPr wrap="square" lIns="0" rIns="0" tIns="0" bIns="0">
            <a:spAutoFit/>
          </a:bodyPr>
          <a:lstStyle/>
          <a:p>
            <a:r>
              <a:rPr b="1" sz="1500">
                <a:solidFill>
                  <a:srgbClr val="A8431B"/>
                </a:solidFill>
                <a:latin typeface="Helvetica Neue"/>
              </a:rPr>
              <a:t>Tamaño fijo</a:t>
            </a:r>
          </a:p>
        </p:txBody>
      </p:sp>
      <p:sp>
        <p:nvSpPr>
          <p:cNvPr id="5" name="Rounded Rectangle 4"/>
          <p:cNvSpPr/>
          <p:nvPr/>
        </p:nvSpPr>
        <p:spPr>
          <a:xfrm>
            <a:off x="777240" y="2194560"/>
            <a:ext cx="5135727" cy="184023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267712"/>
            <a:ext cx="50292" cy="169392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340864"/>
            <a:ext cx="4724247" cy="1565910"/>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void f(int (&amp;v)[10]);</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los paréntesis son</a:t>
            </a:r>
          </a:p>
          <a:p>
            <a:pPr>
              <a:lnSpc>
                <a:spcPct val="106000"/>
              </a:lnSpc>
              <a:spcBef>
                <a:spcPts val="0"/>
              </a:spcBef>
            </a:pPr>
            <a:r>
              <a:rPr sz="1300" b="0">
                <a:solidFill>
                  <a:srgbClr val="6B7A74"/>
                </a:solidFill>
                <a:latin typeface="Menlo"/>
              </a:rPr>
              <a:t>// obligatorios:</a:t>
            </a:r>
          </a:p>
          <a:p>
            <a:pPr>
              <a:lnSpc>
                <a:spcPct val="106000"/>
              </a:lnSpc>
              <a:spcBef>
                <a:spcPts val="0"/>
              </a:spcBef>
            </a:pPr>
            <a:r>
              <a:rPr sz="1300" b="0">
                <a:solidFill>
                  <a:srgbClr val="6B7A74"/>
                </a:solidFill>
                <a:latin typeface="Menlo"/>
              </a:rPr>
              <a:t>// int&amp; v[10] sería un</a:t>
            </a:r>
          </a:p>
          <a:p>
            <a:pPr>
              <a:lnSpc>
                <a:spcPct val="106000"/>
              </a:lnSpc>
              <a:spcBef>
                <a:spcPts val="0"/>
              </a:spcBef>
            </a:pPr>
            <a:r>
              <a:rPr sz="1300" b="0">
                <a:solidFill>
                  <a:srgbClr val="6B7A74"/>
                </a:solidFill>
                <a:latin typeface="Menlo"/>
              </a:rPr>
              <a:t>// arreglo de referencias,</a:t>
            </a:r>
          </a:p>
          <a:p>
            <a:pPr>
              <a:lnSpc>
                <a:spcPct val="106000"/>
              </a:lnSpc>
              <a:spcBef>
                <a:spcPts val="0"/>
              </a:spcBef>
            </a:pPr>
            <a:r>
              <a:rPr sz="1300" b="0">
                <a:solidFill>
                  <a:srgbClr val="6B7A74"/>
                </a:solidFill>
                <a:latin typeface="Menlo"/>
              </a:rPr>
              <a:t>// que no existe en C++</a:t>
            </a:r>
          </a:p>
        </p:txBody>
      </p:sp>
      <p:sp>
        <p:nvSpPr>
          <p:cNvPr id="8" name="TextBox 7"/>
          <p:cNvSpPr txBox="1"/>
          <p:nvPr/>
        </p:nvSpPr>
        <p:spPr>
          <a:xfrm>
            <a:off x="6278727" y="1810512"/>
            <a:ext cx="5135727" cy="320040"/>
          </a:xfrm>
          <a:prstGeom prst="rect">
            <a:avLst/>
          </a:prstGeom>
          <a:noFill/>
        </p:spPr>
        <p:txBody>
          <a:bodyPr wrap="square" lIns="0" rIns="0" tIns="0" bIns="0">
            <a:spAutoFit/>
          </a:bodyPr>
          <a:lstStyle/>
          <a:p>
            <a:r>
              <a:rPr b="1" sz="1500">
                <a:solidFill>
                  <a:srgbClr val="0B6E6E"/>
                </a:solidFill>
                <a:latin typeface="Helvetica Neue"/>
              </a:rPr>
              <a:t>Tamaño deducido</a:t>
            </a:r>
          </a:p>
        </p:txBody>
      </p:sp>
      <p:sp>
        <p:nvSpPr>
          <p:cNvPr id="9" name="Rounded Rectangle 8"/>
          <p:cNvSpPr/>
          <p:nvPr/>
        </p:nvSpPr>
        <p:spPr>
          <a:xfrm>
            <a:off x="6278727" y="2194560"/>
            <a:ext cx="5135727" cy="184023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8727" y="2267712"/>
            <a:ext cx="50292" cy="169392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4759" y="2340864"/>
            <a:ext cx="4724247" cy="1565910"/>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template &lt;std::size_t N&gt;</a:t>
            </a:r>
          </a:p>
          <a:p>
            <a:pPr>
              <a:lnSpc>
                <a:spcPct val="106000"/>
              </a:lnSpc>
              <a:spcBef>
                <a:spcPts val="0"/>
              </a:spcBef>
            </a:pPr>
            <a:r>
              <a:rPr sz="1300" b="0">
                <a:solidFill>
                  <a:srgbClr val="1E2B33"/>
                </a:solidFill>
                <a:latin typeface="Menlo"/>
              </a:rPr>
              <a:t>void g(const int (&amp;v)[N]);</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6B7A74"/>
                </a:solidFill>
                <a:latin typeface="Menlo"/>
              </a:rPr>
              <a:t>// N lo deduce el compilador</a:t>
            </a:r>
          </a:p>
          <a:p>
            <a:pPr>
              <a:lnSpc>
                <a:spcPct val="106000"/>
              </a:lnSpc>
              <a:spcBef>
                <a:spcPts val="0"/>
              </a:spcBef>
            </a:pPr>
            <a:r>
              <a:rPr sz="1300" b="0">
                <a:solidFill>
                  <a:srgbClr val="6B7A74"/>
                </a:solidFill>
                <a:latin typeface="Menlo"/>
              </a:rPr>
              <a:t>// en cada llamada.</a:t>
            </a:r>
          </a:p>
          <a:p>
            <a:pPr>
              <a:lnSpc>
                <a:spcPct val="106000"/>
              </a:lnSpc>
              <a:spcBef>
                <a:spcPts val="0"/>
              </a:spcBef>
            </a:pPr>
            <a:r>
              <a:rPr sz="1300" b="0">
                <a:solidFill>
                  <a:srgbClr val="6B7A74"/>
                </a:solidFill>
                <a:latin typeface="Menlo"/>
              </a:rPr>
              <a:t>// Dentro funcionan sizeof,</a:t>
            </a:r>
          </a:p>
          <a:p>
            <a:pPr>
              <a:lnSpc>
                <a:spcPct val="106000"/>
              </a:lnSpc>
              <a:spcBef>
                <a:spcPts val="0"/>
              </a:spcBef>
            </a:pPr>
            <a:r>
              <a:rPr sz="1300" b="0">
                <a:solidFill>
                  <a:srgbClr val="6B7A74"/>
                </a:solidFill>
                <a:latin typeface="Menlo"/>
              </a:rPr>
              <a:t>// std::size y el for por rango</a:t>
            </a:r>
          </a:p>
        </p:txBody>
      </p:sp>
      <p:sp>
        <p:nvSpPr>
          <p:cNvPr id="12" name="TextBox 11"/>
          <p:cNvSpPr txBox="1"/>
          <p:nvPr/>
        </p:nvSpPr>
        <p:spPr>
          <a:xfrm>
            <a:off x="777240" y="4217670"/>
            <a:ext cx="10637215" cy="548640"/>
          </a:xfrm>
          <a:prstGeom prst="rect">
            <a:avLst/>
          </a:prstGeom>
          <a:noFill/>
        </p:spPr>
        <p:txBody>
          <a:bodyPr wrap="square" lIns="0" rIns="0" tIns="0" bIns="0">
            <a:spAutoFit/>
          </a:bodyPr>
          <a:lstStyle/>
          <a:p>
            <a:r>
              <a:rPr b="0" sz="1600">
                <a:solidFill>
                  <a:srgbClr val="0B6E6E"/>
                </a:solidFill>
                <a:latin typeface="Helvetica Neue"/>
              </a:rPr>
              <a:t>La referencia a arreglo conserva el tamaño porque el tamaño forma parte del tipo.</a:t>
            </a:r>
          </a:p>
        </p:txBody>
      </p:sp>
      <p:sp>
        <p:nvSpPr>
          <p:cNvPr id="13" name="TextBox 12"/>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Solución 2 · std::span (C++20)</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dirección + tamaño, en un objeto de 16 bytes</a:t>
            </a:r>
          </a:p>
        </p:txBody>
      </p:sp>
      <p:sp>
        <p:nvSpPr>
          <p:cNvPr id="5" name="Rounded Rectangle 4"/>
          <p:cNvSpPr/>
          <p:nvPr/>
        </p:nvSpPr>
        <p:spPr>
          <a:xfrm>
            <a:off x="777240" y="1828800"/>
            <a:ext cx="10637215" cy="240030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225399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2125980"/>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double media(std::span&lt;const double&gt; datos);</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double crudo[4]         = {1, 2, 3, 4};</a:t>
            </a:r>
          </a:p>
          <a:p>
            <a:pPr>
              <a:lnSpc>
                <a:spcPct val="106000"/>
              </a:lnSpc>
              <a:spcBef>
                <a:spcPts val="0"/>
              </a:spcBef>
            </a:pPr>
            <a:r>
              <a:rPr sz="1400" b="0">
                <a:solidFill>
                  <a:srgbClr val="1E2B33"/>
                </a:solidFill>
                <a:latin typeface="Menlo"/>
              </a:rPr>
              <a:t>std::array&lt;double,3&gt; a  = {10, 20, 30};</a:t>
            </a:r>
          </a:p>
          <a:p>
            <a:pPr>
              <a:lnSpc>
                <a:spcPct val="106000"/>
              </a:lnSpc>
              <a:spcBef>
                <a:spcPts val="0"/>
              </a:spcBef>
            </a:pPr>
            <a:r>
              <a:rPr sz="1400" b="0">
                <a:solidFill>
                  <a:srgbClr val="1E2B33"/>
                </a:solidFill>
                <a:latin typeface="Menlo"/>
              </a:rPr>
              <a:t>std::vector&lt;double&gt; v   = {5, 5, 5, 5, 5};</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media(crudo);    </a:t>
            </a:r>
            <a:r>
              <a:rPr sz="1400" b="0">
                <a:solidFill>
                  <a:srgbClr val="6B7A74"/>
                </a:solidFill>
                <a:latin typeface="Menlo"/>
              </a:rPr>
              <a:t>// las tres llamadas usan</a:t>
            </a:r>
          </a:p>
          <a:p>
            <a:pPr>
              <a:lnSpc>
                <a:spcPct val="106000"/>
              </a:lnSpc>
              <a:spcBef>
                <a:spcPts val="0"/>
              </a:spcBef>
            </a:pPr>
            <a:r>
              <a:rPr sz="1400" b="0">
                <a:solidFill>
                  <a:srgbClr val="1E2B33"/>
                </a:solidFill>
                <a:latin typeface="Menlo"/>
              </a:rPr>
              <a:t>media(a);        </a:t>
            </a:r>
            <a:r>
              <a:rPr sz="1400" b="0">
                <a:solidFill>
                  <a:srgbClr val="6B7A74"/>
                </a:solidFill>
                <a:latin typeface="Menlo"/>
              </a:rPr>
              <a:t>// la MISMA firma</a:t>
            </a:r>
          </a:p>
          <a:p>
            <a:pPr>
              <a:lnSpc>
                <a:spcPct val="106000"/>
              </a:lnSpc>
              <a:spcBef>
                <a:spcPts val="0"/>
              </a:spcBef>
            </a:pPr>
            <a:r>
              <a:rPr sz="1400" b="0">
                <a:solidFill>
                  <a:srgbClr val="1E2B33"/>
                </a:solidFill>
                <a:latin typeface="Menlo"/>
              </a:rPr>
              <a:t>media(v);</a:t>
            </a:r>
          </a:p>
        </p:txBody>
      </p:sp>
      <p:sp>
        <p:nvSpPr>
          <p:cNvPr id="8" name="TextBox 7"/>
          <p:cNvSpPr txBox="1"/>
          <p:nvPr/>
        </p:nvSpPr>
        <p:spPr>
          <a:xfrm>
            <a:off x="777240" y="4430268"/>
            <a:ext cx="10637215" cy="548640"/>
          </a:xfrm>
          <a:prstGeom prst="rect">
            <a:avLst/>
          </a:prstGeom>
          <a:noFill/>
        </p:spPr>
        <p:txBody>
          <a:bodyPr wrap="square" lIns="0" rIns="0" tIns="0" bIns="0">
            <a:spAutoFit/>
          </a:bodyPr>
          <a:lstStyle/>
          <a:p>
            <a:r>
              <a:rPr b="0" sz="1600">
                <a:solidFill>
                  <a:srgbClr val="0B6E6E"/>
                </a:solidFill>
                <a:latin typeface="Helvetica Neue"/>
              </a:rPr>
              <a:t>I.13 — Do not pass an array as a single pointer.  ·  F.24 — Use a span&lt;T&gt; to designate a half-open sequence.</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cuatro formas de recibir una secuencia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1" cy="2441448"/>
        </p:xfrm>
        <a:graphic>
          <a:graphicData uri="http://schemas.openxmlformats.org/drawingml/2006/table">
            <a:tbl>
              <a:tblPr firstRow="1" bandRow="1">
                <a:tableStyleId>{5C22544A-7EE6-4342-B048-85BDC9FD1C3A}</a:tableStyleId>
              </a:tblPr>
              <a:tblGrid>
                <a:gridCol w="3324129"/>
                <a:gridCol w="1994477"/>
                <a:gridCol w="1994477"/>
                <a:gridCol w="1994477"/>
                <a:gridCol w="1329651"/>
              </a:tblGrid>
              <a:tr h="406908">
                <a:tc>
                  <a:txBody>
                    <a:bodyPr/>
                    <a:lstStyle/>
                    <a:p>
                      <a:r>
                        <a:rPr b="1" sz="1300">
                          <a:solidFill>
                            <a:srgbClr val="FFFFFF"/>
                          </a:solidFill>
                          <a:latin typeface="Helvetica Neue"/>
                        </a:rPr>
                        <a:t>Forma</a:t>
                      </a:r>
                    </a:p>
                  </a:txBody>
                  <a:tcPr anchor="ctr" marL="109728" marR="109728">
                    <a:solidFill>
                      <a:srgbClr val="142638"/>
                    </a:solidFill>
                  </a:tcPr>
                </a:tc>
                <a:tc>
                  <a:txBody>
                    <a:bodyPr/>
                    <a:lstStyle/>
                    <a:p>
                      <a:r>
                        <a:rPr b="1" sz="1300">
                          <a:solidFill>
                            <a:srgbClr val="FFFFFF"/>
                          </a:solidFill>
                          <a:latin typeface="Helvetica Neue"/>
                        </a:rPr>
                        <a:t>Conserva tamaño</a:t>
                      </a:r>
                    </a:p>
                  </a:txBody>
                  <a:tcPr anchor="ctr" marL="109728" marR="109728">
                    <a:solidFill>
                      <a:srgbClr val="142638"/>
                    </a:solidFill>
                  </a:tcPr>
                </a:tc>
                <a:tc>
                  <a:txBody>
                    <a:bodyPr/>
                    <a:lstStyle/>
                    <a:p>
                      <a:r>
                        <a:rPr b="1" sz="1300">
                          <a:solidFill>
                            <a:srgbClr val="FFFFFF"/>
                          </a:solidFill>
                          <a:latin typeface="Helvetica Neue"/>
                        </a:rPr>
                        <a:t>Cualquier tamaño</a:t>
                      </a:r>
                    </a:p>
                  </a:txBody>
                  <a:tcPr anchor="ctr" marL="109728" marR="109728">
                    <a:solidFill>
                      <a:srgbClr val="142638"/>
                    </a:solidFill>
                  </a:tcPr>
                </a:tc>
                <a:tc>
                  <a:txBody>
                    <a:bodyPr/>
                    <a:lstStyle/>
                    <a:p>
                      <a:r>
                        <a:rPr b="1" sz="1300">
                          <a:solidFill>
                            <a:srgbClr val="FFFFFF"/>
                          </a:solidFill>
                          <a:latin typeface="Helvetica Neue"/>
                        </a:rPr>
                        <a:t>Acepta vector</a:t>
                      </a:r>
                    </a:p>
                  </a:txBody>
                  <a:tcPr anchor="ctr" marL="109728" marR="109728">
                    <a:solidFill>
                      <a:srgbClr val="142638"/>
                    </a:solidFill>
                  </a:tcPr>
                </a:tc>
                <a:tc>
                  <a:txBody>
                    <a:bodyPr/>
                    <a:lstStyle/>
                    <a:p>
                      <a:r>
                        <a:rPr b="1" sz="1300">
                          <a:solidFill>
                            <a:srgbClr val="FFFFFF"/>
                          </a:solidFill>
                          <a:latin typeface="Helvetica Neue"/>
                        </a:rPr>
                        <a:t>Estándar</a:t>
                      </a:r>
                    </a:p>
                  </a:txBody>
                  <a:tcPr anchor="ctr" marL="109728" marR="109728">
                    <a:solidFill>
                      <a:srgbClr val="142638"/>
                    </a:solidFill>
                  </a:tcPr>
                </a:tc>
              </a:tr>
              <a:tr h="406908">
                <a:tc>
                  <a:txBody>
                    <a:bodyPr/>
                    <a:lstStyle/>
                    <a:p>
                      <a:r>
                        <a:rPr sz="1200">
                          <a:solidFill>
                            <a:srgbClr val="1E2B33"/>
                          </a:solidFill>
                          <a:latin typeface="Menlo"/>
                        </a:rPr>
                        <a:t>T* v, std::size_t n</a:t>
                      </a:r>
                    </a:p>
                  </a:txBody>
                  <a:tcPr anchor="ctr" marL="109728" marR="109728">
                    <a:solidFill>
                      <a:srgbClr val="FFFFFF"/>
                    </a:solidFill>
                  </a:tcPr>
                </a:tc>
                <a:tc>
                  <a:txBody>
                    <a:bodyPr/>
                    <a:lstStyle/>
                    <a:p>
                      <a:r>
                        <a:rPr b="0" sz="1300">
                          <a:solidFill>
                            <a:srgbClr val="2E3A46"/>
                          </a:solidFill>
                          <a:latin typeface="Helvetica Neue"/>
                        </a:rPr>
                        <a:t>manual</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con </a:t>
                      </a:r>
                      <a:r>
                        <a:rPr sz="1200">
                          <a:solidFill>
                            <a:srgbClr val="0B6E6E"/>
                          </a:solidFill>
                          <a:latin typeface="Menlo"/>
                        </a:rPr>
                        <a:t>.data()</a:t>
                      </a:r>
                    </a:p>
                  </a:txBody>
                  <a:tcPr anchor="ctr" marL="109728" marR="109728">
                    <a:solidFill>
                      <a:srgbClr val="FFFFFF"/>
                    </a:solidFill>
                  </a:tcPr>
                </a:tc>
                <a:tc>
                  <a:txBody>
                    <a:bodyPr/>
                    <a:lstStyle/>
                    <a:p>
                      <a:r>
                        <a:rPr b="0" sz="1300">
                          <a:solidFill>
                            <a:srgbClr val="2E3A46"/>
                          </a:solidFill>
                          <a:latin typeface="Helvetica Neue"/>
                        </a:rPr>
                        <a:t>C++98</a:t>
                      </a:r>
                    </a:p>
                  </a:txBody>
                  <a:tcPr anchor="ctr" marL="109728" marR="109728">
                    <a:solidFill>
                      <a:srgbClr val="FFFFFF"/>
                    </a:solidFill>
                  </a:tcPr>
                </a:tc>
              </a:tr>
              <a:tr h="406908">
                <a:tc>
                  <a:txBody>
                    <a:bodyPr/>
                    <a:lstStyle/>
                    <a:p>
                      <a:r>
                        <a:rPr sz="1200">
                          <a:solidFill>
                            <a:srgbClr val="1E2B33"/>
                          </a:solidFill>
                          <a:latin typeface="Menlo"/>
                        </a:rPr>
                        <a:t>T (&amp;v)[N]</a:t>
                      </a:r>
                    </a:p>
                  </a:txBody>
                  <a:tcPr anchor="ctr" marL="109728" marR="109728">
                    <a:solidFill>
                      <a:srgbClr val="F2F4F3"/>
                    </a:solidFill>
                  </a:tcPr>
                </a:tc>
                <a:tc>
                  <a:txBody>
                    <a:bodyPr/>
                    <a:lstStyle/>
                    <a:p>
                      <a:r>
                        <a:rPr b="0" sz="1300">
                          <a:solidFill>
                            <a:srgbClr val="2E3A46"/>
                          </a:solidFill>
                          <a:latin typeface="Helvetica Neue"/>
                        </a:rPr>
                        <a:t>sí</a:t>
                      </a:r>
                    </a:p>
                  </a:txBody>
                  <a:tcPr anchor="ctr" marL="109728" marR="109728">
                    <a:solidFill>
                      <a:srgbClr val="F2F4F3"/>
                    </a:solidFill>
                  </a:tcPr>
                </a:tc>
                <a:tc>
                  <a:txBody>
                    <a:bodyPr/>
                    <a:lstStyle/>
                    <a:p>
                      <a:r>
                        <a:rPr b="0" sz="1300">
                          <a:solidFill>
                            <a:srgbClr val="2E3A46"/>
                          </a:solidFill>
                          <a:latin typeface="Helvetica Neue"/>
                        </a:rPr>
                        <a:t>no</a:t>
                      </a:r>
                    </a:p>
                  </a:txBody>
                  <a:tcPr anchor="ctr" marL="109728" marR="109728">
                    <a:solidFill>
                      <a:srgbClr val="F2F4F3"/>
                    </a:solidFill>
                  </a:tcPr>
                </a:tc>
                <a:tc>
                  <a:txBody>
                    <a:bodyPr/>
                    <a:lstStyle/>
                    <a:p>
                      <a:r>
                        <a:rPr b="0" sz="1300">
                          <a:solidFill>
                            <a:srgbClr val="2E3A46"/>
                          </a:solidFill>
                          <a:latin typeface="Helvetica Neue"/>
                        </a:rPr>
                        <a:t>no</a:t>
                      </a:r>
                    </a:p>
                  </a:txBody>
                  <a:tcPr anchor="ctr" marL="109728" marR="109728">
                    <a:solidFill>
                      <a:srgbClr val="F2F4F3"/>
                    </a:solidFill>
                  </a:tcPr>
                </a:tc>
                <a:tc>
                  <a:txBody>
                    <a:bodyPr/>
                    <a:lstStyle/>
                    <a:p>
                      <a:r>
                        <a:rPr b="0" sz="1300">
                          <a:solidFill>
                            <a:srgbClr val="2E3A46"/>
                          </a:solidFill>
                          <a:latin typeface="Helvetica Neue"/>
                        </a:rPr>
                        <a:t>C++98</a:t>
                      </a:r>
                    </a:p>
                  </a:txBody>
                  <a:tcPr anchor="ctr" marL="109728" marR="109728">
                    <a:solidFill>
                      <a:srgbClr val="F2F4F3"/>
                    </a:solidFill>
                  </a:tcPr>
                </a:tc>
              </a:tr>
              <a:tr h="406908">
                <a:tc>
                  <a:txBody>
                    <a:bodyPr/>
                    <a:lstStyle/>
                    <a:p>
                      <a:r>
                        <a:rPr sz="1200">
                          <a:solidFill>
                            <a:srgbClr val="1E2B33"/>
                          </a:solidFill>
                          <a:latin typeface="Menlo"/>
                        </a:rPr>
                        <a:t>template&lt;N&gt; T (&amp;v)[N]</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no</a:t>
                      </a:r>
                    </a:p>
                  </a:txBody>
                  <a:tcPr anchor="ctr" marL="109728" marR="109728">
                    <a:solidFill>
                      <a:srgbClr val="FFFFFF"/>
                    </a:solidFill>
                  </a:tcPr>
                </a:tc>
                <a:tc>
                  <a:txBody>
                    <a:bodyPr/>
                    <a:lstStyle/>
                    <a:p>
                      <a:r>
                        <a:rPr b="0" sz="1300">
                          <a:solidFill>
                            <a:srgbClr val="2E3A46"/>
                          </a:solidFill>
                          <a:latin typeface="Helvetica Neue"/>
                        </a:rPr>
                        <a:t>C++98</a:t>
                      </a:r>
                    </a:p>
                  </a:txBody>
                  <a:tcPr anchor="ctr" marL="109728" marR="109728">
                    <a:solidFill>
                      <a:srgbClr val="FFFFFF"/>
                    </a:solidFill>
                  </a:tcPr>
                </a:tc>
              </a:tr>
              <a:tr h="406908">
                <a:tc>
                  <a:txBody>
                    <a:bodyPr/>
                    <a:lstStyle/>
                    <a:p>
                      <a:r>
                        <a:rPr sz="1200">
                          <a:solidFill>
                            <a:srgbClr val="1E2B33"/>
                          </a:solidFill>
                          <a:latin typeface="Menlo"/>
                        </a:rPr>
                        <a:t>std::span&lt;T&gt;</a:t>
                      </a:r>
                    </a:p>
                  </a:txBody>
                  <a:tcPr anchor="ctr" marL="109728" marR="109728">
                    <a:solidFill>
                      <a:srgbClr val="F2F4F3"/>
                    </a:solidFill>
                  </a:tcPr>
                </a:tc>
                <a:tc>
                  <a:txBody>
                    <a:bodyPr/>
                    <a:lstStyle/>
                    <a:p>
                      <a:r>
                        <a:rPr b="0" sz="1300">
                          <a:solidFill>
                            <a:srgbClr val="2E3A46"/>
                          </a:solidFill>
                          <a:latin typeface="Helvetica Neue"/>
                        </a:rPr>
                        <a:t>sí</a:t>
                      </a:r>
                    </a:p>
                  </a:txBody>
                  <a:tcPr anchor="ctr" marL="109728" marR="109728">
                    <a:solidFill>
                      <a:srgbClr val="F2F4F3"/>
                    </a:solidFill>
                  </a:tcPr>
                </a:tc>
                <a:tc>
                  <a:txBody>
                    <a:bodyPr/>
                    <a:lstStyle/>
                    <a:p>
                      <a:r>
                        <a:rPr b="0" sz="1300">
                          <a:solidFill>
                            <a:srgbClr val="2E3A46"/>
                          </a:solidFill>
                          <a:latin typeface="Helvetica Neue"/>
                        </a:rPr>
                        <a:t>sí</a:t>
                      </a:r>
                    </a:p>
                  </a:txBody>
                  <a:tcPr anchor="ctr" marL="109728" marR="109728">
                    <a:solidFill>
                      <a:srgbClr val="F2F4F3"/>
                    </a:solidFill>
                  </a:tcPr>
                </a:tc>
                <a:tc>
                  <a:txBody>
                    <a:bodyPr/>
                    <a:lstStyle/>
                    <a:p>
                      <a:r>
                        <a:rPr b="1" sz="1300">
                          <a:solidFill>
                            <a:srgbClr val="142638"/>
                          </a:solidFill>
                          <a:latin typeface="Helvetica Neue"/>
                        </a:rPr>
                        <a:t>sí</a:t>
                      </a:r>
                    </a:p>
                  </a:txBody>
                  <a:tcPr anchor="ctr" marL="109728" marR="109728">
                    <a:solidFill>
                      <a:srgbClr val="F2F4F3"/>
                    </a:solidFill>
                  </a:tcPr>
                </a:tc>
                <a:tc>
                  <a:txBody>
                    <a:bodyPr/>
                    <a:lstStyle/>
                    <a:p>
                      <a:r>
                        <a:rPr b="0" sz="1300">
                          <a:solidFill>
                            <a:srgbClr val="2E3A46"/>
                          </a:solidFill>
                          <a:latin typeface="Helvetica Neue"/>
                        </a:rPr>
                        <a:t>C++20</a:t>
                      </a:r>
                    </a:p>
                  </a:txBody>
                  <a:tcPr anchor="ctr" marL="109728" marR="109728">
                    <a:solidFill>
                      <a:srgbClr val="F2F4F3"/>
                    </a:solidFill>
                  </a:tcPr>
                </a:tc>
              </a:tr>
              <a:tr h="406908">
                <a:tc>
                  <a:txBody>
                    <a:bodyPr/>
                    <a:lstStyle/>
                    <a:p>
                      <a:r>
                        <a:rPr sz="1200">
                          <a:solidFill>
                            <a:srgbClr val="1E2B33"/>
                          </a:solidFill>
                          <a:latin typeface="Menlo"/>
                        </a:rPr>
                        <a:t>const std::vector&lt;T&gt;&amp;</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C++98</a:t>
                      </a:r>
                    </a:p>
                  </a:txBody>
                  <a:tcPr anchor="ctr" marL="109728" marR="109728">
                    <a:solidFill>
                      <a:srgbClr val="FFFFFF"/>
                    </a:solidFill>
                  </a:tcPr>
                </a:tc>
              </a:tr>
            </a:tbl>
          </a:graphicData>
        </a:graphic>
      </p:graphicFrame>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17 y 18 · conservar el tamaño</a:t>
            </a:r>
          </a:p>
        </p:txBody>
      </p:sp>
      <p:sp>
        <p:nvSpPr>
          <p:cNvPr id="5" name="Rounded Rectangle 4"/>
          <p:cNvSpPr/>
          <p:nvPr/>
        </p:nvSpPr>
        <p:spPr>
          <a:xfrm>
            <a:off x="777240" y="1874519"/>
            <a:ext cx="10637215" cy="75895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6126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484632"/>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./build/bin/exp_17_arreglo_por_referencia</a:t>
            </a:r>
          </a:p>
          <a:p>
            <a:pPr>
              <a:lnSpc>
                <a:spcPct val="106000"/>
              </a:lnSpc>
              <a:spcBef>
                <a:spcPts val="0"/>
              </a:spcBef>
            </a:pPr>
            <a:r>
              <a:rPr sz="1500" b="0">
                <a:solidFill>
                  <a:srgbClr val="1E2B33"/>
                </a:solidFill>
                <a:latin typeface="Menlo"/>
              </a:rPr>
              <a:t>./build/bin/exp_18_span</a:t>
            </a:r>
          </a:p>
        </p:txBody>
      </p:sp>
      <p:sp>
        <p:nvSpPr>
          <p:cNvPr id="8" name="TextBox 7"/>
          <p:cNvSpPr txBox="1"/>
          <p:nvPr/>
        </p:nvSpPr>
        <p:spPr>
          <a:xfrm>
            <a:off x="777240" y="2999232"/>
            <a:ext cx="10637215" cy="3218688"/>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Plantilla con </a:t>
            </a:r>
            <a:r>
              <a:rPr sz="1700">
                <a:solidFill>
                  <a:srgbClr val="0B6E6E"/>
                </a:solidFill>
                <a:latin typeface="Menlo"/>
              </a:rPr>
              <a:t>N</a:t>
            </a:r>
            <a:r>
              <a:rPr b="0" sz="1800">
                <a:solidFill>
                  <a:srgbClr val="2E3A46"/>
                </a:solidFill>
                <a:latin typeface="Helvetica Neue"/>
              </a:rPr>
              <a:t> deducido: una sola función para todos los tamaños.</a:t>
            </a:r>
          </a:p>
          <a:p>
            <a:pPr>
              <a:spcBef>
                <a:spcPts val="1000"/>
              </a:spcBef>
            </a:pPr>
            <a:r>
              <a:rPr sz="1800">
                <a:solidFill>
                  <a:srgbClr val="0B6E6E"/>
                </a:solidFill>
                <a:latin typeface="Helvetica Neue"/>
              </a:rPr>
              <a:t>→  </a:t>
            </a:r>
            <a:r>
              <a:rPr sz="1700">
                <a:solidFill>
                  <a:srgbClr val="0B6E6E"/>
                </a:solidFill>
                <a:latin typeface="Menlo"/>
              </a:rPr>
              <a:t>std::span</a:t>
            </a:r>
            <a:r>
              <a:rPr b="0" sz="1800">
                <a:solidFill>
                  <a:srgbClr val="2E3A46"/>
                </a:solidFill>
                <a:latin typeface="Helvetica Neue"/>
              </a:rPr>
              <a:t> con arreglo crudo, </a:t>
            </a:r>
            <a:r>
              <a:rPr sz="1700">
                <a:solidFill>
                  <a:srgbClr val="0B6E6E"/>
                </a:solidFill>
                <a:latin typeface="Menlo"/>
              </a:rPr>
              <a:t>std::array</a:t>
            </a:r>
            <a:r>
              <a:rPr b="0" sz="1800">
                <a:solidFill>
                  <a:srgbClr val="2E3A46"/>
                </a:solidFill>
                <a:latin typeface="Helvetica Neue"/>
              </a:rPr>
              <a:t> y </a:t>
            </a:r>
            <a:r>
              <a:rPr sz="1700">
                <a:solidFill>
                  <a:srgbClr val="0B6E6E"/>
                </a:solidFill>
                <a:latin typeface="Menlo"/>
              </a:rPr>
              <a:t>std::vector</a:t>
            </a:r>
            <a:r>
              <a:rPr b="0" sz="1800">
                <a:solidFill>
                  <a:srgbClr val="2E3A46"/>
                </a:solidFill>
                <a:latin typeface="Helvetica Neue"/>
              </a:rPr>
              <a:t>.</a:t>
            </a:r>
          </a:p>
          <a:p>
            <a:pPr>
              <a:spcBef>
                <a:spcPts val="1000"/>
              </a:spcBef>
            </a:pPr>
            <a:r>
              <a:rPr sz="1800">
                <a:solidFill>
                  <a:srgbClr val="0B6E6E"/>
                </a:solidFill>
                <a:latin typeface="Helvetica Neue"/>
              </a:rPr>
              <a:t>→  </a:t>
            </a:r>
            <a:r>
              <a:rPr b="0" sz="1800">
                <a:solidFill>
                  <a:srgbClr val="2E3A46"/>
                </a:solidFill>
                <a:latin typeface="Helvetica Neue"/>
              </a:rPr>
              <a:t>Subvistas sin copiar: </a:t>
            </a:r>
            <a:r>
              <a:rPr sz="1700">
                <a:solidFill>
                  <a:srgbClr val="0B6E6E"/>
                </a:solidFill>
                <a:latin typeface="Menlo"/>
              </a:rPr>
              <a:t>first</a:t>
            </a:r>
            <a:r>
              <a:rPr b="0" sz="1800">
                <a:solidFill>
                  <a:srgbClr val="2E3A46"/>
                </a:solidFill>
                <a:latin typeface="Helvetica Neue"/>
              </a:rPr>
              <a:t>, </a:t>
            </a:r>
            <a:r>
              <a:rPr sz="1700">
                <a:solidFill>
                  <a:srgbClr val="0B6E6E"/>
                </a:solidFill>
                <a:latin typeface="Menlo"/>
              </a:rPr>
              <a:t>last</a:t>
            </a:r>
            <a:r>
              <a:rPr b="0" sz="1800">
                <a:solidFill>
                  <a:srgbClr val="2E3A46"/>
                </a:solidFill>
                <a:latin typeface="Helvetica Neue"/>
              </a:rPr>
              <a:t>, </a:t>
            </a:r>
            <a:r>
              <a:rPr sz="1700">
                <a:solidFill>
                  <a:srgbClr val="0B6E6E"/>
                </a:solidFill>
                <a:latin typeface="Menlo"/>
              </a:rPr>
              <a:t>subspan</a:t>
            </a:r>
            <a:r>
              <a:rPr b="0" sz="1800">
                <a:solidFill>
                  <a:srgbClr val="2E3A46"/>
                </a:solidFill>
                <a:latin typeface="Helvetica Neue"/>
              </a:rPr>
              <a:t>.</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9</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Arreglos multidimensionales</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25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Un arreglo de arreglos</a:t>
            </a:r>
          </a:p>
          <a:p>
            <a:pPr>
              <a:spcBef>
                <a:spcPts val="500"/>
              </a:spcBef>
            </a:pPr>
            <a:r>
              <a:rPr b="0" sz="1500">
                <a:solidFill>
                  <a:srgbClr val="C5D0D8"/>
                </a:solidFill>
                <a:latin typeface="Helvetica Neue"/>
              </a:rPr>
              <a:t>·  Orden por filas</a:t>
            </a:r>
          </a:p>
          <a:p>
            <a:pPr>
              <a:spcBef>
                <a:spcPts val="500"/>
              </a:spcBef>
            </a:pPr>
            <a:r>
              <a:rPr b="0" sz="1500">
                <a:solidFill>
                  <a:srgbClr val="C5D0D8"/>
                </a:solidFill>
                <a:latin typeface="Helvetica Neue"/>
              </a:rPr>
              <a:t>·  Pasar matrices</a:t>
            </a:r>
          </a:p>
          <a:p>
            <a:pPr>
              <a:spcBef>
                <a:spcPts val="500"/>
              </a:spcBef>
            </a:pPr>
            <a:r>
              <a:rPr b="0" sz="1500">
                <a:solidFill>
                  <a:srgbClr val="C5D0D8"/>
                </a:solidFill>
                <a:latin typeface="Helvetica Neue"/>
              </a:rPr>
              <a:t>·  Por qué el orden de los bucles cambia el rendimiento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int m[3][4] es un arreglo de arreglos</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[dcl.array]/9 — cuando varias especificaciones 'array of' son adyacentes se crea un tipo multidimensional</a:t>
            </a:r>
          </a:p>
        </p:txBody>
      </p:sp>
      <p:sp>
        <p:nvSpPr>
          <p:cNvPr id="5" name="Rounded Rectangle 4"/>
          <p:cNvSpPr/>
          <p:nvPr/>
        </p:nvSpPr>
        <p:spPr>
          <a:xfrm>
            <a:off x="777240" y="1828800"/>
            <a:ext cx="10637215" cy="166420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151790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1389888"/>
          </a:xfrm>
          <a:prstGeom prst="rect">
            <a:avLst/>
          </a:prstGeom>
          <a:noFill/>
        </p:spPr>
        <p:txBody>
          <a:bodyPr wrap="square" lIns="0" rIns="0" tIns="0" bIns="0">
            <a:spAutoFit/>
          </a:bodyPr>
          <a:lstStyle/>
          <a:p>
            <a:pPr>
              <a:lnSpc>
                <a:spcPct val="106000"/>
              </a:lnSpc>
              <a:spcBef>
                <a:spcPts val="0"/>
              </a:spcBef>
            </a:pPr>
            <a:r>
              <a:rPr sz="1600" b="0">
                <a:solidFill>
                  <a:srgbClr val="1E2B33"/>
                </a:solidFill>
                <a:latin typeface="Menlo"/>
              </a:rPr>
              <a:t>int m[3][4];       </a:t>
            </a:r>
            <a:r>
              <a:rPr sz="1600" b="0">
                <a:solidFill>
                  <a:srgbClr val="6B7A74"/>
                </a:solidFill>
                <a:latin typeface="Menlo"/>
              </a:rPr>
              <a:t>// 3 elementos, y cada uno es un arreglo de 4 int</a:t>
            </a:r>
          </a:p>
          <a:p>
            <a:pPr>
              <a:lnSpc>
                <a:spcPct val="106000"/>
              </a:lnSpc>
              <a:spcBef>
                <a:spcPts val="0"/>
              </a:spcBef>
            </a:pPr>
            <a:r>
              <a:rPr sz="1600" b="0">
                <a:solidFill>
                  <a:srgbClr val="1E2B33"/>
                </a:solidFill>
                <a:latin typeface="Menlo"/>
              </a:rPr>
              <a:t> </a:t>
            </a:r>
          </a:p>
          <a:p>
            <a:pPr>
              <a:lnSpc>
                <a:spcPct val="106000"/>
              </a:lnSpc>
              <a:spcBef>
                <a:spcPts val="0"/>
              </a:spcBef>
            </a:pPr>
            <a:r>
              <a:rPr sz="1600" b="0">
                <a:solidFill>
                  <a:srgbClr val="1E2B33"/>
                </a:solidFill>
                <a:latin typeface="Menlo"/>
              </a:rPr>
              <a:t>m          es de tipo   int[3][4]</a:t>
            </a:r>
          </a:p>
          <a:p>
            <a:pPr>
              <a:lnSpc>
                <a:spcPct val="106000"/>
              </a:lnSpc>
              <a:spcBef>
                <a:spcPts val="0"/>
              </a:spcBef>
            </a:pPr>
            <a:r>
              <a:rPr sz="1600" b="0">
                <a:solidFill>
                  <a:srgbClr val="1E2B33"/>
                </a:solidFill>
                <a:latin typeface="Menlo"/>
              </a:rPr>
              <a:t>m[i]       es de tipo   int[4]     &lt;- UNA FILA ENTERA, no un elemento</a:t>
            </a:r>
          </a:p>
          <a:p>
            <a:pPr>
              <a:lnSpc>
                <a:spcPct val="106000"/>
              </a:lnSpc>
              <a:spcBef>
                <a:spcPts val="0"/>
              </a:spcBef>
            </a:pPr>
            <a:r>
              <a:rPr sz="1600" b="1">
                <a:solidFill>
                  <a:srgbClr val="A8431B"/>
                </a:solidFill>
                <a:latin typeface="Menlo"/>
              </a:rPr>
              <a:t>m[i][j]    es de tipo   int</a:t>
            </a:r>
          </a:p>
        </p:txBody>
      </p:sp>
      <p:sp>
        <p:nvSpPr>
          <p:cNvPr id="8" name="TextBox 7"/>
          <p:cNvSpPr txBox="1"/>
          <p:nvPr/>
        </p:nvSpPr>
        <p:spPr>
          <a:xfrm>
            <a:off x="777240" y="3694176"/>
            <a:ext cx="10637215" cy="548640"/>
          </a:xfrm>
          <a:prstGeom prst="rect">
            <a:avLst/>
          </a:prstGeom>
          <a:noFill/>
        </p:spPr>
        <p:txBody>
          <a:bodyPr wrap="square" lIns="0" rIns="0" tIns="0" bIns="0">
            <a:spAutoFit/>
          </a:bodyPr>
          <a:lstStyle/>
          <a:p>
            <a:r>
              <a:rPr b="0" sz="1600">
                <a:solidFill>
                  <a:srgbClr val="0B6E6E"/>
                </a:solidFill>
                <a:latin typeface="Helvetica Neue"/>
              </a:rPr>
              <a:t>De esta frase salen todas las reglas del tema.</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Orden por filas (row-major)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30428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15798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2029968"/>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int m[3][4] en memoria, un único bloque contiguo:</a:t>
            </a:r>
          </a:p>
          <a:p>
            <a:pPr>
              <a:lnSpc>
                <a:spcPct val="106000"/>
              </a:lnSpc>
              <a:spcBef>
                <a:spcPts val="0"/>
              </a:spcBef>
            </a:pPr>
            <a:r>
              <a:rPr sz="1500" b="0">
                <a:solidFill>
                  <a:srgbClr val="1E2B33"/>
                </a:solidFill>
                <a:latin typeface="Menlo"/>
              </a:rPr>
              <a:t> </a:t>
            </a:r>
          </a:p>
          <a:p>
            <a:pPr>
              <a:lnSpc>
                <a:spcPct val="106000"/>
              </a:lnSpc>
              <a:spcBef>
                <a:spcPts val="0"/>
              </a:spcBef>
            </a:pPr>
            <a:r>
              <a:rPr sz="1500" b="0">
                <a:solidFill>
                  <a:srgbClr val="1E2B33"/>
                </a:solidFill>
                <a:latin typeface="Menlo"/>
              </a:rPr>
              <a:t>[ m00 m01 m02 m03 | m10 m11 m12 m13 | m20 m21 m22 m23 ]</a:t>
            </a:r>
          </a:p>
          <a:p>
            <a:pPr>
              <a:lnSpc>
                <a:spcPct val="106000"/>
              </a:lnSpc>
              <a:spcBef>
                <a:spcPts val="0"/>
              </a:spcBef>
            </a:pPr>
            <a:r>
              <a:rPr sz="1500" b="0">
                <a:solidFill>
                  <a:srgbClr val="1E2B33"/>
                </a:solidFill>
                <a:latin typeface="Menlo"/>
              </a:rPr>
              <a:t>  ---- fila 0 ----   ---- fila 1 ----   ---- fila 2 ----</a:t>
            </a:r>
          </a:p>
          <a:p>
            <a:pPr>
              <a:lnSpc>
                <a:spcPct val="106000"/>
              </a:lnSpc>
              <a:spcBef>
                <a:spcPts val="0"/>
              </a:spcBef>
            </a:pPr>
            <a:r>
              <a:rPr sz="1500" b="0">
                <a:solidFill>
                  <a:srgbClr val="1E2B33"/>
                </a:solidFill>
                <a:latin typeface="Menlo"/>
              </a:rPr>
              <a:t>índice lineal:</a:t>
            </a:r>
          </a:p>
          <a:p>
            <a:pPr>
              <a:lnSpc>
                <a:spcPct val="106000"/>
              </a:lnSpc>
              <a:spcBef>
                <a:spcPts val="0"/>
              </a:spcBef>
            </a:pPr>
            <a:r>
              <a:rPr sz="1500" b="0">
                <a:solidFill>
                  <a:srgbClr val="1E2B33"/>
                </a:solidFill>
                <a:latin typeface="Menlo"/>
              </a:rPr>
              <a:t>    0   1   2   3      4   5   6   7      8   9  10  11</a:t>
            </a:r>
          </a:p>
          <a:p>
            <a:pPr>
              <a:lnSpc>
                <a:spcPct val="106000"/>
              </a:lnSpc>
              <a:spcBef>
                <a:spcPts val="0"/>
              </a:spcBef>
            </a:pPr>
            <a:r>
              <a:rPr sz="1500" b="0">
                <a:solidFill>
                  <a:srgbClr val="1E2B33"/>
                </a:solidFill>
                <a:latin typeface="Menlo"/>
              </a:rPr>
              <a:t> </a:t>
            </a:r>
          </a:p>
          <a:p>
            <a:pPr>
              <a:lnSpc>
                <a:spcPct val="106000"/>
              </a:lnSpc>
              <a:spcBef>
                <a:spcPts val="0"/>
              </a:spcBef>
            </a:pPr>
            <a:r>
              <a:rPr sz="1500" b="1">
                <a:solidFill>
                  <a:srgbClr val="A8431B"/>
                </a:solidFill>
                <a:latin typeface="Menlo"/>
              </a:rPr>
              <a:t>     &amp;m[i][j]  ==  base + (i * COLUMNAS + j) * sizeof(T)</a:t>
            </a:r>
          </a:p>
        </p:txBody>
      </p:sp>
      <p:sp>
        <p:nvSpPr>
          <p:cNvPr id="7" name="TextBox 6"/>
          <p:cNvSpPr txBox="1"/>
          <p:nvPr/>
        </p:nvSpPr>
        <p:spPr>
          <a:xfrm>
            <a:off x="777240" y="4334255"/>
            <a:ext cx="10637215" cy="548640"/>
          </a:xfrm>
          <a:prstGeom prst="rect">
            <a:avLst/>
          </a:prstGeom>
          <a:noFill/>
        </p:spPr>
        <p:txBody>
          <a:bodyPr wrap="square" lIns="0" rIns="0" tIns="0" bIns="0">
            <a:spAutoFit/>
          </a:bodyPr>
          <a:lstStyle/>
          <a:p>
            <a:r>
              <a:rPr b="0" sz="1600">
                <a:solidFill>
                  <a:srgbClr val="0B6E6E"/>
                </a:solidFill>
                <a:latin typeface="Helvetica Neue"/>
              </a:rPr>
              <a:t>Fortran, MATLAB, R y Julia usan el orden inverso, columna por columna. Es una causa clásica de errores al portar código numérico.</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19_matriz_basica.cpp</a:t>
            </a:r>
          </a:p>
        </p:txBody>
      </p:sp>
      <p:sp>
        <p:nvSpPr>
          <p:cNvPr id="5" name="Rounded Rectangle 4"/>
          <p:cNvSpPr/>
          <p:nvPr/>
        </p:nvSpPr>
        <p:spPr>
          <a:xfrm>
            <a:off x="777240" y="1874519"/>
            <a:ext cx="10637215" cy="50292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35661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228600"/>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./build/bin/exp_19_matriz_basica</a:t>
            </a:r>
          </a:p>
        </p:txBody>
      </p:sp>
      <p:sp>
        <p:nvSpPr>
          <p:cNvPr id="8" name="TextBox 7"/>
          <p:cNvSpPr txBox="1"/>
          <p:nvPr/>
        </p:nvSpPr>
        <p:spPr>
          <a:xfrm>
            <a:off x="777240" y="2743199"/>
            <a:ext cx="10637215" cy="3474720"/>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Los desplazamientos en bytes </a:t>
            </a:r>
            <a:r>
              <a:rPr b="1" sz="1800">
                <a:solidFill>
                  <a:srgbClr val="142638"/>
                </a:solidFill>
                <a:latin typeface="Helvetica Neue"/>
              </a:rPr>
              <a:t>confirman la fórmula</a:t>
            </a:r>
            <a:r>
              <a:rPr b="0" sz="1800">
                <a:solidFill>
                  <a:srgbClr val="2E3A46"/>
                </a:solidFill>
                <a:latin typeface="Helvetica Neue"/>
              </a:rPr>
              <a:t> </a:t>
            </a:r>
            <a:r>
              <a:rPr sz="1700">
                <a:solidFill>
                  <a:srgbClr val="0B6E6E"/>
                </a:solidFill>
                <a:latin typeface="Menlo"/>
              </a:rPr>
              <a:t>i*C + j</a:t>
            </a:r>
            <a:r>
              <a:rPr b="0" sz="1800">
                <a:solidFill>
                  <a:srgbClr val="2E3A46"/>
                </a:solidFill>
                <a:latin typeface="Helvetica Neue"/>
              </a:rPr>
              <a:t>.</a:t>
            </a:r>
          </a:p>
          <a:p>
            <a:pPr>
              <a:spcBef>
                <a:spcPts val="1000"/>
              </a:spcBef>
            </a:pPr>
            <a:r>
              <a:rPr sz="1800">
                <a:solidFill>
                  <a:srgbClr val="0B6E6E"/>
                </a:solidFill>
                <a:latin typeface="Helvetica Neue"/>
              </a:rPr>
              <a:t>→  </a:t>
            </a:r>
            <a:r>
              <a:rPr sz="1700">
                <a:solidFill>
                  <a:srgbClr val="0B6E6E"/>
                </a:solidFill>
                <a:latin typeface="Menlo"/>
              </a:rPr>
              <a:t>sizeof(m)</a:t>
            </a:r>
            <a:r>
              <a:rPr b="0" sz="1800">
                <a:solidFill>
                  <a:srgbClr val="2E3A46"/>
                </a:solidFill>
                <a:latin typeface="Helvetica Neue"/>
              </a:rPr>
              <a:t>, </a:t>
            </a:r>
            <a:r>
              <a:rPr sz="1700">
                <a:solidFill>
                  <a:srgbClr val="0B6E6E"/>
                </a:solidFill>
                <a:latin typeface="Menlo"/>
              </a:rPr>
              <a:t>sizeof(m[0])</a:t>
            </a:r>
            <a:r>
              <a:rPr b="0" sz="1800">
                <a:solidFill>
                  <a:srgbClr val="2E3A46"/>
                </a:solidFill>
                <a:latin typeface="Helvetica Neue"/>
              </a:rPr>
              <a:t> y </a:t>
            </a:r>
            <a:r>
              <a:rPr sz="1700">
                <a:solidFill>
                  <a:srgbClr val="0B6E6E"/>
                </a:solidFill>
                <a:latin typeface="Menlo"/>
              </a:rPr>
              <a:t>sizeof(m[0][0])</a:t>
            </a:r>
            <a:r>
              <a:rPr b="0" sz="1800">
                <a:solidFill>
                  <a:srgbClr val="2E3A46"/>
                </a:solidFill>
                <a:latin typeface="Helvetica Neue"/>
              </a:rPr>
              <a:t>: matriz, fila y elemento.</a:t>
            </a:r>
          </a:p>
          <a:p>
            <a:pPr>
              <a:spcBef>
                <a:spcPts val="1000"/>
              </a:spcBef>
            </a:pPr>
            <a:r>
              <a:rPr sz="1800">
                <a:solidFill>
                  <a:srgbClr val="0B6E6E"/>
                </a:solidFill>
                <a:latin typeface="Helvetica Neue"/>
              </a:rPr>
              <a:t>→  </a:t>
            </a:r>
            <a:r>
              <a:rPr sz="1700">
                <a:solidFill>
                  <a:srgbClr val="0B6E6E"/>
                </a:solidFill>
                <a:latin typeface="Menlo"/>
              </a:rPr>
              <a:t>m[1][2]</a:t>
            </a:r>
            <a:r>
              <a:rPr b="0" sz="1800">
                <a:solidFill>
                  <a:srgbClr val="2E3A46"/>
                </a:solidFill>
                <a:latin typeface="Helvetica Neue"/>
              </a:rPr>
              <a:t> y </a:t>
            </a:r>
            <a:r>
              <a:rPr sz="1700">
                <a:solidFill>
                  <a:srgbClr val="0B6E6E"/>
                </a:solidFill>
                <a:latin typeface="Menlo"/>
              </a:rPr>
              <a:t>*(m[1]+2)</a:t>
            </a:r>
            <a:r>
              <a:rPr b="0" sz="1800">
                <a:solidFill>
                  <a:srgbClr val="2E3A46"/>
                </a:solidFill>
                <a:latin typeface="Helvetica Neue"/>
              </a:rPr>
              <a:t> son la misma expresión.</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for basado en rango sobre una matriz</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400300"/>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253996"/>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2125980"/>
          </a:xfrm>
          <a:prstGeom prst="rect">
            <a:avLst/>
          </a:prstGeom>
          <a:noFill/>
        </p:spPr>
        <p:txBody>
          <a:bodyPr wrap="square" lIns="0" rIns="0" tIns="0" bIns="0">
            <a:spAutoFit/>
          </a:bodyPr>
          <a:lstStyle/>
          <a:p>
            <a:pPr>
              <a:lnSpc>
                <a:spcPct val="106000"/>
              </a:lnSpc>
              <a:spcBef>
                <a:spcPts val="0"/>
              </a:spcBef>
            </a:pPr>
            <a:r>
              <a:rPr sz="1400" b="1">
                <a:solidFill>
                  <a:srgbClr val="A8431B"/>
                </a:solidFill>
                <a:latin typeface="Menlo"/>
              </a:rPr>
              <a:t>for (const auto&amp; fila : m) {      </a:t>
            </a:r>
            <a:r>
              <a:rPr sz="1400" b="1">
                <a:solidFill>
                  <a:srgbClr val="A8431B"/>
                </a:solidFill>
                <a:latin typeface="Menlo"/>
              </a:rPr>
              <a:t>// fila es 'const int (&amp;)[4]'</a:t>
            </a:r>
          </a:p>
          <a:p>
            <a:pPr>
              <a:lnSpc>
                <a:spcPct val="106000"/>
              </a:lnSpc>
              <a:spcBef>
                <a:spcPts val="0"/>
              </a:spcBef>
            </a:pPr>
            <a:r>
              <a:rPr sz="1400" b="0">
                <a:solidFill>
                  <a:srgbClr val="1E2B33"/>
                </a:solidFill>
                <a:latin typeface="Menlo"/>
              </a:rPr>
              <a:t>    for (int valor : fila) {</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1E2B33"/>
                </a:solidFill>
                <a:latin typeface="Menlo"/>
              </a:rPr>
              <a:t>}</a:t>
            </a:r>
          </a:p>
          <a:p>
            <a:pPr>
              <a:lnSpc>
                <a:spcPct val="106000"/>
              </a:lnSpc>
              <a:spcBef>
                <a:spcPts val="0"/>
              </a:spcBef>
            </a:pPr>
            <a:r>
              <a:rPr sz="1400" b="0">
                <a:solidFill>
                  <a:srgbClr val="1E2B33"/>
                </a:solidFill>
                <a:latin typeface="Menlo"/>
              </a:rPr>
              <a:t> </a:t>
            </a:r>
          </a:p>
          <a:p>
            <a:pPr>
              <a:lnSpc>
                <a:spcPct val="106000"/>
              </a:lnSpc>
              <a:spcBef>
                <a:spcPts val="0"/>
              </a:spcBef>
            </a:pPr>
            <a:r>
              <a:rPr sz="1400" b="0">
                <a:solidFill>
                  <a:srgbClr val="6B7A74"/>
                </a:solidFill>
                <a:latin typeface="Menlo"/>
              </a:rPr>
              <a:t>// for (auto fila : m)   &lt;- MAL: intentaría copiar un arreglo;</a:t>
            </a:r>
          </a:p>
          <a:p>
            <a:pPr>
              <a:lnSpc>
                <a:spcPct val="106000"/>
              </a:lnSpc>
              <a:spcBef>
                <a:spcPts val="0"/>
              </a:spcBef>
            </a:pPr>
            <a:r>
              <a:rPr sz="1400" b="0">
                <a:solidFill>
                  <a:srgbClr val="6B7A74"/>
                </a:solidFill>
                <a:latin typeface="Menlo"/>
              </a:rPr>
              <a:t>//                          fila decae a puntero y el bucle</a:t>
            </a:r>
          </a:p>
          <a:p>
            <a:pPr>
              <a:lnSpc>
                <a:spcPct val="106000"/>
              </a:lnSpc>
              <a:spcBef>
                <a:spcPts val="0"/>
              </a:spcBef>
            </a:pPr>
            <a:r>
              <a:rPr sz="1400" b="0">
                <a:solidFill>
                  <a:srgbClr val="6B7A74"/>
                </a:solidFill>
                <a:latin typeface="Menlo"/>
              </a:rPr>
              <a:t>//                          interno deja de compilar</a:t>
            </a:r>
          </a:p>
        </p:txBody>
      </p:sp>
      <p:sp>
        <p:nvSpPr>
          <p:cNvPr id="7" name="TextBox 6"/>
          <p:cNvSpPr txBox="1"/>
          <p:nvPr/>
        </p:nvSpPr>
        <p:spPr>
          <a:xfrm>
            <a:off x="777240" y="4430268"/>
            <a:ext cx="10637215" cy="548640"/>
          </a:xfrm>
          <a:prstGeom prst="rect">
            <a:avLst/>
          </a:prstGeom>
          <a:noFill/>
        </p:spPr>
        <p:txBody>
          <a:bodyPr wrap="square" lIns="0" rIns="0" tIns="0" bIns="0">
            <a:spAutoFit/>
          </a:bodyPr>
          <a:lstStyle/>
          <a:p>
            <a:r>
              <a:rPr b="0" sz="1600">
                <a:solidFill>
                  <a:srgbClr val="0B6E6E"/>
                </a:solidFill>
                <a:latin typeface="Helvetica Neue"/>
              </a:rPr>
              <a:t>La variable externa DEBE ser referencia a fila.</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Pasar una matriz a una función</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150418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135788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1229868"/>
          </a:xfrm>
          <a:prstGeom prst="rect">
            <a:avLst/>
          </a:prstGeom>
          <a:noFill/>
        </p:spPr>
        <p:txBody>
          <a:bodyPr wrap="square" lIns="0" rIns="0" tIns="0" bIns="0">
            <a:spAutoFit/>
          </a:bodyPr>
          <a:lstStyle/>
          <a:p>
            <a:pPr>
              <a:lnSpc>
                <a:spcPct val="106000"/>
              </a:lnSpc>
              <a:spcBef>
                <a:spcPts val="0"/>
              </a:spcBef>
            </a:pPr>
            <a:r>
              <a:rPr sz="1400" b="0">
                <a:solidFill>
                  <a:srgbClr val="1E2B33"/>
                </a:solidFill>
                <a:latin typeface="Menlo"/>
              </a:rPr>
              <a:t>void f(int m[][4], int filas);    </a:t>
            </a:r>
            <a:r>
              <a:rPr sz="1400" b="0">
                <a:solidFill>
                  <a:srgbClr val="6B7A74"/>
                </a:solidFill>
                <a:latin typeface="Menlo"/>
              </a:rPr>
              <a:t>// válido: solo la 1ª dimensión se omite</a:t>
            </a:r>
          </a:p>
          <a:p>
            <a:pPr>
              <a:lnSpc>
                <a:spcPct val="106000"/>
              </a:lnSpc>
              <a:spcBef>
                <a:spcPts val="0"/>
              </a:spcBef>
            </a:pPr>
            <a:r>
              <a:rPr sz="1400" b="0">
                <a:solidFill>
                  <a:srgbClr val="1E2B33"/>
                </a:solidFill>
                <a:latin typeface="Menlo"/>
              </a:rPr>
              <a:t>void f(int m[3][4], int filas);   </a:t>
            </a:r>
            <a:r>
              <a:rPr sz="1400" b="0">
                <a:solidFill>
                  <a:srgbClr val="6B7A74"/>
                </a:solidFill>
                <a:latin typeface="Menlo"/>
              </a:rPr>
              <a:t>// el 3 se ignora</a:t>
            </a:r>
          </a:p>
          <a:p>
            <a:pPr>
              <a:lnSpc>
                <a:spcPct val="106000"/>
              </a:lnSpc>
              <a:spcBef>
                <a:spcPts val="0"/>
              </a:spcBef>
            </a:pPr>
            <a:r>
              <a:rPr sz="1400" b="0">
                <a:solidFill>
                  <a:srgbClr val="1E2B33"/>
                </a:solidFill>
                <a:latin typeface="Menlo"/>
              </a:rPr>
              <a:t>void f(int (*m)[4], int filas);   </a:t>
            </a:r>
            <a:r>
              <a:rPr sz="1400" b="0">
                <a:solidFill>
                  <a:srgbClr val="6B7A74"/>
                </a:solidFill>
                <a:latin typeface="Menlo"/>
              </a:rPr>
              <a:t>// la firma REAL de las dos anteriores</a:t>
            </a:r>
          </a:p>
          <a:p>
            <a:pPr>
              <a:lnSpc>
                <a:spcPct val="106000"/>
              </a:lnSpc>
              <a:spcBef>
                <a:spcPts val="0"/>
              </a:spcBef>
            </a:pPr>
            <a:r>
              <a:rPr sz="1400" b="0">
                <a:solidFill>
                  <a:srgbClr val="1E2B33"/>
                </a:solidFill>
                <a:latin typeface="Menlo"/>
              </a:rPr>
              <a:t> </a:t>
            </a:r>
          </a:p>
          <a:p>
            <a:pPr>
              <a:lnSpc>
                <a:spcPct val="106000"/>
              </a:lnSpc>
              <a:spcBef>
                <a:spcPts val="0"/>
              </a:spcBef>
            </a:pPr>
            <a:r>
              <a:rPr sz="1400" b="1">
                <a:solidFill>
                  <a:srgbClr val="A8431B"/>
                </a:solidFill>
                <a:latin typeface="Menlo"/>
              </a:rPr>
              <a:t>void f(int** m, ...);             </a:t>
            </a:r>
            <a:r>
              <a:rPr sz="1400" b="1">
                <a:solidFill>
                  <a:srgbClr val="A8431B"/>
                </a:solidFill>
                <a:latin typeface="Menlo"/>
              </a:rPr>
              <a:t>// ERROR conceptual: no es una matriz</a:t>
            </a:r>
          </a:p>
        </p:txBody>
      </p:sp>
      <p:sp>
        <p:nvSpPr>
          <p:cNvPr id="7" name="TextBox 6"/>
          <p:cNvSpPr txBox="1"/>
          <p:nvPr/>
        </p:nvSpPr>
        <p:spPr>
          <a:xfrm>
            <a:off x="777240" y="3534156"/>
            <a:ext cx="10637215" cy="548640"/>
          </a:xfrm>
          <a:prstGeom prst="rect">
            <a:avLst/>
          </a:prstGeom>
          <a:noFill/>
        </p:spPr>
        <p:txBody>
          <a:bodyPr wrap="square" lIns="0" rIns="0" tIns="0" bIns="0">
            <a:spAutoFit/>
          </a:bodyPr>
          <a:lstStyle/>
          <a:p>
            <a:r>
              <a:rPr b="0" sz="1600">
                <a:solidFill>
                  <a:srgbClr val="0B6E6E"/>
                </a:solidFill>
                <a:latin typeface="Helvetica Neue"/>
              </a:rPr>
              <a:t>int[3][4] decae a 'puntero a arreglo de 4 int', es decir int (*)[4]. NO decae a int**.</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Por qué int** no funciona</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Disposiciones de memoria incompatibles</a:t>
            </a:r>
          </a:p>
        </p:txBody>
      </p:sp>
      <p:sp>
        <p:nvSpPr>
          <p:cNvPr id="5" name="Rounded Rectangle 4"/>
          <p:cNvSpPr/>
          <p:nvPr/>
        </p:nvSpPr>
        <p:spPr>
          <a:xfrm>
            <a:off x="777240" y="1828800"/>
            <a:ext cx="10637215" cy="2304288"/>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01952"/>
            <a:ext cx="50292" cy="2157984"/>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75104"/>
            <a:ext cx="10225735" cy="2029968"/>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int m[3][4]        un único bloque de 12 enteros</a:t>
            </a:r>
          </a:p>
          <a:p>
            <a:pPr>
              <a:lnSpc>
                <a:spcPct val="106000"/>
              </a:lnSpc>
              <a:spcBef>
                <a:spcPts val="0"/>
              </a:spcBef>
            </a:pPr>
            <a:r>
              <a:rPr sz="1500" b="0">
                <a:solidFill>
                  <a:srgbClr val="1E2B33"/>
                </a:solidFill>
                <a:latin typeface="Menlo"/>
              </a:rPr>
              <a:t>                   [ ][ ][ ][ ][ ][ ][ ][ ][ ][ ][ ][ ]</a:t>
            </a:r>
          </a:p>
          <a:p>
            <a:pPr>
              <a:lnSpc>
                <a:spcPct val="106000"/>
              </a:lnSpc>
              <a:spcBef>
                <a:spcPts val="0"/>
              </a:spcBef>
            </a:pPr>
            <a:r>
              <a:rPr sz="1500" b="0">
                <a:solidFill>
                  <a:srgbClr val="1E2B33"/>
                </a:solidFill>
                <a:latin typeface="Menlo"/>
              </a:rPr>
              <a:t> </a:t>
            </a:r>
          </a:p>
          <a:p>
            <a:pPr>
              <a:lnSpc>
                <a:spcPct val="106000"/>
              </a:lnSpc>
              <a:spcBef>
                <a:spcPts val="0"/>
              </a:spcBef>
            </a:pPr>
            <a:r>
              <a:rPr sz="1500" b="0">
                <a:solidFill>
                  <a:srgbClr val="1E2B33"/>
                </a:solidFill>
                <a:latin typeface="Menlo"/>
              </a:rPr>
              <a:t>int**              un arreglo de DIRECCIONES, cada una</a:t>
            </a:r>
          </a:p>
          <a:p>
            <a:pPr>
              <a:lnSpc>
                <a:spcPct val="106000"/>
              </a:lnSpc>
              <a:spcBef>
                <a:spcPts val="0"/>
              </a:spcBef>
            </a:pPr>
            <a:r>
              <a:rPr sz="1500" b="0">
                <a:solidFill>
                  <a:srgbClr val="1E2B33"/>
                </a:solidFill>
                <a:latin typeface="Menlo"/>
              </a:rPr>
              <a:t>                   apuntando a una fila suelta</a:t>
            </a:r>
          </a:p>
          <a:p>
            <a:pPr>
              <a:lnSpc>
                <a:spcPct val="106000"/>
              </a:lnSpc>
              <a:spcBef>
                <a:spcPts val="0"/>
              </a:spcBef>
            </a:pPr>
            <a:r>
              <a:rPr sz="1500" b="0">
                <a:solidFill>
                  <a:srgbClr val="1E2B33"/>
                </a:solidFill>
                <a:latin typeface="Menlo"/>
              </a:rPr>
              <a:t>                   [ *]--&gt; [ ][ ][ ][ ]</a:t>
            </a:r>
          </a:p>
          <a:p>
            <a:pPr>
              <a:lnSpc>
                <a:spcPct val="106000"/>
              </a:lnSpc>
              <a:spcBef>
                <a:spcPts val="0"/>
              </a:spcBef>
            </a:pPr>
            <a:r>
              <a:rPr sz="1500" b="0">
                <a:solidFill>
                  <a:srgbClr val="1E2B33"/>
                </a:solidFill>
                <a:latin typeface="Menlo"/>
              </a:rPr>
              <a:t>                   [ *]--&gt; [ ][ ][ ][ ]</a:t>
            </a:r>
          </a:p>
          <a:p>
            <a:pPr>
              <a:lnSpc>
                <a:spcPct val="106000"/>
              </a:lnSpc>
              <a:spcBef>
                <a:spcPts val="0"/>
              </a:spcBef>
            </a:pPr>
            <a:r>
              <a:rPr sz="1500" b="0">
                <a:solidFill>
                  <a:srgbClr val="1E2B33"/>
                </a:solidFill>
                <a:latin typeface="Menlo"/>
              </a:rPr>
              <a:t>                   [ *]--&gt; [ ][ ][ ][ ]</a:t>
            </a:r>
          </a:p>
        </p:txBody>
      </p:sp>
      <p:sp>
        <p:nvSpPr>
          <p:cNvPr id="8" name="TextBox 7"/>
          <p:cNvSpPr txBox="1"/>
          <p:nvPr/>
        </p:nvSpPr>
        <p:spPr>
          <a:xfrm>
            <a:off x="777240" y="4334255"/>
            <a:ext cx="10637215" cy="548640"/>
          </a:xfrm>
          <a:prstGeom prst="rect">
            <a:avLst/>
          </a:prstGeom>
          <a:noFill/>
        </p:spPr>
        <p:txBody>
          <a:bodyPr wrap="square" lIns="0" rIns="0" tIns="0" bIns="0">
            <a:spAutoFit/>
          </a:bodyPr>
          <a:lstStyle/>
          <a:p>
            <a:r>
              <a:rPr b="0" sz="1600">
                <a:solidFill>
                  <a:srgbClr val="0B6E6E"/>
                </a:solidFill>
                <a:latin typeface="Helvetica Neue"/>
              </a:rPr>
              <a:t>error: cannot initialize a parameter of type 'int **' with an lvalue of type 'int[3][4]'</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20 y 21 · matrices como parámetros y operaciones</a:t>
            </a:r>
          </a:p>
        </p:txBody>
      </p:sp>
      <p:sp>
        <p:nvSpPr>
          <p:cNvPr id="5" name="Rounded Rectangle 4"/>
          <p:cNvSpPr/>
          <p:nvPr/>
        </p:nvSpPr>
        <p:spPr>
          <a:xfrm>
            <a:off x="777240" y="1874519"/>
            <a:ext cx="10637215" cy="75895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6126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484632"/>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./build/bin/exp_20_matriz_parametros</a:t>
            </a:r>
          </a:p>
          <a:p>
            <a:pPr>
              <a:lnSpc>
                <a:spcPct val="106000"/>
              </a:lnSpc>
              <a:spcBef>
                <a:spcPts val="0"/>
              </a:spcBef>
            </a:pPr>
            <a:r>
              <a:rPr sz="1500" b="0">
                <a:solidFill>
                  <a:srgbClr val="1E2B33"/>
                </a:solidFill>
                <a:latin typeface="Menlo"/>
              </a:rPr>
              <a:t>./build/bin/exp_21_matriz_operaciones</a:t>
            </a:r>
          </a:p>
        </p:txBody>
      </p:sp>
      <p:sp>
        <p:nvSpPr>
          <p:cNvPr id="8" name="TextBox 7"/>
          <p:cNvSpPr txBox="1"/>
          <p:nvPr/>
        </p:nvSpPr>
        <p:spPr>
          <a:xfrm>
            <a:off x="777240" y="2999232"/>
            <a:ext cx="10637215" cy="3218688"/>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Las cuatro formas de recibir una matriz, incluida la vista aplanada.</a:t>
            </a:r>
          </a:p>
          <a:p>
            <a:pPr>
              <a:spcBef>
                <a:spcPts val="1000"/>
              </a:spcBef>
            </a:pPr>
            <a:r>
              <a:rPr sz="1800">
                <a:solidFill>
                  <a:srgbClr val="0B6E6E"/>
                </a:solidFill>
                <a:latin typeface="Helvetica Neue"/>
              </a:rPr>
              <a:t>→  </a:t>
            </a:r>
            <a:r>
              <a:rPr b="0" sz="1800">
                <a:solidFill>
                  <a:srgbClr val="2E3A46"/>
                </a:solidFill>
                <a:latin typeface="Helvetica Neue"/>
              </a:rPr>
              <a:t>Suma, transpuesta y producto con plantillas.</a:t>
            </a:r>
          </a:p>
          <a:p>
            <a:pPr>
              <a:spcBef>
                <a:spcPts val="1000"/>
              </a:spcBef>
            </a:pPr>
            <a:r>
              <a:rPr sz="1800">
                <a:solidFill>
                  <a:srgbClr val="0B6E6E"/>
                </a:solidFill>
                <a:latin typeface="Helvetica Neue"/>
              </a:rPr>
              <a:t>→  </a:t>
            </a:r>
            <a:r>
              <a:rPr b="0" sz="1800">
                <a:solidFill>
                  <a:srgbClr val="2E3A46"/>
                </a:solidFill>
                <a:latin typeface="Helvetica Neue"/>
              </a:rPr>
              <a:t>Al llevar las dimensiones en el tipo, </a:t>
            </a:r>
            <a:r>
              <a:rPr b="1" sz="1800">
                <a:solidFill>
                  <a:srgbClr val="142638"/>
                </a:solidFill>
                <a:latin typeface="Helvetica Neue"/>
              </a:rPr>
              <a:t>el compilador verifica</a:t>
            </a:r>
            <a:r>
              <a:rPr b="0" sz="1800">
                <a:solidFill>
                  <a:srgbClr val="2E3A46"/>
                </a:solidFill>
                <a:latin typeface="Helvetica Neue"/>
              </a:rPr>
              <a:t> la compatibilidad.</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Tres dimensiones y la fórmula general</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217627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202996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1901952"/>
          </a:xfrm>
          <a:prstGeom prst="rect">
            <a:avLst/>
          </a:prstGeom>
          <a:noFill/>
        </p:spPr>
        <p:txBody>
          <a:bodyPr wrap="square" lIns="0" rIns="0" tIns="0" bIns="0">
            <a:spAutoFit/>
          </a:bodyPr>
          <a:lstStyle/>
          <a:p>
            <a:pPr>
              <a:lnSpc>
                <a:spcPct val="106000"/>
              </a:lnSpc>
              <a:spcBef>
                <a:spcPts val="0"/>
              </a:spcBef>
            </a:pPr>
            <a:r>
              <a:rPr sz="1600" b="0">
                <a:solidFill>
                  <a:srgbClr val="1E2B33"/>
                </a:solidFill>
                <a:latin typeface="Menlo"/>
              </a:rPr>
              <a:t>T v[D0][D1][D2]</a:t>
            </a:r>
          </a:p>
          <a:p>
            <a:pPr>
              <a:lnSpc>
                <a:spcPct val="106000"/>
              </a:lnSpc>
              <a:spcBef>
                <a:spcPts val="0"/>
              </a:spcBef>
            </a:pPr>
            <a:r>
              <a:rPr sz="1600" b="0">
                <a:solidFill>
                  <a:srgbClr val="1E2B33"/>
                </a:solidFill>
                <a:latin typeface="Menlo"/>
              </a:rPr>
              <a:t> </a:t>
            </a:r>
          </a:p>
          <a:p>
            <a:pPr>
              <a:lnSpc>
                <a:spcPct val="106000"/>
              </a:lnSpc>
              <a:spcBef>
                <a:spcPts val="0"/>
              </a:spcBef>
            </a:pPr>
            <a:r>
              <a:rPr sz="1600" b="1">
                <a:solidFill>
                  <a:srgbClr val="A8431B"/>
                </a:solidFill>
                <a:latin typeface="Menlo"/>
              </a:rPr>
              <a:t>  v[i][j][k]  está en  base + ( i*D1*D2 + j*D2 + k ) * sizeof(T)</a:t>
            </a:r>
          </a:p>
          <a:p>
            <a:pPr>
              <a:lnSpc>
                <a:spcPct val="106000"/>
              </a:lnSpc>
              <a:spcBef>
                <a:spcPts val="0"/>
              </a:spcBef>
            </a:pPr>
            <a:r>
              <a:rPr sz="1600" b="0">
                <a:solidFill>
                  <a:srgbClr val="1E2B33"/>
                </a:solidFill>
                <a:latin typeface="Menlo"/>
              </a:rPr>
              <a:t> </a:t>
            </a:r>
          </a:p>
          <a:p>
            <a:pPr>
              <a:lnSpc>
                <a:spcPct val="106000"/>
              </a:lnSpc>
              <a:spcBef>
                <a:spcPts val="0"/>
              </a:spcBef>
            </a:pPr>
            <a:r>
              <a:rPr sz="1600" b="0">
                <a:solidFill>
                  <a:srgbClr val="1E2B33"/>
                </a:solidFill>
                <a:latin typeface="Menlo"/>
              </a:rPr>
              <a:t> </a:t>
            </a:r>
          </a:p>
          <a:p>
            <a:pPr>
              <a:lnSpc>
                <a:spcPct val="106000"/>
              </a:lnSpc>
              <a:spcBef>
                <a:spcPts val="0"/>
              </a:spcBef>
            </a:pPr>
            <a:r>
              <a:rPr sz="1600" b="0">
                <a:solidFill>
                  <a:srgbClr val="1E2B33"/>
                </a:solidFill>
                <a:latin typeface="Menlo"/>
              </a:rPr>
              <a:t>Cada índice se multiplica por el producto de todas las</a:t>
            </a:r>
          </a:p>
          <a:p>
            <a:pPr>
              <a:lnSpc>
                <a:spcPct val="106000"/>
              </a:lnSpc>
              <a:spcBef>
                <a:spcPts val="0"/>
              </a:spcBef>
            </a:pPr>
            <a:r>
              <a:rPr sz="1600" b="0">
                <a:solidFill>
                  <a:srgbClr val="1E2B33"/>
                </a:solidFill>
                <a:latin typeface="Menlo"/>
              </a:rPr>
              <a:t>dimensiones que quedan a su derecha.</a:t>
            </a:r>
          </a:p>
        </p:txBody>
      </p:sp>
      <p:sp>
        <p:nvSpPr>
          <p:cNvPr id="7" name="TextBox 6"/>
          <p:cNvSpPr txBox="1"/>
          <p:nvPr/>
        </p:nvSpPr>
        <p:spPr>
          <a:xfrm>
            <a:off x="777240" y="4206240"/>
            <a:ext cx="10637215" cy="548640"/>
          </a:xfrm>
          <a:prstGeom prst="rect">
            <a:avLst/>
          </a:prstGeom>
          <a:noFill/>
        </p:spPr>
        <p:txBody>
          <a:bodyPr wrap="square" lIns="0" rIns="0" tIns="0" bIns="0">
            <a:spAutoFit/>
          </a:bodyPr>
          <a:lstStyle/>
          <a:p>
            <a:r>
              <a:rPr b="0" sz="1600">
                <a:solidFill>
                  <a:srgbClr val="0B6E6E"/>
                </a:solidFill>
                <a:latin typeface="Helvetica Neue"/>
              </a:rPr>
              <a:t>Es lo que dice el ejemplo de [dcl.array]/9 de la norma.</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El orden de los bucles cambia el rendimiento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Matriz de 2048 × 2048 int (16 MiB), clang -O2, Apple Silicon</a:t>
            </a:r>
          </a:p>
        </p:txBody>
      </p:sp>
      <p:graphicFrame>
        <p:nvGraphicFramePr>
          <p:cNvPr id="5" name="Table 4"/>
          <p:cNvGraphicFramePr>
            <a:graphicFrameLocks noGrp="1"/>
          </p:cNvGraphicFramePr>
          <p:nvPr/>
        </p:nvGraphicFramePr>
        <p:xfrm>
          <a:off x="777240" y="1828800"/>
          <a:ext cx="10637214" cy="1289304"/>
        </p:xfrm>
        <a:graphic>
          <a:graphicData uri="http://schemas.openxmlformats.org/drawingml/2006/table">
            <a:tbl>
              <a:tblPr firstRow="1" bandRow="1">
                <a:tableStyleId>{5C22544A-7EE6-4342-B048-85BDC9FD1C3A}</a:tableStyleId>
              </a:tblPr>
              <a:tblGrid>
                <a:gridCol w="2659303"/>
                <a:gridCol w="6205042"/>
                <a:gridCol w="1772869"/>
              </a:tblGrid>
              <a:tr h="429768">
                <a:tc>
                  <a:txBody>
                    <a:bodyPr/>
                    <a:lstStyle/>
                    <a:p>
                      <a:r>
                        <a:rPr b="1" sz="1400">
                          <a:solidFill>
                            <a:srgbClr val="FFFFFF"/>
                          </a:solidFill>
                          <a:latin typeface="Helvetica Neue"/>
                        </a:rPr>
                        <a:t>Recorrido</a:t>
                      </a:r>
                    </a:p>
                  </a:txBody>
                  <a:tcPr anchor="ctr" marL="109728" marR="109728">
                    <a:solidFill>
                      <a:srgbClr val="142638"/>
                    </a:solidFill>
                  </a:tcPr>
                </a:tc>
                <a:tc>
                  <a:txBody>
                    <a:bodyPr/>
                    <a:lstStyle/>
                    <a:p>
                      <a:r>
                        <a:rPr b="1" sz="1400">
                          <a:solidFill>
                            <a:srgbClr val="FFFFFF"/>
                          </a:solidFill>
                          <a:latin typeface="Helvetica Neue"/>
                        </a:rPr>
                        <a:t>Código</a:t>
                      </a:r>
                    </a:p>
                  </a:txBody>
                  <a:tcPr anchor="ctr" marL="109728" marR="109728">
                    <a:solidFill>
                      <a:srgbClr val="142638"/>
                    </a:solidFill>
                  </a:tcPr>
                </a:tc>
                <a:tc>
                  <a:txBody>
                    <a:bodyPr/>
                    <a:lstStyle/>
                    <a:p>
                      <a:r>
                        <a:rPr b="1" sz="1400">
                          <a:solidFill>
                            <a:srgbClr val="FFFFFF"/>
                          </a:solidFill>
                          <a:latin typeface="Helvetica Neue"/>
                        </a:rPr>
                        <a:t>Tiempo</a:t>
                      </a:r>
                    </a:p>
                  </a:txBody>
                  <a:tcPr anchor="ctr" marL="109728" marR="109728">
                    <a:solidFill>
                      <a:srgbClr val="142638"/>
                    </a:solidFill>
                  </a:tcPr>
                </a:tc>
              </a:tr>
              <a:tr h="429768">
                <a:tc>
                  <a:txBody>
                    <a:bodyPr/>
                    <a:lstStyle/>
                    <a:p>
                      <a:r>
                        <a:rPr b="0" sz="1400">
                          <a:solidFill>
                            <a:srgbClr val="2E3A46"/>
                          </a:solidFill>
                          <a:latin typeface="Helvetica Neue"/>
                        </a:rPr>
                        <a:t>Por filas</a:t>
                      </a:r>
                    </a:p>
                  </a:txBody>
                  <a:tcPr anchor="ctr" marL="109728" marR="109728">
                    <a:solidFill>
                      <a:srgbClr val="FFFFFF"/>
                    </a:solidFill>
                  </a:tcPr>
                </a:tc>
                <a:tc>
                  <a:txBody>
                    <a:bodyPr/>
                    <a:lstStyle/>
                    <a:p>
                      <a:r>
                        <a:rPr sz="1300">
                          <a:solidFill>
                            <a:srgbClr val="1E2B33"/>
                          </a:solidFill>
                          <a:latin typeface="Menlo"/>
                        </a:rPr>
                        <a:t>for (i) for (j) suma += m[i][j];</a:t>
                      </a:r>
                    </a:p>
                  </a:txBody>
                  <a:tcPr anchor="ctr" marL="109728" marR="109728">
                    <a:solidFill>
                      <a:srgbClr val="FFFFFF"/>
                    </a:solidFill>
                  </a:tcPr>
                </a:tc>
                <a:tc>
                  <a:txBody>
                    <a:bodyPr/>
                    <a:lstStyle/>
                    <a:p>
                      <a:r>
                        <a:rPr b="1" sz="1400">
                          <a:solidFill>
                            <a:srgbClr val="142638"/>
                          </a:solidFill>
                          <a:latin typeface="Helvetica Neue"/>
                        </a:rPr>
                        <a:t>0.88 ms</a:t>
                      </a:r>
                    </a:p>
                  </a:txBody>
                  <a:tcPr anchor="ctr" marL="109728" marR="109728">
                    <a:solidFill>
                      <a:srgbClr val="FFFFFF"/>
                    </a:solidFill>
                  </a:tcPr>
                </a:tc>
              </a:tr>
              <a:tr h="429768">
                <a:tc>
                  <a:txBody>
                    <a:bodyPr/>
                    <a:lstStyle/>
                    <a:p>
                      <a:r>
                        <a:rPr b="0" sz="1400">
                          <a:solidFill>
                            <a:srgbClr val="2E3A46"/>
                          </a:solidFill>
                          <a:latin typeface="Helvetica Neue"/>
                        </a:rPr>
                        <a:t>Por columnas</a:t>
                      </a:r>
                    </a:p>
                  </a:txBody>
                  <a:tcPr anchor="ctr" marL="109728" marR="109728">
                    <a:solidFill>
                      <a:srgbClr val="F2F4F3"/>
                    </a:solidFill>
                  </a:tcPr>
                </a:tc>
                <a:tc>
                  <a:txBody>
                    <a:bodyPr/>
                    <a:lstStyle/>
                    <a:p>
                      <a:r>
                        <a:rPr sz="1300">
                          <a:solidFill>
                            <a:srgbClr val="1E2B33"/>
                          </a:solidFill>
                          <a:latin typeface="Menlo"/>
                        </a:rPr>
                        <a:t>for (j) for (i) suma += m[i][j];</a:t>
                      </a:r>
                    </a:p>
                  </a:txBody>
                  <a:tcPr anchor="ctr" marL="109728" marR="109728">
                    <a:solidFill>
                      <a:srgbClr val="F2F4F3"/>
                    </a:solidFill>
                  </a:tcPr>
                </a:tc>
                <a:tc>
                  <a:txBody>
                    <a:bodyPr/>
                    <a:lstStyle/>
                    <a:p>
                      <a:r>
                        <a:rPr b="1" sz="1400">
                          <a:solidFill>
                            <a:srgbClr val="142638"/>
                          </a:solidFill>
                          <a:latin typeface="Helvetica Neue"/>
                        </a:rPr>
                        <a:t>25.84 ms</a:t>
                      </a:r>
                    </a:p>
                  </a:txBody>
                  <a:tcPr anchor="ctr" marL="109728" marR="109728">
                    <a:solidFill>
                      <a:srgbClr val="F2F4F3"/>
                    </a:solidFill>
                  </a:tcPr>
                </a:tc>
              </a:tr>
            </a:tbl>
          </a:graphicData>
        </a:graphic>
      </p:graphicFrame>
      <p:sp>
        <p:nvSpPr>
          <p:cNvPr id="6" name="TextBox 5"/>
          <p:cNvSpPr txBox="1"/>
          <p:nvPr/>
        </p:nvSpPr>
        <p:spPr>
          <a:xfrm>
            <a:off x="777240" y="3346704"/>
            <a:ext cx="10637215" cy="548640"/>
          </a:xfrm>
          <a:prstGeom prst="rect">
            <a:avLst/>
          </a:prstGeom>
          <a:noFill/>
        </p:spPr>
        <p:txBody>
          <a:bodyPr wrap="square" lIns="0" rIns="0" tIns="0" bIns="0">
            <a:spAutoFit/>
          </a:bodyPr>
          <a:lstStyle/>
          <a:p>
            <a:r>
              <a:rPr b="0" sz="1500">
                <a:solidFill>
                  <a:srgbClr val="0B6E6E"/>
                </a:solidFill>
                <a:latin typeface="Helvetica Neue"/>
              </a:rPr>
              <a:t>Mismo resultado numérico. Casi 30 veces más lento.</a:t>
            </a:r>
          </a:p>
        </p:txBody>
      </p:sp>
      <p:sp>
        <p:nvSpPr>
          <p:cNvPr id="7" name="TextBox 6"/>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3200">
                <a:solidFill>
                  <a:srgbClr val="FFFFFF"/>
                </a:solidFill>
                <a:latin typeface="Helvetica Neue"/>
              </a:rPr>
              <a:t>En C y C++, el </a:t>
            </a:r>
            <a:r>
              <a:rPr b="1" sz="3200">
                <a:solidFill>
                  <a:srgbClr val="FFFFFF"/>
                </a:solidFill>
                <a:latin typeface="Helvetica Neue"/>
              </a:rPr>
              <a:t>último índice</a:t>
            </a:r>
            <a:r>
              <a:rPr b="0" sz="3200">
                <a:solidFill>
                  <a:srgbClr val="FFFFFF"/>
                </a:solidFill>
                <a:latin typeface="Helvetica Neue"/>
              </a:rPr>
              <a:t> debe ser el del bucle </a:t>
            </a:r>
            <a:r>
              <a:rPr b="1" sz="3200">
                <a:solidFill>
                  <a:srgbClr val="FFFFFF"/>
                </a:solidFill>
                <a:latin typeface="Helvetica Neue"/>
              </a:rPr>
              <a:t>más interno</a:t>
            </a:r>
            <a:r>
              <a:rPr b="0" sz="3200">
                <a:solidFill>
                  <a:srgbClr val="FFFFFF"/>
                </a:solidFill>
                <a:latin typeface="Helvetica Neue"/>
              </a:rPr>
              <a:t>.</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Cambiar el orden de dos bucles anidados es la optimización más barata que existe en cómputo con matrices.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Demostración en vivo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23_orden_de_recorrido.cpp</a:t>
            </a:r>
          </a:p>
        </p:txBody>
      </p:sp>
      <p:sp>
        <p:nvSpPr>
          <p:cNvPr id="5" name="Rounded Rectangle 4"/>
          <p:cNvSpPr/>
          <p:nvPr/>
        </p:nvSpPr>
        <p:spPr>
          <a:xfrm>
            <a:off x="777240" y="1874519"/>
            <a:ext cx="10637215" cy="758952"/>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47672"/>
            <a:ext cx="50292" cy="6126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020824"/>
            <a:ext cx="10225735" cy="484632"/>
          </a:xfrm>
          <a:prstGeom prst="rect">
            <a:avLst/>
          </a:prstGeom>
          <a:noFill/>
        </p:spPr>
        <p:txBody>
          <a:bodyPr wrap="square" lIns="0" rIns="0" tIns="0" bIns="0">
            <a:spAutoFit/>
          </a:bodyPr>
          <a:lstStyle/>
          <a:p>
            <a:pPr>
              <a:lnSpc>
                <a:spcPct val="106000"/>
              </a:lnSpc>
              <a:spcBef>
                <a:spcPts val="0"/>
              </a:spcBef>
            </a:pPr>
            <a:r>
              <a:rPr sz="1500" b="0">
                <a:solidFill>
                  <a:srgbClr val="1E2B33"/>
                </a:solidFill>
                <a:latin typeface="Menlo"/>
              </a:rPr>
              <a:t>clang++ -std=c++20 -O2 exposicion/src/23_orden_de_recorrido.cpp -o /tmp/recorrido</a:t>
            </a:r>
          </a:p>
          <a:p>
            <a:pPr>
              <a:lnSpc>
                <a:spcPct val="106000"/>
              </a:lnSpc>
              <a:spcBef>
                <a:spcPts val="0"/>
              </a:spcBef>
            </a:pPr>
            <a:r>
              <a:rPr sz="1500" b="0">
                <a:solidFill>
                  <a:srgbClr val="1E2B33"/>
                </a:solidFill>
                <a:latin typeface="Menlo"/>
              </a:rPr>
              <a:t>/tmp/recorrido</a:t>
            </a:r>
          </a:p>
        </p:txBody>
      </p:sp>
      <p:sp>
        <p:nvSpPr>
          <p:cNvPr id="8" name="TextBox 7"/>
          <p:cNvSpPr txBox="1"/>
          <p:nvPr/>
        </p:nvSpPr>
        <p:spPr>
          <a:xfrm>
            <a:off x="777240" y="2999232"/>
            <a:ext cx="10637215" cy="3218688"/>
          </a:xfrm>
          <a:prstGeom prst="rect">
            <a:avLst/>
          </a:prstGeom>
          <a:noFill/>
        </p:spPr>
        <p:txBody>
          <a:bodyPr wrap="square" lIns="0" rIns="0" tIns="0" bIns="0">
            <a:spAutoFit/>
          </a:bodyPr>
          <a:lstStyle/>
          <a:p>
            <a:pPr>
              <a:spcBef>
                <a:spcPts val="1000"/>
              </a:spcBef>
            </a:pPr>
            <a:r>
              <a:rPr sz="1800">
                <a:solidFill>
                  <a:srgbClr val="0B6E6E"/>
                </a:solidFill>
                <a:latin typeface="Helvetica Neue"/>
              </a:rPr>
              <a:t>→  </a:t>
            </a:r>
            <a:r>
              <a:rPr b="0" sz="1800">
                <a:solidFill>
                  <a:srgbClr val="2E3A46"/>
                </a:solidFill>
                <a:latin typeface="Helvetica Neue"/>
              </a:rPr>
              <a:t>Compilarlo </a:t>
            </a:r>
            <a:r>
              <a:rPr b="1" sz="1800">
                <a:solidFill>
                  <a:srgbClr val="142638"/>
                </a:solidFill>
                <a:latin typeface="Helvetica Neue"/>
              </a:rPr>
              <a:t>aparte con -O2</a:t>
            </a:r>
            <a:r>
              <a:rPr b="0" sz="1800">
                <a:solidFill>
                  <a:srgbClr val="2E3A46"/>
                </a:solidFill>
                <a:latin typeface="Helvetica Neue"/>
              </a:rPr>
              <a:t>: los sanitizadores distorsionan la medición.</a:t>
            </a:r>
          </a:p>
          <a:p>
            <a:pPr>
              <a:spcBef>
                <a:spcPts val="1000"/>
              </a:spcBef>
            </a:pPr>
            <a:r>
              <a:rPr sz="1800">
                <a:solidFill>
                  <a:srgbClr val="0B6E6E"/>
                </a:solidFill>
                <a:latin typeface="Helvetica Neue"/>
              </a:rPr>
              <a:t>→  </a:t>
            </a:r>
            <a:r>
              <a:rPr b="0" sz="1800">
                <a:solidFill>
                  <a:srgbClr val="2E3A46"/>
                </a:solidFill>
                <a:latin typeface="Helvetica Neue"/>
              </a:rPr>
              <a:t>Las dos sumas dan el mismo número.</a:t>
            </a:r>
          </a:p>
          <a:p>
            <a:pPr>
              <a:spcBef>
                <a:spcPts val="1000"/>
              </a:spcBef>
            </a:pPr>
            <a:r>
              <a:rPr sz="1800">
                <a:solidFill>
                  <a:srgbClr val="0B6E6E"/>
                </a:solidFill>
                <a:latin typeface="Helvetica Neue"/>
              </a:rPr>
              <a:t>→  </a:t>
            </a:r>
            <a:r>
              <a:rPr b="0" sz="1800">
                <a:solidFill>
                  <a:srgbClr val="2E3A46"/>
                </a:solidFill>
                <a:latin typeface="Helvetica Neue"/>
              </a:rPr>
              <a:t>La diferencia de tiempo es de un orden de magnitud.</a:t>
            </a:r>
          </a:p>
        </p:txBody>
      </p:sp>
      <p:sp>
        <p:nvSpPr>
          <p:cNvPr id="9" name="TextBox 8"/>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777240" y="1920240"/>
            <a:ext cx="1828800" cy="1280160"/>
          </a:xfrm>
          <a:prstGeom prst="rect">
            <a:avLst/>
          </a:prstGeom>
          <a:noFill/>
        </p:spPr>
        <p:txBody>
          <a:bodyPr wrap="square" lIns="0" rIns="0" tIns="0" bIns="0">
            <a:spAutoFit/>
          </a:bodyPr>
          <a:lstStyle/>
          <a:p>
            <a:r>
              <a:rPr sz="7200" b="1">
                <a:solidFill>
                  <a:srgbClr val="0B6E6E"/>
                </a:solidFill>
                <a:latin typeface="Helvetica Neue"/>
              </a:rPr>
              <a:t>10</a:t>
            </a:r>
          </a:p>
        </p:txBody>
      </p:sp>
      <p:sp>
        <p:nvSpPr>
          <p:cNvPr id="3" name="TextBox 2"/>
          <p:cNvSpPr txBox="1"/>
          <p:nvPr/>
        </p:nvSpPr>
        <p:spPr>
          <a:xfrm>
            <a:off x="777240" y="3063240"/>
            <a:ext cx="10637215" cy="1097280"/>
          </a:xfrm>
          <a:prstGeom prst="rect">
            <a:avLst/>
          </a:prstGeom>
          <a:noFill/>
        </p:spPr>
        <p:txBody>
          <a:bodyPr wrap="square" lIns="0" rIns="0" tIns="0" bIns="0">
            <a:spAutoFit/>
          </a:bodyPr>
          <a:lstStyle/>
          <a:p>
            <a:r>
              <a:rPr b="1" sz="3800">
                <a:solidFill>
                  <a:srgbClr val="FFFFFF"/>
                </a:solidFill>
                <a:latin typeface="Helvetica Neue"/>
              </a:rPr>
              <a:t>Qué usar en lugar del arreglo crudo</a:t>
            </a:r>
          </a:p>
        </p:txBody>
      </p:sp>
      <p:sp>
        <p:nvSpPr>
          <p:cNvPr id="4" name="TextBox 3"/>
          <p:cNvSpPr txBox="1"/>
          <p:nvPr/>
        </p:nvSpPr>
        <p:spPr>
          <a:xfrm>
            <a:off x="777240" y="4206240"/>
            <a:ext cx="10637215" cy="457200"/>
          </a:xfrm>
          <a:prstGeom prst="rect">
            <a:avLst/>
          </a:prstGeom>
          <a:noFill/>
        </p:spPr>
        <p:txBody>
          <a:bodyPr wrap="square" lIns="0" rIns="0" tIns="0" bIns="0">
            <a:spAutoFit/>
          </a:bodyPr>
          <a:lstStyle/>
          <a:p>
            <a:r>
              <a:rPr b="0" sz="1600">
                <a:solidFill>
                  <a:srgbClr val="9FC4C4"/>
                </a:solidFill>
                <a:latin typeface="Helvetica Neue"/>
              </a:rPr>
              <a:t>10 minutos</a:t>
            </a:r>
          </a:p>
        </p:txBody>
      </p:sp>
      <p:sp>
        <p:nvSpPr>
          <p:cNvPr id="5" name="TextBox 4"/>
          <p:cNvSpPr txBox="1"/>
          <p:nvPr/>
        </p:nvSpPr>
        <p:spPr>
          <a:xfrm>
            <a:off x="777240" y="4800600"/>
            <a:ext cx="10637215" cy="1371600"/>
          </a:xfrm>
          <a:prstGeom prst="rect">
            <a:avLst/>
          </a:prstGeom>
          <a:noFill/>
        </p:spPr>
        <p:txBody>
          <a:bodyPr wrap="square" lIns="0" rIns="0" tIns="0" bIns="0">
            <a:spAutoFit/>
          </a:bodyPr>
          <a:lstStyle/>
          <a:p>
            <a:pPr>
              <a:spcBef>
                <a:spcPts val="500"/>
              </a:spcBef>
            </a:pPr>
            <a:r>
              <a:rPr b="0" sz="1500">
                <a:solidFill>
                  <a:srgbClr val="C5D0D8"/>
                </a:solidFill>
                <a:latin typeface="Helvetica Neue"/>
              </a:rPr>
              <a:t>·  std::array, std::vector, std::span</a:t>
            </a:r>
          </a:p>
          <a:p>
            <a:pPr>
              <a:spcBef>
                <a:spcPts val="500"/>
              </a:spcBef>
            </a:pPr>
            <a:r>
              <a:rPr b="0" sz="1500">
                <a:solidFill>
                  <a:srgbClr val="C5D0D8"/>
                </a:solidFill>
                <a:latin typeface="Helvetica Neue"/>
              </a:rPr>
              <a:t>·  Matrices modernas</a:t>
            </a:r>
          </a:p>
          <a:p>
            <a:pPr>
              <a:spcBef>
                <a:spcPts val="500"/>
              </a:spcBef>
            </a:pPr>
            <a:r>
              <a:rPr b="0" sz="1500">
                <a:solidFill>
                  <a:srgbClr val="C5D0D8"/>
                </a:solidFill>
                <a:latin typeface="Helvetica Neue"/>
              </a:rPr>
              <a:t>·  Cierre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Las tres herramientas</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3" cy="1673351"/>
        </p:xfrm>
        <a:graphic>
          <a:graphicData uri="http://schemas.openxmlformats.org/drawingml/2006/table">
            <a:tbl>
              <a:tblPr firstRow="1" bandRow="1">
                <a:tableStyleId>{5C22544A-7EE6-4342-B048-85BDC9FD1C3A}</a:tableStyleId>
              </a:tblPr>
              <a:tblGrid>
                <a:gridCol w="2454741"/>
                <a:gridCol w="3272989"/>
                <a:gridCol w="4909483"/>
              </a:tblGrid>
              <a:tr h="418337">
                <a:tc>
                  <a:txBody>
                    <a:bodyPr/>
                    <a:lstStyle/>
                    <a:p>
                      <a:r>
                        <a:rPr b="1" sz="1400">
                          <a:solidFill>
                            <a:srgbClr val="FFFFFF"/>
                          </a:solidFill>
                          <a:latin typeface="Helvetica Neue"/>
                        </a:rPr>
                        <a:t>Herramienta</a:t>
                      </a:r>
                    </a:p>
                  </a:txBody>
                  <a:tcPr anchor="ctr" marL="109728" marR="109728">
                    <a:solidFill>
                      <a:srgbClr val="142638"/>
                    </a:solidFill>
                  </a:tcPr>
                </a:tc>
                <a:tc>
                  <a:txBody>
                    <a:bodyPr/>
                    <a:lstStyle/>
                    <a:p>
                      <a:r>
                        <a:rPr b="1" sz="1400">
                          <a:solidFill>
                            <a:srgbClr val="FFFFFF"/>
                          </a:solidFill>
                          <a:latin typeface="Helvetica Neue"/>
                        </a:rPr>
                        <a:t>Cuándo</a:t>
                      </a:r>
                    </a:p>
                  </a:txBody>
                  <a:tcPr anchor="ctr" marL="109728" marR="109728">
                    <a:solidFill>
                      <a:srgbClr val="142638"/>
                    </a:solidFill>
                  </a:tcPr>
                </a:tc>
                <a:tc>
                  <a:txBody>
                    <a:bodyPr/>
                    <a:lstStyle/>
                    <a:p>
                      <a:r>
                        <a:rPr b="1" sz="1400">
                          <a:solidFill>
                            <a:srgbClr val="FFFFFF"/>
                          </a:solidFill>
                          <a:latin typeface="Helvetica Neue"/>
                        </a:rPr>
                        <a:t>Qué aporta</a:t>
                      </a:r>
                    </a:p>
                  </a:txBody>
                  <a:tcPr anchor="ctr" marL="109728" marR="109728">
                    <a:solidFill>
                      <a:srgbClr val="142638"/>
                    </a:solidFill>
                  </a:tcPr>
                </a:tc>
              </a:tr>
              <a:tr h="418337">
                <a:tc>
                  <a:txBody>
                    <a:bodyPr/>
                    <a:lstStyle/>
                    <a:p>
                      <a:r>
                        <a:rPr sz="1300">
                          <a:solidFill>
                            <a:srgbClr val="1E2B33"/>
                          </a:solidFill>
                          <a:latin typeface="Menlo"/>
                        </a:rPr>
                        <a:t>std::array&lt;T,N&gt;</a:t>
                      </a:r>
                    </a:p>
                  </a:txBody>
                  <a:tcPr anchor="ctr" marL="109728" marR="109728">
                    <a:solidFill>
                      <a:srgbClr val="FFFFFF"/>
                    </a:solidFill>
                  </a:tcPr>
                </a:tc>
                <a:tc>
                  <a:txBody>
                    <a:bodyPr/>
                    <a:lstStyle/>
                    <a:p>
                      <a:r>
                        <a:rPr b="0" sz="1400">
                          <a:solidFill>
                            <a:srgbClr val="2E3A46"/>
                          </a:solidFill>
                          <a:latin typeface="Helvetica Neue"/>
                        </a:rPr>
                        <a:t>tamaño fijo, conocido al compilar</a:t>
                      </a:r>
                    </a:p>
                  </a:txBody>
                  <a:tcPr anchor="ctr" marL="109728" marR="109728">
                    <a:solidFill>
                      <a:srgbClr val="FFFFFF"/>
                    </a:solidFill>
                  </a:tcPr>
                </a:tc>
                <a:tc>
                  <a:txBody>
                    <a:bodyPr/>
                    <a:lstStyle/>
                    <a:p>
                      <a:r>
                        <a:rPr b="0" sz="1400">
                          <a:solidFill>
                            <a:srgbClr val="2E3A46"/>
                          </a:solidFill>
                          <a:latin typeface="Helvetica Neue"/>
                        </a:rPr>
                        <a:t>no decae, conoce su tamaño, se copia y </a:t>
                      </a:r>
                      <a:r>
                        <a:rPr b="1" sz="1400">
                          <a:solidFill>
                            <a:srgbClr val="142638"/>
                          </a:solidFill>
                          <a:latin typeface="Helvetica Neue"/>
                        </a:rPr>
                        <a:t>se devuelve</a:t>
                      </a:r>
                    </a:p>
                  </a:txBody>
                  <a:tcPr anchor="ctr" marL="109728" marR="109728">
                    <a:solidFill>
                      <a:srgbClr val="FFFFFF"/>
                    </a:solidFill>
                  </a:tcPr>
                </a:tc>
              </a:tr>
              <a:tr h="418337">
                <a:tc>
                  <a:txBody>
                    <a:bodyPr/>
                    <a:lstStyle/>
                    <a:p>
                      <a:r>
                        <a:rPr sz="1300">
                          <a:solidFill>
                            <a:srgbClr val="1E2B33"/>
                          </a:solidFill>
                          <a:latin typeface="Menlo"/>
                        </a:rPr>
                        <a:t>std::vector&lt;T&gt;</a:t>
                      </a:r>
                    </a:p>
                  </a:txBody>
                  <a:tcPr anchor="ctr" marL="109728" marR="109728">
                    <a:solidFill>
                      <a:srgbClr val="F2F4F3"/>
                    </a:solidFill>
                  </a:tcPr>
                </a:tc>
                <a:tc>
                  <a:txBody>
                    <a:bodyPr/>
                    <a:lstStyle/>
                    <a:p>
                      <a:r>
                        <a:rPr b="0" sz="1400">
                          <a:solidFill>
                            <a:srgbClr val="2E3A46"/>
                          </a:solidFill>
                          <a:latin typeface="Helvetica Neue"/>
                        </a:rPr>
                        <a:t>tamaño decidido al ejecutar</a:t>
                      </a:r>
                    </a:p>
                  </a:txBody>
                  <a:tcPr anchor="ctr" marL="109728" marR="109728">
                    <a:solidFill>
                      <a:srgbClr val="F2F4F3"/>
                    </a:solidFill>
                  </a:tcPr>
                </a:tc>
                <a:tc>
                  <a:txBody>
                    <a:bodyPr/>
                    <a:lstStyle/>
                    <a:p>
                      <a:r>
                        <a:rPr b="0" sz="1400">
                          <a:solidFill>
                            <a:srgbClr val="2E3A46"/>
                          </a:solidFill>
                          <a:latin typeface="Helvetica Neue"/>
                        </a:rPr>
                        <a:t>crece, se redimensiona, libera sola su memoria</a:t>
                      </a:r>
                    </a:p>
                  </a:txBody>
                  <a:tcPr anchor="ctr" marL="109728" marR="109728">
                    <a:solidFill>
                      <a:srgbClr val="F2F4F3"/>
                    </a:solidFill>
                  </a:tcPr>
                </a:tc>
              </a:tr>
              <a:tr h="418340">
                <a:tc>
                  <a:txBody>
                    <a:bodyPr/>
                    <a:lstStyle/>
                    <a:p>
                      <a:r>
                        <a:rPr sz="1300">
                          <a:solidFill>
                            <a:srgbClr val="1E2B33"/>
                          </a:solidFill>
                          <a:latin typeface="Menlo"/>
                        </a:rPr>
                        <a:t>std::span&lt;T&gt;</a:t>
                      </a:r>
                    </a:p>
                  </a:txBody>
                  <a:tcPr anchor="ctr" marL="109728" marR="109728">
                    <a:solidFill>
                      <a:srgbClr val="FFFFFF"/>
                    </a:solidFill>
                  </a:tcPr>
                </a:tc>
                <a:tc>
                  <a:txBody>
                    <a:bodyPr/>
                    <a:lstStyle/>
                    <a:p>
                      <a:r>
                        <a:rPr b="1" sz="1400">
                          <a:solidFill>
                            <a:srgbClr val="142638"/>
                          </a:solidFill>
                          <a:latin typeface="Helvetica Neue"/>
                        </a:rPr>
                        <a:t>parámetros</a:t>
                      </a:r>
                      <a:r>
                        <a:rPr b="0" sz="1400">
                          <a:solidFill>
                            <a:srgbClr val="2E3A46"/>
                          </a:solidFill>
                          <a:latin typeface="Helvetica Neue"/>
                        </a:rPr>
                        <a:t> de función</a:t>
                      </a:r>
                    </a:p>
                  </a:txBody>
                  <a:tcPr anchor="ctr" marL="109728" marR="109728">
                    <a:solidFill>
                      <a:srgbClr val="FFFFFF"/>
                    </a:solidFill>
                  </a:tcPr>
                </a:tc>
                <a:tc>
                  <a:txBody>
                    <a:bodyPr/>
                    <a:lstStyle/>
                    <a:p>
                      <a:r>
                        <a:rPr b="0" sz="1400">
                          <a:solidFill>
                            <a:srgbClr val="2E3A46"/>
                          </a:solidFill>
                          <a:latin typeface="Helvetica Neue"/>
                        </a:rPr>
                        <a:t>dirección + tamaño; una firma para los tres</a:t>
                      </a:r>
                    </a:p>
                  </a:txBody>
                  <a:tcPr anchor="ctr" marL="109728" marR="109728">
                    <a:solidFill>
                      <a:srgbClr val="FFFFFF"/>
                    </a:solidFill>
                  </a:tcPr>
                </a:tc>
              </a:tr>
            </a:tbl>
          </a:graphicData>
        </a:graphic>
      </p:graphicFrame>
      <p:sp>
        <p:nvSpPr>
          <p:cNvPr id="5" name="TextBox 4"/>
          <p:cNvSpPr txBox="1"/>
          <p:nvPr/>
        </p:nvSpPr>
        <p:spPr>
          <a:xfrm>
            <a:off x="777240" y="3730752"/>
            <a:ext cx="10637215" cy="548640"/>
          </a:xfrm>
          <a:prstGeom prst="rect">
            <a:avLst/>
          </a:prstGeom>
          <a:noFill/>
        </p:spPr>
        <p:txBody>
          <a:bodyPr wrap="square" lIns="0" rIns="0" tIns="0" bIns="0">
            <a:spAutoFit/>
          </a:bodyPr>
          <a:lstStyle/>
          <a:p>
            <a:r>
              <a:rPr b="0" sz="1500">
                <a:solidFill>
                  <a:srgbClr val="0B6E6E"/>
                </a:solidFill>
                <a:latin typeface="Helvetica Neue"/>
              </a:rPr>
              <a:t>std::array no tiene ningún sobrecosto: sizeof(std::array&lt;int,4&gt;) == sizeof(int[4]) == 16.</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Matrices en C++ moderno</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4" cy="2057400"/>
        </p:xfrm>
        <a:graphic>
          <a:graphicData uri="http://schemas.openxmlformats.org/drawingml/2006/table">
            <a:tbl>
              <a:tblPr firstRow="1" bandRow="1">
                <a:tableStyleId>{5C22544A-7EE6-4342-B048-85BDC9FD1C3A}</a:tableStyleId>
              </a:tblPr>
              <a:tblGrid>
                <a:gridCol w="3545738"/>
                <a:gridCol w="1418295"/>
                <a:gridCol w="2127443"/>
                <a:gridCol w="3545738"/>
              </a:tblGrid>
              <a:tr h="411480">
                <a:tc>
                  <a:txBody>
                    <a:bodyPr/>
                    <a:lstStyle/>
                    <a:p>
                      <a:r>
                        <a:rPr b="1" sz="1300">
                          <a:solidFill>
                            <a:srgbClr val="FFFFFF"/>
                          </a:solidFill>
                          <a:latin typeface="Helvetica Neue"/>
                        </a:rPr>
                        <a:t>Opción</a:t>
                      </a:r>
                    </a:p>
                  </a:txBody>
                  <a:tcPr anchor="ctr" marL="109728" marR="109728">
                    <a:solidFill>
                      <a:srgbClr val="142638"/>
                    </a:solidFill>
                  </a:tcPr>
                </a:tc>
                <a:tc>
                  <a:txBody>
                    <a:bodyPr/>
                    <a:lstStyle/>
                    <a:p>
                      <a:r>
                        <a:rPr b="1" sz="1300">
                          <a:solidFill>
                            <a:srgbClr val="FFFFFF"/>
                          </a:solidFill>
                          <a:latin typeface="Helvetica Neue"/>
                        </a:rPr>
                        <a:t>Contigua</a:t>
                      </a:r>
                    </a:p>
                  </a:txBody>
                  <a:tcPr anchor="ctr" marL="109728" marR="109728">
                    <a:solidFill>
                      <a:srgbClr val="142638"/>
                    </a:solidFill>
                  </a:tcPr>
                </a:tc>
                <a:tc>
                  <a:txBody>
                    <a:bodyPr/>
                    <a:lstStyle/>
                    <a:p>
                      <a:r>
                        <a:rPr b="1" sz="1300">
                          <a:solidFill>
                            <a:srgbClr val="FFFFFF"/>
                          </a:solidFill>
                          <a:latin typeface="Helvetica Neue"/>
                        </a:rPr>
                        <a:t>Dimensiones</a:t>
                      </a:r>
                    </a:p>
                  </a:txBody>
                  <a:tcPr anchor="ctr" marL="109728" marR="109728">
                    <a:solidFill>
                      <a:srgbClr val="142638"/>
                    </a:solidFill>
                  </a:tcPr>
                </a:tc>
                <a:tc>
                  <a:txBody>
                    <a:bodyPr/>
                    <a:lstStyle/>
                    <a:p>
                      <a:r>
                        <a:rPr b="1" sz="1300">
                          <a:solidFill>
                            <a:srgbClr val="FFFFFF"/>
                          </a:solidFill>
                          <a:latin typeface="Helvetica Neue"/>
                        </a:rPr>
                        <a:t>Nota</a:t>
                      </a:r>
                    </a:p>
                  </a:txBody>
                  <a:tcPr anchor="ctr" marL="109728" marR="109728">
                    <a:solidFill>
                      <a:srgbClr val="142638"/>
                    </a:solidFill>
                  </a:tcPr>
                </a:tc>
              </a:tr>
              <a:tr h="411480">
                <a:tc>
                  <a:txBody>
                    <a:bodyPr/>
                    <a:lstStyle/>
                    <a:p>
                      <a:r>
                        <a:rPr sz="1200">
                          <a:solidFill>
                            <a:srgbClr val="1E2B33"/>
                          </a:solidFill>
                          <a:latin typeface="Menlo"/>
                        </a:rPr>
                        <a:t>std::array&lt;std::array&lt;T,C&gt;,F&gt;</a:t>
                      </a:r>
                    </a:p>
                  </a:txBody>
                  <a:tcPr anchor="ctr" marL="109728" marR="109728">
                    <a:solidFill>
                      <a:srgbClr val="FFFFFF"/>
                    </a:solidFill>
                  </a:tcPr>
                </a:tc>
                <a:tc>
                  <a:txBody>
                    <a:bodyPr/>
                    <a:lstStyle/>
                    <a:p>
                      <a:r>
                        <a:rPr b="0" sz="1300">
                          <a:solidFill>
                            <a:srgbClr val="2E3A46"/>
                          </a:solidFill>
                          <a:latin typeface="Helvetica Neue"/>
                        </a:rPr>
                        <a:t>sí</a:t>
                      </a:r>
                    </a:p>
                  </a:txBody>
                  <a:tcPr anchor="ctr" marL="109728" marR="109728">
                    <a:solidFill>
                      <a:srgbClr val="FFFFFF"/>
                    </a:solidFill>
                  </a:tcPr>
                </a:tc>
                <a:tc>
                  <a:txBody>
                    <a:bodyPr/>
                    <a:lstStyle/>
                    <a:p>
                      <a:r>
                        <a:rPr b="0" sz="1300">
                          <a:solidFill>
                            <a:srgbClr val="2E3A46"/>
                          </a:solidFill>
                          <a:latin typeface="Helvetica Neue"/>
                        </a:rPr>
                        <a:t>fijas</a:t>
                      </a:r>
                    </a:p>
                  </a:txBody>
                  <a:tcPr anchor="ctr" marL="109728" marR="109728">
                    <a:solidFill>
                      <a:srgbClr val="FFFFFF"/>
                    </a:solidFill>
                  </a:tcPr>
                </a:tc>
                <a:tc>
                  <a:txBody>
                    <a:bodyPr/>
                    <a:lstStyle/>
                    <a:p>
                      <a:r>
                        <a:rPr b="0" sz="1300">
                          <a:solidFill>
                            <a:srgbClr val="2E3A46"/>
                          </a:solidFill>
                          <a:latin typeface="Helvetica Neue"/>
                        </a:rPr>
                        <a:t>equivalente de </a:t>
                      </a:r>
                      <a:r>
                        <a:rPr sz="1200">
                          <a:solidFill>
                            <a:srgbClr val="0B6E6E"/>
                          </a:solidFill>
                          <a:latin typeface="Menlo"/>
                        </a:rPr>
                        <a:t>T m[F][C]</a:t>
                      </a:r>
                    </a:p>
                  </a:txBody>
                  <a:tcPr anchor="ctr" marL="109728" marR="109728">
                    <a:solidFill>
                      <a:srgbClr val="FFFFFF"/>
                    </a:solidFill>
                  </a:tcPr>
                </a:tc>
              </a:tr>
              <a:tr h="411480">
                <a:tc>
                  <a:txBody>
                    <a:bodyPr/>
                    <a:lstStyle/>
                    <a:p>
                      <a:r>
                        <a:rPr sz="1200">
                          <a:solidFill>
                            <a:srgbClr val="1E2B33"/>
                          </a:solidFill>
                          <a:latin typeface="Menlo"/>
                        </a:rPr>
                        <a:t>std::vector&lt;T&gt;` aplanado + `i*C+j</a:t>
                      </a:r>
                    </a:p>
                  </a:txBody>
                  <a:tcPr anchor="ctr" marL="109728" marR="109728">
                    <a:solidFill>
                      <a:srgbClr val="F2F4F3"/>
                    </a:solidFill>
                  </a:tcPr>
                </a:tc>
                <a:tc>
                  <a:txBody>
                    <a:bodyPr/>
                    <a:lstStyle/>
                    <a:p>
                      <a:r>
                        <a:rPr b="0" sz="1300">
                          <a:solidFill>
                            <a:srgbClr val="2E3A46"/>
                          </a:solidFill>
                          <a:latin typeface="Helvetica Neue"/>
                        </a:rPr>
                        <a:t>sí</a:t>
                      </a:r>
                    </a:p>
                  </a:txBody>
                  <a:tcPr anchor="ctr" marL="109728" marR="109728">
                    <a:solidFill>
                      <a:srgbClr val="F2F4F3"/>
                    </a:solidFill>
                  </a:tcPr>
                </a:tc>
                <a:tc>
                  <a:txBody>
                    <a:bodyPr/>
                    <a:lstStyle/>
                    <a:p>
                      <a:r>
                        <a:rPr b="0" sz="1300">
                          <a:solidFill>
                            <a:srgbClr val="2E3A46"/>
                          </a:solidFill>
                          <a:latin typeface="Helvetica Neue"/>
                        </a:rPr>
                        <a:t>en ejecución</a:t>
                      </a:r>
                    </a:p>
                  </a:txBody>
                  <a:tcPr anchor="ctr" marL="109728" marR="109728">
                    <a:solidFill>
                      <a:srgbClr val="F2F4F3"/>
                    </a:solidFill>
                  </a:tcPr>
                </a:tc>
                <a:tc>
                  <a:txBody>
                    <a:bodyPr/>
                    <a:lstStyle/>
                    <a:p>
                      <a:r>
                        <a:rPr b="0" sz="1300">
                          <a:solidFill>
                            <a:srgbClr val="2E3A46"/>
                          </a:solidFill>
                          <a:latin typeface="Helvetica Neue"/>
                        </a:rPr>
                        <a:t>lo que usan las bibliotecas numéricas</a:t>
                      </a:r>
                    </a:p>
                  </a:txBody>
                  <a:tcPr anchor="ctr" marL="109728" marR="109728">
                    <a:solidFill>
                      <a:srgbClr val="F2F4F3"/>
                    </a:solidFill>
                  </a:tcPr>
                </a:tc>
              </a:tr>
              <a:tr h="411480">
                <a:tc>
                  <a:txBody>
                    <a:bodyPr/>
                    <a:lstStyle/>
                    <a:p>
                      <a:r>
                        <a:rPr sz="1200">
                          <a:solidFill>
                            <a:srgbClr val="1E2B33"/>
                          </a:solidFill>
                          <a:latin typeface="Menlo"/>
                        </a:rPr>
                        <a:t>std::vector&lt;std::vector&lt;T&gt;&gt;</a:t>
                      </a:r>
                    </a:p>
                  </a:txBody>
                  <a:tcPr anchor="ctr" marL="109728" marR="109728">
                    <a:solidFill>
                      <a:srgbClr val="FFFFFF"/>
                    </a:solidFill>
                  </a:tcPr>
                </a:tc>
                <a:tc>
                  <a:txBody>
                    <a:bodyPr/>
                    <a:lstStyle/>
                    <a:p>
                      <a:r>
                        <a:rPr b="1" sz="1300">
                          <a:solidFill>
                            <a:srgbClr val="142638"/>
                          </a:solidFill>
                          <a:latin typeface="Helvetica Neue"/>
                        </a:rPr>
                        <a:t>no</a:t>
                      </a:r>
                    </a:p>
                  </a:txBody>
                  <a:tcPr anchor="ctr" marL="109728" marR="109728">
                    <a:solidFill>
                      <a:srgbClr val="FFFFFF"/>
                    </a:solidFill>
                  </a:tcPr>
                </a:tc>
                <a:tc>
                  <a:txBody>
                    <a:bodyPr/>
                    <a:lstStyle/>
                    <a:p>
                      <a:r>
                        <a:rPr b="0" sz="1300">
                          <a:solidFill>
                            <a:srgbClr val="2E3A46"/>
                          </a:solidFill>
                          <a:latin typeface="Helvetica Neue"/>
                        </a:rPr>
                        <a:t>en ejecución</a:t>
                      </a:r>
                    </a:p>
                  </a:txBody>
                  <a:tcPr anchor="ctr" marL="109728" marR="109728">
                    <a:solidFill>
                      <a:srgbClr val="FFFFFF"/>
                    </a:solidFill>
                  </a:tcPr>
                </a:tc>
                <a:tc>
                  <a:txBody>
                    <a:bodyPr/>
                    <a:lstStyle/>
                    <a:p>
                      <a:r>
                        <a:rPr b="0" sz="1300">
                          <a:solidFill>
                            <a:srgbClr val="2E3A46"/>
                          </a:solidFill>
                          <a:latin typeface="Helvetica Neue"/>
                        </a:rPr>
                        <a:t>cómodo pero </a:t>
                      </a:r>
                      <a:r>
                        <a:rPr b="1" sz="1300">
                          <a:solidFill>
                            <a:srgbClr val="142638"/>
                          </a:solidFill>
                          <a:latin typeface="Helvetica Neue"/>
                        </a:rPr>
                        <a:t>lento</a:t>
                      </a:r>
                      <a:r>
                        <a:rPr b="0" sz="1300">
                          <a:solidFill>
                            <a:srgbClr val="2E3A46"/>
                          </a:solidFill>
                          <a:latin typeface="Helvetica Neue"/>
                        </a:rPr>
                        <a:t>: cada fila es un bloque suelto</a:t>
                      </a:r>
                    </a:p>
                  </a:txBody>
                  <a:tcPr anchor="ctr" marL="109728" marR="109728">
                    <a:solidFill>
                      <a:srgbClr val="FFFFFF"/>
                    </a:solidFill>
                  </a:tcPr>
                </a:tc>
              </a:tr>
              <a:tr h="411480">
                <a:tc>
                  <a:txBody>
                    <a:bodyPr/>
                    <a:lstStyle/>
                    <a:p>
                      <a:r>
                        <a:rPr sz="1200">
                          <a:solidFill>
                            <a:srgbClr val="0B6E6E"/>
                          </a:solidFill>
                          <a:latin typeface="Menlo"/>
                        </a:rPr>
                        <a:t>std::mdspan</a:t>
                      </a:r>
                      <a:r>
                        <a:rPr b="0" sz="1300">
                          <a:solidFill>
                            <a:srgbClr val="2E3A46"/>
                          </a:solidFill>
                          <a:latin typeface="Helvetica Neue"/>
                        </a:rPr>
                        <a:t> (C++23)</a:t>
                      </a:r>
                    </a:p>
                  </a:txBody>
                  <a:tcPr anchor="ctr" marL="109728" marR="109728">
                    <a:solidFill>
                      <a:srgbClr val="F2F4F3"/>
                    </a:solidFill>
                  </a:tcPr>
                </a:tc>
                <a:tc>
                  <a:txBody>
                    <a:bodyPr/>
                    <a:lstStyle/>
                    <a:p>
                      <a:r>
                        <a:rPr b="0" sz="1300">
                          <a:solidFill>
                            <a:srgbClr val="2E3A46"/>
                          </a:solidFill>
                          <a:latin typeface="Helvetica Neue"/>
                        </a:rPr>
                        <a:t>sí</a:t>
                      </a:r>
                    </a:p>
                  </a:txBody>
                  <a:tcPr anchor="ctr" marL="109728" marR="109728">
                    <a:solidFill>
                      <a:srgbClr val="F2F4F3"/>
                    </a:solidFill>
                  </a:tcPr>
                </a:tc>
                <a:tc>
                  <a:txBody>
                    <a:bodyPr/>
                    <a:lstStyle/>
                    <a:p>
                      <a:r>
                        <a:rPr b="0" sz="1300">
                          <a:solidFill>
                            <a:srgbClr val="2E3A46"/>
                          </a:solidFill>
                          <a:latin typeface="Helvetica Neue"/>
                        </a:rPr>
                        <a:t>en ejecución</a:t>
                      </a:r>
                    </a:p>
                  </a:txBody>
                  <a:tcPr anchor="ctr" marL="109728" marR="109728">
                    <a:solidFill>
                      <a:srgbClr val="F2F4F3"/>
                    </a:solidFill>
                  </a:tcPr>
                </a:tc>
                <a:tc>
                  <a:txBody>
                    <a:bodyPr/>
                    <a:lstStyle/>
                    <a:p>
                      <a:r>
                        <a:rPr b="0" sz="1300">
                          <a:solidFill>
                            <a:srgbClr val="2E3A46"/>
                          </a:solidFill>
                          <a:latin typeface="Helvetica Neue"/>
                        </a:rPr>
                        <a:t>vista multidimensional sobre un bloque lineal</a:t>
                      </a:r>
                    </a:p>
                  </a:txBody>
                  <a:tcPr anchor="ctr" marL="109728" marR="109728">
                    <a:solidFill>
                      <a:srgbClr val="F2F4F3"/>
                    </a:solidFill>
                  </a:tcPr>
                </a:tc>
              </a:tr>
            </a:tbl>
          </a:graphicData>
        </a:graphic>
      </p:graphicFrame>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Una matriz que reúne todo lo visto hoy</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28800"/>
            <a:ext cx="10637215" cy="3712464"/>
          </a:xfrm>
          <a:prstGeom prst="roundRect">
            <a:avLst>
              <a:gd name="adj" fmla="val 3000"/>
            </a:avLst>
          </a:prstGeom>
          <a:solidFill>
            <a:srgbClr val="F0F2F1"/>
          </a:solidFill>
          <a:ln w="9525">
            <a:solidFill>
              <a:srgbClr val="DD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01952"/>
            <a:ext cx="50292" cy="356616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75104"/>
            <a:ext cx="10225735" cy="3438144"/>
          </a:xfrm>
          <a:prstGeom prst="rect">
            <a:avLst/>
          </a:prstGeom>
          <a:noFill/>
        </p:spPr>
        <p:txBody>
          <a:bodyPr wrap="square" lIns="0" rIns="0" tIns="0" bIns="0">
            <a:spAutoFit/>
          </a:bodyPr>
          <a:lstStyle/>
          <a:p>
            <a:pPr>
              <a:lnSpc>
                <a:spcPct val="106000"/>
              </a:lnSpc>
              <a:spcBef>
                <a:spcPts val="0"/>
              </a:spcBef>
            </a:pPr>
            <a:r>
              <a:rPr sz="1300" b="0">
                <a:solidFill>
                  <a:srgbClr val="1E2B33"/>
                </a:solidFill>
                <a:latin typeface="Menlo"/>
              </a:rPr>
              <a:t>class Matriz {</a:t>
            </a:r>
          </a:p>
          <a:p>
            <a:pPr>
              <a:lnSpc>
                <a:spcPct val="106000"/>
              </a:lnSpc>
              <a:spcBef>
                <a:spcPts val="0"/>
              </a:spcBef>
            </a:pPr>
            <a:r>
              <a:rPr sz="1300" b="0">
                <a:solidFill>
                  <a:srgbClr val="1E2B33"/>
                </a:solidFill>
                <a:latin typeface="Menlo"/>
              </a:rPr>
              <a:t>public:</a:t>
            </a:r>
          </a:p>
          <a:p>
            <a:pPr>
              <a:lnSpc>
                <a:spcPct val="106000"/>
              </a:lnSpc>
              <a:spcBef>
                <a:spcPts val="0"/>
              </a:spcBef>
            </a:pPr>
            <a:r>
              <a:rPr sz="1300" b="0">
                <a:solidFill>
                  <a:srgbClr val="1E2B33"/>
                </a:solidFill>
                <a:latin typeface="Menlo"/>
              </a:rPr>
              <a:t>    Matriz(std::size_t filas, std::size_t columnas)</a:t>
            </a:r>
          </a:p>
          <a:p>
            <a:pPr>
              <a:lnSpc>
                <a:spcPct val="106000"/>
              </a:lnSpc>
              <a:spcBef>
                <a:spcPts val="0"/>
              </a:spcBef>
            </a:pPr>
            <a:r>
              <a:rPr sz="1300" b="0">
                <a:solidFill>
                  <a:srgbClr val="1E2B33"/>
                </a:solidFill>
                <a:latin typeface="Menlo"/>
              </a:rPr>
              <a:t>        : filas_(filas), columnas_(columnas),</a:t>
            </a:r>
          </a:p>
          <a:p>
            <a:pPr>
              <a:lnSpc>
                <a:spcPct val="106000"/>
              </a:lnSpc>
              <a:spcBef>
                <a:spcPts val="0"/>
              </a:spcBef>
            </a:pPr>
            <a:r>
              <a:rPr sz="1300" b="0">
                <a:solidFill>
                  <a:srgbClr val="1E2B33"/>
                </a:solidFill>
                <a:latin typeface="Menlo"/>
              </a:rPr>
              <a:t>          datos_(filas * columnas, 0.0) {}</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    double&amp; operator()(std::size_t i, std::size_t j)</a:t>
            </a:r>
          </a:p>
          <a:p>
            <a:pPr>
              <a:lnSpc>
                <a:spcPct val="106000"/>
              </a:lnSpc>
              <a:spcBef>
                <a:spcPts val="0"/>
              </a:spcBef>
            </a:pPr>
            <a:r>
              <a:rPr sz="1300" b="0">
                <a:solidFill>
                  <a:srgbClr val="1E2B33"/>
                </a:solidFill>
                <a:latin typeface="Menlo"/>
              </a:rPr>
              <a:t>        { return datos_[i * columnas_ + j]; }</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    double operator()(std::size_t i, std::size_t j) const</a:t>
            </a:r>
          </a:p>
          <a:p>
            <a:pPr>
              <a:lnSpc>
                <a:spcPct val="106000"/>
              </a:lnSpc>
              <a:spcBef>
                <a:spcPts val="0"/>
              </a:spcBef>
            </a:pPr>
            <a:r>
              <a:rPr sz="1300" b="0">
                <a:solidFill>
                  <a:srgbClr val="1E2B33"/>
                </a:solidFill>
                <a:latin typeface="Menlo"/>
              </a:rPr>
              <a:t>        { return datos_[i * columnas_ + j]; }</a:t>
            </a:r>
          </a:p>
          <a:p>
            <a:pPr>
              <a:lnSpc>
                <a:spcPct val="106000"/>
              </a:lnSpc>
              <a:spcBef>
                <a:spcPts val="0"/>
              </a:spcBef>
            </a:pPr>
            <a:r>
              <a:rPr sz="1300" b="0">
                <a:solidFill>
                  <a:srgbClr val="1E2B33"/>
                </a:solidFill>
                <a:latin typeface="Menlo"/>
              </a:rPr>
              <a:t> </a:t>
            </a:r>
          </a:p>
          <a:p>
            <a:pPr>
              <a:lnSpc>
                <a:spcPct val="106000"/>
              </a:lnSpc>
              <a:spcBef>
                <a:spcPts val="0"/>
              </a:spcBef>
            </a:pPr>
            <a:r>
              <a:rPr sz="1300" b="0">
                <a:solidFill>
                  <a:srgbClr val="1E2B33"/>
                </a:solidFill>
                <a:latin typeface="Menlo"/>
              </a:rPr>
              <a:t>private:</a:t>
            </a:r>
          </a:p>
          <a:p>
            <a:pPr>
              <a:lnSpc>
                <a:spcPct val="106000"/>
              </a:lnSpc>
              <a:spcBef>
                <a:spcPts val="0"/>
              </a:spcBef>
            </a:pPr>
            <a:r>
              <a:rPr sz="1300" b="0">
                <a:solidFill>
                  <a:srgbClr val="1E2B33"/>
                </a:solidFill>
                <a:latin typeface="Menlo"/>
              </a:rPr>
              <a:t>    std::size_t filas_, columnas_;</a:t>
            </a:r>
          </a:p>
          <a:p>
            <a:pPr>
              <a:lnSpc>
                <a:spcPct val="106000"/>
              </a:lnSpc>
              <a:spcBef>
                <a:spcPts val="0"/>
              </a:spcBef>
            </a:pPr>
            <a:r>
              <a:rPr sz="1300" b="0">
                <a:solidFill>
                  <a:srgbClr val="1E2B33"/>
                </a:solidFill>
                <a:latin typeface="Menlo"/>
              </a:rPr>
              <a:t>    std::vector&lt;double&gt; datos_;      </a:t>
            </a:r>
            <a:r>
              <a:rPr sz="1300" b="0">
                <a:solidFill>
                  <a:srgbClr val="6B7A74"/>
                </a:solidFill>
                <a:latin typeface="Menlo"/>
              </a:rPr>
              <a:t>// contiguo, como el arreglo crudo</a:t>
            </a:r>
          </a:p>
          <a:p>
            <a:pPr>
              <a:lnSpc>
                <a:spcPct val="106000"/>
              </a:lnSpc>
              <a:spcBef>
                <a:spcPts val="0"/>
              </a:spcBef>
            </a:pPr>
            <a:r>
              <a:rPr sz="1300" b="0">
                <a:solidFill>
                  <a:srgbClr val="1E2B33"/>
                </a:solidFill>
                <a:latin typeface="Menlo"/>
              </a:rPr>
              <a:t>};</a:t>
            </a:r>
          </a:p>
        </p:txBody>
      </p:sp>
      <p:sp>
        <p:nvSpPr>
          <p:cNvPr id="7" name="TextBox 6"/>
          <p:cNvSpPr txBox="1"/>
          <p:nvPr/>
        </p:nvSpPr>
        <p:spPr>
          <a:xfrm>
            <a:off x="777240" y="5742432"/>
            <a:ext cx="10637215" cy="548640"/>
          </a:xfrm>
          <a:prstGeom prst="rect">
            <a:avLst/>
          </a:prstGeom>
          <a:noFill/>
        </p:spPr>
        <p:txBody>
          <a:bodyPr wrap="square" lIns="0" rIns="0" tIns="0" bIns="0">
            <a:spAutoFit/>
          </a:bodyPr>
          <a:lstStyle/>
          <a:p>
            <a:r>
              <a:rPr b="0" sz="1600">
                <a:solidFill>
                  <a:srgbClr val="0B6E6E"/>
                </a:solidFill>
                <a:latin typeface="Helvetica Neue"/>
              </a:rPr>
              <a:t>Memoria contigua · la fórmula i*C+j · dimensiones que viajan con el objeto · const correcto en las dos sobrecargas.</a:t>
            </a:r>
          </a:p>
        </p:txBody>
      </p:sp>
      <p:sp>
        <p:nvSpPr>
          <p:cNvPr id="8" name="TextBox 7"/>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Criterio final</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28800"/>
          <a:ext cx="10637215" cy="2441448"/>
        </p:xfrm>
        <a:graphic>
          <a:graphicData uri="http://schemas.openxmlformats.org/drawingml/2006/table">
            <a:tbl>
              <a:tblPr firstRow="1" bandRow="1">
                <a:tableStyleId>{5C22544A-7EE6-4342-B048-85BDC9FD1C3A}</a:tableStyleId>
              </a:tblPr>
              <a:tblGrid>
                <a:gridCol w="6205042"/>
                <a:gridCol w="4432173"/>
              </a:tblGrid>
              <a:tr h="406908">
                <a:tc>
                  <a:txBody>
                    <a:bodyPr/>
                    <a:lstStyle/>
                    <a:p>
                      <a:r>
                        <a:rPr b="1" sz="1400">
                          <a:solidFill>
                            <a:srgbClr val="FFFFFF"/>
                          </a:solidFill>
                          <a:latin typeface="Helvetica Neue"/>
                        </a:rPr>
                        <a:t>Situación</a:t>
                      </a:r>
                    </a:p>
                  </a:txBody>
                  <a:tcPr anchor="ctr" marL="109728" marR="109728">
                    <a:solidFill>
                      <a:srgbClr val="142638"/>
                    </a:solidFill>
                  </a:tcPr>
                </a:tc>
                <a:tc>
                  <a:txBody>
                    <a:bodyPr/>
                    <a:lstStyle/>
                    <a:p>
                      <a:r>
                        <a:rPr b="1" sz="1400">
                          <a:solidFill>
                            <a:srgbClr val="FFFFFF"/>
                          </a:solidFill>
                          <a:latin typeface="Helvetica Neue"/>
                        </a:rPr>
                        <a:t>Elección</a:t>
                      </a:r>
                    </a:p>
                  </a:txBody>
                  <a:tcPr anchor="ctr" marL="109728" marR="109728">
                    <a:solidFill>
                      <a:srgbClr val="142638"/>
                    </a:solidFill>
                  </a:tcPr>
                </a:tc>
              </a:tr>
              <a:tr h="406908">
                <a:tc>
                  <a:txBody>
                    <a:bodyPr/>
                    <a:lstStyle/>
                    <a:p>
                      <a:r>
                        <a:rPr b="0" sz="1400">
                          <a:solidFill>
                            <a:srgbClr val="2E3A46"/>
                          </a:solidFill>
                          <a:latin typeface="Helvetica Neue"/>
                        </a:rPr>
                        <a:t>Tamaño fijo y conocido al compilar</a:t>
                      </a:r>
                    </a:p>
                  </a:txBody>
                  <a:tcPr anchor="ctr" marL="109728" marR="109728">
                    <a:solidFill>
                      <a:srgbClr val="FFFFFF"/>
                    </a:solidFill>
                  </a:tcPr>
                </a:tc>
                <a:tc>
                  <a:txBody>
                    <a:bodyPr/>
                    <a:lstStyle/>
                    <a:p>
                      <a:r>
                        <a:rPr sz="1300">
                          <a:solidFill>
                            <a:srgbClr val="1E2B33"/>
                          </a:solidFill>
                          <a:latin typeface="Menlo"/>
                        </a:rPr>
                        <a:t>std::array&lt;T,N&gt;</a:t>
                      </a:r>
                    </a:p>
                  </a:txBody>
                  <a:tcPr anchor="ctr" marL="109728" marR="109728">
                    <a:solidFill>
                      <a:srgbClr val="FFFFFF"/>
                    </a:solidFill>
                  </a:tcPr>
                </a:tc>
              </a:tr>
              <a:tr h="406908">
                <a:tc>
                  <a:txBody>
                    <a:bodyPr/>
                    <a:lstStyle/>
                    <a:p>
                      <a:r>
                        <a:rPr b="0" sz="1400">
                          <a:solidFill>
                            <a:srgbClr val="2E3A46"/>
                          </a:solidFill>
                          <a:latin typeface="Helvetica Neue"/>
                        </a:rPr>
                        <a:t>Tamaño decidido al ejecutar</a:t>
                      </a:r>
                    </a:p>
                  </a:txBody>
                  <a:tcPr anchor="ctr" marL="109728" marR="109728">
                    <a:solidFill>
                      <a:srgbClr val="F2F4F3"/>
                    </a:solidFill>
                  </a:tcPr>
                </a:tc>
                <a:tc>
                  <a:txBody>
                    <a:bodyPr/>
                    <a:lstStyle/>
                    <a:p>
                      <a:r>
                        <a:rPr sz="1300">
                          <a:solidFill>
                            <a:srgbClr val="1E2B33"/>
                          </a:solidFill>
                          <a:latin typeface="Menlo"/>
                        </a:rPr>
                        <a:t>std::vector&lt;T&gt;</a:t>
                      </a:r>
                    </a:p>
                  </a:txBody>
                  <a:tcPr anchor="ctr" marL="109728" marR="109728">
                    <a:solidFill>
                      <a:srgbClr val="F2F4F3"/>
                    </a:solidFill>
                  </a:tcPr>
                </a:tc>
              </a:tr>
              <a:tr h="406908">
                <a:tc>
                  <a:txBody>
                    <a:bodyPr/>
                    <a:lstStyle/>
                    <a:p>
                      <a:r>
                        <a:rPr b="0" sz="1400">
                          <a:solidFill>
                            <a:srgbClr val="2E3A46"/>
                          </a:solidFill>
                          <a:latin typeface="Helvetica Neue"/>
                        </a:rPr>
                        <a:t>Parámetro que recibe una secuencia</a:t>
                      </a:r>
                    </a:p>
                  </a:txBody>
                  <a:tcPr anchor="ctr" marL="109728" marR="109728">
                    <a:solidFill>
                      <a:srgbClr val="FFFFFF"/>
                    </a:solidFill>
                  </a:tcPr>
                </a:tc>
                <a:tc>
                  <a:txBody>
                    <a:bodyPr/>
                    <a:lstStyle/>
                    <a:p>
                      <a:r>
                        <a:rPr sz="1300">
                          <a:solidFill>
                            <a:srgbClr val="1E2B33"/>
                          </a:solidFill>
                          <a:latin typeface="Menlo"/>
                        </a:rPr>
                        <a:t>std::span&lt;T&gt;</a:t>
                      </a:r>
                    </a:p>
                  </a:txBody>
                  <a:tcPr anchor="ctr" marL="109728" marR="109728">
                    <a:solidFill>
                      <a:srgbClr val="FFFFFF"/>
                    </a:solidFill>
                  </a:tcPr>
                </a:tc>
              </a:tr>
              <a:tr h="406908">
                <a:tc>
                  <a:txBody>
                    <a:bodyPr/>
                    <a:lstStyle/>
                    <a:p>
                      <a:r>
                        <a:rPr b="0" sz="1400">
                          <a:solidFill>
                            <a:srgbClr val="2E3A46"/>
                          </a:solidFill>
                          <a:latin typeface="Helvetica Neue"/>
                        </a:rPr>
                        <a:t>Parámetro de entrada, objeto grande</a:t>
                      </a:r>
                    </a:p>
                  </a:txBody>
                  <a:tcPr anchor="ctr" marL="109728" marR="109728">
                    <a:solidFill>
                      <a:srgbClr val="F2F4F3"/>
                    </a:solidFill>
                  </a:tcPr>
                </a:tc>
                <a:tc>
                  <a:txBody>
                    <a:bodyPr/>
                    <a:lstStyle/>
                    <a:p>
                      <a:r>
                        <a:rPr sz="1300">
                          <a:solidFill>
                            <a:srgbClr val="1E2B33"/>
                          </a:solidFill>
                          <a:latin typeface="Menlo"/>
                        </a:rPr>
                        <a:t>const T&amp;</a:t>
                      </a:r>
                    </a:p>
                  </a:txBody>
                  <a:tcPr anchor="ctr" marL="109728" marR="109728">
                    <a:solidFill>
                      <a:srgbClr val="F2F4F3"/>
                    </a:solidFill>
                  </a:tcPr>
                </a:tc>
              </a:tr>
              <a:tr h="406908">
                <a:tc>
                  <a:txBody>
                    <a:bodyPr/>
                    <a:lstStyle/>
                    <a:p>
                      <a:r>
                        <a:rPr b="0" sz="1400">
                          <a:solidFill>
                            <a:srgbClr val="2E3A46"/>
                          </a:solidFill>
                          <a:latin typeface="Helvetica Neue"/>
                        </a:rPr>
                        <a:t>Interoperar con C, o sistema embebido</a:t>
                      </a:r>
                    </a:p>
                  </a:txBody>
                  <a:tcPr anchor="ctr" marL="109728" marR="109728">
                    <a:solidFill>
                      <a:srgbClr val="FFFFFF"/>
                    </a:solidFill>
                  </a:tcPr>
                </a:tc>
                <a:tc>
                  <a:txBody>
                    <a:bodyPr/>
                    <a:lstStyle/>
                    <a:p>
                      <a:r>
                        <a:rPr b="0" sz="1400">
                          <a:solidFill>
                            <a:srgbClr val="2E3A46"/>
                          </a:solidFill>
                          <a:latin typeface="Helvetica Neue"/>
                        </a:rPr>
                        <a:t>arreglo crudo</a:t>
                      </a:r>
                    </a:p>
                  </a:txBody>
                  <a:tcPr anchor="ctr" marL="109728" marR="109728">
                    <a:solidFill>
                      <a:srgbClr val="FFFFFF"/>
                    </a:solidFill>
                  </a:tcPr>
                </a:tc>
              </a:tr>
            </a:tbl>
          </a:graphicData>
        </a:graphic>
      </p:graphicFrame>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Los tres mensajes de la sesión</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2000">
                <a:solidFill>
                  <a:srgbClr val="0B6E6E"/>
                </a:solidFill>
                <a:latin typeface="Helvetica Neue"/>
              </a:rPr>
              <a:t>•  </a:t>
            </a:r>
            <a:r>
              <a:rPr b="1" sz="2000">
                <a:solidFill>
                  <a:srgbClr val="142638"/>
                </a:solidFill>
                <a:latin typeface="Helvetica Neue"/>
              </a:rPr>
              <a:t>Elegir cómo se pasa un argumento es elegir qué se copia.</a:t>
            </a:r>
            <a:r>
              <a:rPr b="0" sz="2000">
                <a:solidFill>
                  <a:srgbClr val="2E3A46"/>
                </a:solidFill>
                <a:latin typeface="Helvetica Neue"/>
              </a:rPr>
              <a:t> Por valor copia el objeto; por referencia no copia nada y crea un alias.</a:t>
            </a:r>
          </a:p>
          <a:p>
            <a:pPr>
              <a:spcBef>
                <a:spcPts val="1100"/>
              </a:spcBef>
            </a:pPr>
          </a:p>
          <a:p>
            <a:pPr marL="301752" indent="-301752">
              <a:spcBef>
                <a:spcPts val="1100"/>
              </a:spcBef>
            </a:pPr>
            <a:r>
              <a:rPr sz="2000">
                <a:solidFill>
                  <a:srgbClr val="0B6E6E"/>
                </a:solidFill>
                <a:latin typeface="Helvetica Neue"/>
              </a:rPr>
              <a:t>•  </a:t>
            </a:r>
            <a:r>
              <a:rPr b="1" sz="2000">
                <a:solidFill>
                  <a:srgbClr val="142638"/>
                </a:solidFill>
                <a:latin typeface="Helvetica Neue"/>
              </a:rPr>
              <a:t>Un arreglo nunca se copia al pasarlo: decae a puntero</a:t>
            </a:r>
            <a:r>
              <a:rPr b="0" sz="2000">
                <a:solidFill>
                  <a:srgbClr val="2E3A46"/>
                </a:solidFill>
                <a:latin typeface="Helvetica Neue"/>
              </a:rPr>
              <a:t> y pierde su tamaño. Por eso hay que pasar el tamaño aparte, o usar </a:t>
            </a:r>
            <a:r>
              <a:rPr sz="1900">
                <a:solidFill>
                  <a:srgbClr val="0B6E6E"/>
                </a:solidFill>
                <a:latin typeface="Menlo"/>
              </a:rPr>
              <a:t>std::span</a:t>
            </a:r>
            <a:r>
              <a:rPr b="0" sz="2000">
                <a:solidFill>
                  <a:srgbClr val="2E3A46"/>
                </a:solidFill>
                <a:latin typeface="Helvetica Neue"/>
              </a:rPr>
              <a:t>.</a:t>
            </a:r>
          </a:p>
          <a:p>
            <a:pPr>
              <a:spcBef>
                <a:spcPts val="1100"/>
              </a:spcBef>
            </a:pPr>
          </a:p>
          <a:p>
            <a:pPr marL="301752" indent="-301752">
              <a:spcBef>
                <a:spcPts val="1100"/>
              </a:spcBef>
            </a:pPr>
            <a:r>
              <a:rPr sz="2000">
                <a:solidFill>
                  <a:srgbClr val="0B6E6E"/>
                </a:solidFill>
                <a:latin typeface="Helvetica Neue"/>
              </a:rPr>
              <a:t>•  </a:t>
            </a:r>
            <a:r>
              <a:rPr b="1" sz="2000">
                <a:solidFill>
                  <a:srgbClr val="142638"/>
                </a:solidFill>
                <a:latin typeface="Helvetica Neue"/>
              </a:rPr>
              <a:t>La memoria es contigua y por filas.</a:t>
            </a:r>
            <a:r>
              <a:rPr b="0" sz="2000">
                <a:solidFill>
                  <a:srgbClr val="2E3A46"/>
                </a:solidFill>
                <a:latin typeface="Helvetica Neue"/>
              </a:rPr>
              <a:t> De ahí salen el índice base cero, la fórmula </a:t>
            </a:r>
            <a:r>
              <a:rPr sz="1900">
                <a:solidFill>
                  <a:srgbClr val="0B6E6E"/>
                </a:solidFill>
                <a:latin typeface="Menlo"/>
              </a:rPr>
              <a:t>i*C + j</a:t>
            </a:r>
            <a:r>
              <a:rPr b="0" sz="2000">
                <a:solidFill>
                  <a:srgbClr val="2E3A46"/>
                </a:solidFill>
                <a:latin typeface="Helvetica Neue"/>
              </a:rPr>
              <a:t> y una diferencia de 30 veces por cambiar el orden de dos bucles.</a:t>
            </a:r>
          </a:p>
        </p:txBody>
      </p:sp>
      <p:sp>
        <p:nvSpPr>
          <p:cNvPr id="5" name="TextBox 4"/>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lIns="0" rIns="0" tIns="0" bIns="0">
            <a:spAutoFit/>
          </a:bodyPr>
          <a:lstStyle/>
          <a:p>
            <a:r>
              <a:rPr b="1" sz="3000">
                <a:solidFill>
                  <a:srgbClr val="142638"/>
                </a:solidFill>
                <a:latin typeface="Helvetica Neue"/>
              </a:rPr>
              <a:t>Para seguir</a:t>
            </a:r>
          </a:p>
        </p:txBody>
      </p:sp>
      <p:sp>
        <p:nvSpPr>
          <p:cNvPr id="3" name="Rectangle 2"/>
          <p:cNvSpPr/>
          <p:nvPr/>
        </p:nvSpPr>
        <p:spPr>
          <a:xfrm>
            <a:off x="777240" y="1207008"/>
            <a:ext cx="1371600" cy="41148"/>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411480"/>
          </a:xfrm>
          <a:prstGeom prst="rect">
            <a:avLst/>
          </a:prstGeom>
          <a:noFill/>
        </p:spPr>
        <p:txBody>
          <a:bodyPr wrap="square" lIns="0" rIns="0" tIns="0" bIns="0">
            <a:spAutoFit/>
          </a:bodyPr>
          <a:lstStyle/>
          <a:p>
            <a:r>
              <a:rPr b="0" sz="1500">
                <a:solidFill>
                  <a:srgbClr val="74828C"/>
                </a:solidFill>
                <a:latin typeface="Helvetica Neue"/>
              </a:rPr>
              <a:t>Bibliografía y material de apoyo</a:t>
            </a:r>
          </a:p>
        </p:txBody>
      </p:sp>
      <p:sp>
        <p:nvSpPr>
          <p:cNvPr id="5" name="TextBox 4"/>
          <p:cNvSpPr txBox="1"/>
          <p:nvPr/>
        </p:nvSpPr>
        <p:spPr>
          <a:xfrm>
            <a:off x="777240" y="1828800"/>
            <a:ext cx="10637215" cy="4297680"/>
          </a:xfrm>
          <a:prstGeom prst="rect">
            <a:avLst/>
          </a:prstGeom>
          <a:noFill/>
        </p:spPr>
        <p:txBody>
          <a:bodyPr wrap="square" lIns="0" rIns="0" tIns="0" bIns="0">
            <a:spAutoFit/>
          </a:bodyPr>
          <a:lstStyle/>
          <a:p>
            <a:pPr marL="301752" indent="-301752">
              <a:spcBef>
                <a:spcPts val="1100"/>
              </a:spcBef>
            </a:pPr>
            <a:r>
              <a:rPr sz="1700">
                <a:solidFill>
                  <a:srgbClr val="0B6E6E"/>
                </a:solidFill>
                <a:latin typeface="Helvetica Neue"/>
              </a:rPr>
              <a:t>•  </a:t>
            </a:r>
            <a:r>
              <a:rPr b="1" sz="1700">
                <a:solidFill>
                  <a:srgbClr val="142638"/>
                </a:solidFill>
                <a:latin typeface="Helvetica Neue"/>
              </a:rPr>
              <a:t>C++ Core Guidelines</a:t>
            </a:r>
            <a:r>
              <a:rPr b="0" sz="1700">
                <a:solidFill>
                  <a:srgbClr val="2E3A46"/>
                </a:solidFill>
                <a:latin typeface="Helvetica Neue"/>
              </a:rPr>
              <a:t> — isocpp.github.io/CppCoreGuidelines · reglas F.15 a F.24, F.60, I.11, I.13</a:t>
            </a:r>
          </a:p>
          <a:p>
            <a:pPr marL="301752" indent="-301752">
              <a:spcBef>
                <a:spcPts val="1100"/>
              </a:spcBef>
            </a:pPr>
            <a:r>
              <a:rPr sz="1700">
                <a:solidFill>
                  <a:srgbClr val="0B6E6E"/>
                </a:solidFill>
                <a:latin typeface="Helvetica Neue"/>
              </a:rPr>
              <a:t>•  </a:t>
            </a:r>
            <a:r>
              <a:rPr b="1" sz="1700">
                <a:solidFill>
                  <a:srgbClr val="142638"/>
                </a:solidFill>
                <a:latin typeface="Helvetica Neue"/>
              </a:rPr>
              <a:t>Deitel &amp; Deitel</a:t>
            </a:r>
            <a:r>
              <a:rPr b="0" sz="1700">
                <a:solidFill>
                  <a:srgbClr val="2E3A46"/>
                </a:solidFill>
                <a:latin typeface="Helvetica Neue"/>
              </a:rPr>
              <a:t>, *Cómo programar en C++*, 9.ª ed. — caps. 6, 7 y 8</a:t>
            </a:r>
          </a:p>
          <a:p>
            <a:pPr marL="301752" indent="-301752">
              <a:spcBef>
                <a:spcPts val="1100"/>
              </a:spcBef>
            </a:pPr>
            <a:r>
              <a:rPr sz="1700">
                <a:solidFill>
                  <a:srgbClr val="0B6E6E"/>
                </a:solidFill>
                <a:latin typeface="Helvetica Neue"/>
              </a:rPr>
              <a:t>•  </a:t>
            </a:r>
            <a:r>
              <a:rPr b="1" sz="1700">
                <a:solidFill>
                  <a:srgbClr val="142638"/>
                </a:solidFill>
                <a:latin typeface="Helvetica Neue"/>
              </a:rPr>
              <a:t>Stroustrup</a:t>
            </a:r>
            <a:r>
              <a:rPr b="0" sz="1700">
                <a:solidFill>
                  <a:srgbClr val="2E3A46"/>
                </a:solidFill>
                <a:latin typeface="Helvetica Neue"/>
              </a:rPr>
              <a:t>, *The C++ Programming Language*, 4.ª ed. — caps. 7 y 12</a:t>
            </a:r>
          </a:p>
          <a:p>
            <a:pPr marL="301752" indent="-301752">
              <a:spcBef>
                <a:spcPts val="1100"/>
              </a:spcBef>
            </a:pPr>
            <a:r>
              <a:rPr sz="1700">
                <a:solidFill>
                  <a:srgbClr val="0B6E6E"/>
                </a:solidFill>
                <a:latin typeface="Helvetica Neue"/>
              </a:rPr>
              <a:t>•  </a:t>
            </a:r>
            <a:r>
              <a:rPr b="1" sz="1700">
                <a:solidFill>
                  <a:srgbClr val="142638"/>
                </a:solidFill>
                <a:latin typeface="Helvetica Neue"/>
              </a:rPr>
              <a:t>Meyers</a:t>
            </a:r>
            <a:r>
              <a:rPr b="0" sz="1700">
                <a:solidFill>
                  <a:srgbClr val="2E3A46"/>
                </a:solidFill>
                <a:latin typeface="Helvetica Neue"/>
              </a:rPr>
              <a:t>, *Effective C++*, 3.ª ed. — ítem 20</a:t>
            </a:r>
          </a:p>
          <a:p>
            <a:pPr marL="301752" indent="-301752">
              <a:spcBef>
                <a:spcPts val="1100"/>
              </a:spcBef>
            </a:pPr>
            <a:r>
              <a:rPr sz="1700">
                <a:solidFill>
                  <a:srgbClr val="0B6E6E"/>
                </a:solidFill>
                <a:latin typeface="Helvetica Neue"/>
              </a:rPr>
              <a:t>•  </a:t>
            </a:r>
            <a:r>
              <a:rPr b="1" sz="1700">
                <a:solidFill>
                  <a:srgbClr val="142638"/>
                </a:solidFill>
                <a:latin typeface="Helvetica Neue"/>
              </a:rPr>
              <a:t>eel.is/c++draft</a:t>
            </a:r>
            <a:r>
              <a:rPr b="0" sz="1700">
                <a:solidFill>
                  <a:srgbClr val="2E3A46"/>
                </a:solidFill>
                <a:latin typeface="Helvetica Neue"/>
              </a:rPr>
              <a:t> — el texto de la norma, con enlace por párrafo</a:t>
            </a:r>
          </a:p>
          <a:p>
            <a:pPr marL="301752" indent="-301752">
              <a:spcBef>
                <a:spcPts val="1100"/>
              </a:spcBef>
            </a:pPr>
            <a:r>
              <a:rPr sz="1700">
                <a:solidFill>
                  <a:srgbClr val="0B6E6E"/>
                </a:solidFill>
                <a:latin typeface="Helvetica Neue"/>
              </a:rPr>
              <a:t>•  </a:t>
            </a:r>
            <a:r>
              <a:rPr b="1" sz="1700">
                <a:solidFill>
                  <a:srgbClr val="142638"/>
                </a:solidFill>
                <a:latin typeface="Helvetica Neue"/>
              </a:rPr>
              <a:t>godbolt.org</a:t>
            </a:r>
            <a:r>
              <a:rPr b="0" sz="1700">
                <a:solidFill>
                  <a:srgbClr val="2E3A46"/>
                </a:solidFill>
                <a:latin typeface="Helvetica Neue"/>
              </a:rPr>
              <a:t> — Compiler Explorer, para ver el código generado</a:t>
            </a:r>
          </a:p>
          <a:p>
            <a:pPr>
              <a:spcBef>
                <a:spcPts val="1100"/>
              </a:spcBef>
            </a:pPr>
          </a:p>
          <a:p>
            <a:pPr marL="301752" indent="-301752">
              <a:spcBef>
                <a:spcPts val="1100"/>
              </a:spcBef>
            </a:pPr>
            <a:r>
              <a:rPr sz="1700">
                <a:solidFill>
                  <a:srgbClr val="0B6E6E"/>
                </a:solidFill>
                <a:latin typeface="Helvetica Neue"/>
              </a:rPr>
              <a:t>•  </a:t>
            </a:r>
            <a:r>
              <a:rPr b="0" sz="1700">
                <a:solidFill>
                  <a:srgbClr val="2E3A46"/>
                </a:solidFill>
                <a:latin typeface="Helvetica Neue"/>
              </a:rPr>
              <a:t>Base de conocimiento, 24 ejemplos y tres prácticas: </a:t>
            </a:r>
            <a:r>
              <a:rPr sz="1600">
                <a:solidFill>
                  <a:srgbClr val="0B6E6E"/>
                </a:solidFill>
                <a:latin typeface="Menlo"/>
              </a:rPr>
              <a:t>Repositorios/C-CPP/exposicion/</a:t>
            </a:r>
          </a:p>
        </p:txBody>
      </p:sp>
      <p:sp>
        <p:nvSpPr>
          <p:cNvPr id="6" name="TextBox 5"/>
          <p:cNvSpPr txBox="1"/>
          <p:nvPr/>
        </p:nvSpPr>
        <p:spPr>
          <a:xfrm>
            <a:off x="10957255" y="6291072"/>
            <a:ext cx="822960" cy="274320"/>
          </a:xfrm>
          <a:prstGeom prst="rect">
            <a:avLst/>
          </a:prstGeom>
          <a:noFill/>
        </p:spPr>
        <p:txBody>
          <a:bodyPr wrap="square" lIns="0" rIns="0" tIns="0" bIns="0">
            <a:spAutoFit/>
          </a:bodyPr>
          <a:lstStyle/>
          <a:p>
            <a:pPr algn="r"/>
            <a:r>
              <a:rPr sz="1100">
                <a:solidFill>
                  <a:srgbClr val="74828C"/>
                </a:solidFill>
                <a:latin typeface="Helvetica Neue"/>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TextBox 1"/>
          <p:cNvSpPr txBox="1"/>
          <p:nvPr/>
        </p:nvSpPr>
        <p:spPr>
          <a:xfrm>
            <a:off x="1188720" y="2194560"/>
            <a:ext cx="9814255" cy="2377440"/>
          </a:xfrm>
          <a:prstGeom prst="rect">
            <a:avLst/>
          </a:prstGeom>
          <a:noFill/>
        </p:spPr>
        <p:txBody>
          <a:bodyPr wrap="square" lIns="0" rIns="0" tIns="0" bIns="0">
            <a:spAutoFit/>
          </a:bodyPr>
          <a:lstStyle/>
          <a:p>
            <a:pPr>
              <a:lnSpc>
                <a:spcPct val="125000"/>
              </a:lnSpc>
            </a:pPr>
            <a:r>
              <a:rPr b="0" sz="4000">
                <a:solidFill>
                  <a:srgbClr val="FFFFFF"/>
                </a:solidFill>
                <a:latin typeface="Helvetica Neue"/>
              </a:rPr>
              <a:t>Gracias.  ¿Preguntas?</a:t>
            </a:r>
          </a:p>
        </p:txBody>
      </p:sp>
      <p:sp>
        <p:nvSpPr>
          <p:cNvPr id="3" name="TextBox 2"/>
          <p:cNvSpPr txBox="1"/>
          <p:nvPr/>
        </p:nvSpPr>
        <p:spPr>
          <a:xfrm>
            <a:off x="1188720" y="4846320"/>
            <a:ext cx="9814255" cy="548640"/>
          </a:xfrm>
          <a:prstGeom prst="rect">
            <a:avLst/>
          </a:prstGeom>
          <a:noFill/>
        </p:spPr>
        <p:txBody>
          <a:bodyPr wrap="square" lIns="0" rIns="0" tIns="0" bIns="0">
            <a:spAutoFit/>
          </a:bodyPr>
          <a:lstStyle/>
          <a:p>
            <a:r>
              <a:rPr b="0" sz="1500">
                <a:solidFill>
                  <a:srgbClr val="9FC4C4"/>
                </a:solidFill>
                <a:latin typeface="Helvetica Neue"/>
              </a:rPr>
              <a:t>Alberto López · Programación Avanzada · UACBI, UAN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