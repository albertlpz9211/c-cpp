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 a todos. Hoy abordaremos los fundamentos que definen cómo se comunican las funciones con la memoria en C++. La pregunta central que sostendrá toda la sesión es: ¿Qué le llega realmente a una función cuando le pasas un argumento?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que no son temas aislados: las funciones necesitan transferir datos y los arreglos son colecciones contiguas en memoria. Ambos convergen cuando pasamos un arreglo como parámetro.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la dinámica: cada bloque teórico viene acompañado de código ejecutable que compilaremos en vivo, y habrá dos prácticas de taller individuales o en parejas.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Fijar este vocabulario desde el minuto uno. En la literatura a veces se dice 'parámetro formal' y 'parámetro real', pero la norma ISO de C++ estandariza 'parameter' y 'argument'.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notar que los argumentos pueden ser variables, literales, constantes o expresiones que se evalúan antes de transferir el control a la función.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Iniciamos revisando qué compone una función antes de entrar a fondo en el paso de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una función debe cumplir una única responsabilidad bien definida (principio de responsabilidad única).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el programa 01_funcion_basica.cpp. Mostrar cómo se calcula la suma y el área de un rectángulo.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compilador de C++ es de una sola pasada en el análisis sintáctico de funciones. Si no conoce el nombre y los tipos al invocar, falla de inmediato.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Compilar y ejecutar 02_prototipo_y_definicion.cpp. Destacar la analogía con los encabezados .hpp.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hincapié en que una función que calcula un dato no debería imprimirlo por pantalla, sino devolverlo para que el llamador decida qué hacer con él.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03_void_y_retorno.cpp. Mostrar cómo 'imprimir_linea' o 'saludar' son void y 'maximo' devuelve un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04_ambito_de_variables.cpp. Explicar que dos variables en funciones distintas pueden tener el mismo nombre sin interferir.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nos ponemos los lentes de la memoria. Veremos exactamente dónde viven las variables cuando se llama a una función.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Dibujar en el pizarrón una pila de platos. Cada plato es una función abierta esperando terminar.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05_llamadas_anidadas.cpp. Mostrar en la terminal las direcciones impresas con &amp;profundidad y &amp;local.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Entramos al primer gran mecanismo: paso por valor. El comportamiento predeterminado en C++ para tipos fundamentales.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énfasis en la palabra COPIA. Si tengo una fotocopia de un documento y la rayo, el original que dejé en mi cajón no se entera.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Correr 06_paso_por_valor.cpp. Pedir al público que prediga la salida antes de presionar 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07_swap_roto.cpp. Dejar la pregunta en el aire: ¿Cómo hacemos para que la función pueda modificar directamente las variables de main?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 que copiar 4 u 8 bytes en un registro del procesador es más rápido que crear indirecciones con punteros.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alumnos abren su editor y compilan. Pasar por las bancas resolviendo dudas. Destacar la diferencia entre las que retornan y las void.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Poner un temporizador de 10 minutos en la pantalla. Respetar el tiempo para mantener la atención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Iniciamos la segunda parte: referencias en C++. Esta es una característica clave que distingue a C++ de C puro.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que una referencia no es un objeto independiente; es una etiqueta alternativa en la misma caja de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09_referencia_alias.cpp. Señalar en la consola que la comparación de direcciones devuelve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10_swap_por_referencia.cpp. Contrastar con swap_roto del bloque 2. La llamada sigue escribiéndose intercambia(x, 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que en C++ moderno existe std::pair o std::tuple, pero los parámetros por referencia siguen siendo el estándar industrial más claro y eficiente.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Correr 11_varios_resultados.cpp. Demostrar la utilidad del patrón.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Enseñar a los estudiantes a usar 'const T&amp;' por defecto para cualquier tipo que no sea primitivo.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12_const_en_parametros.cpp. Mostrar el mensaje de error que daría si quitamos el comentario a la modificación.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punteros no como algo oscuro o temible, sino como lo que son: números que representan casillas de memoria 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analogía: la referencia es un alias; el puntero es un papelito con la dirección escrita. El papelito puede borrarse o dejarse en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tabla debe quedar grabada en los apuntes de cada alumno. Es el resumen de las primeras 2 horas.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13_punteros_basicos.cpp. Mostrar cómo se intercambia por puntero con swap_punteros(&amp;a, &amp;b).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a los alumnos trabajar por parejas. La discusión sobre por qué en punteros se pone &amp;x en la llamada y en referencias solo x es crucial.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Último receso antes del gran bloque de arreglos y decaimiento.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Arrancamos la tercera hora con la estructura de datos estática más fundamental del hardware: el arreglo contiguo.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por qué los arreglos empiezan en 0: el índice representa el DESPLAZAMIENTO (offset) desde el 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Correr 14_arreglo_basico.cpp. Mostrar cómo las direcciones avanzan de 4 en 4 bytes en hexadecimal.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Enseñar a los estudiantes a nunca inicializar el máximo en cero si el arreglo puede contener números negativos.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15_arreglo_recorridos.cpp. Mostrar la salida limpia con todas las métricas.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Correr 16_fuera_de_rango.cpp. Explicar qué hace AddressSanitizer al detectar accesos ilegales fuera de rango.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momento cumbre de la sesión. Es donde se unen los temas de funciones y arreglos.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Repetir tres veces: 'Un arreglo nunca se copia al pasarlo a una función'. Grabar esto en la mente de los alumnos.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17_arreglo_a_funcion.cpp. Mostrar cómo 'imprime' usa const int v[] y 'pon_a_cero' modifica el arreglo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 que anoten esta firma estándar en su cuaderno. Es la plantilla que usarán siempre que trabajen con arreglos crudos.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Pasamos de 1D a 2D. Veremos cómo la memoria física del hardware siempre es una sola línea plana.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Dibujar en el pizarrón una cuadrícula 3x3 y luego estirarla como una tira continua de 9 casillas para ilustrar el Row-Major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Correr 18_matriz_basica.cpp. Comprobar que la memoria es una sola secuencia continua.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uno de los conceptos más evaluados en exámenes técnicos. Si entienden la fórmula i*COLUMNAS + j, entenderán por qué las columnas son obligatorias.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19_matriz_a_funcion.cpp. Mostrar cómo se computan las sumas.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Últimos 15 minutos. Cerraremos atando todos los cabos con el ejemplo integrador 20_repaso_final.cpp.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Ejecutar 20_repaso_final.cpp. Leer en voz alta cada salida y confirmar que todos los alumnos asientan con la cabeza.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Proyectar esta tabla mientras se responde a las dudas finales del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Asignar la práctica 3 como entregable para la siguiente sesión. Recordar que las soluciones están en la carpeta de soluciones para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la atención del grupo y abrir la ronda final de preguntas y respuestas.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148840"/>
            <a:ext cx="1828800" cy="54864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6372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Helvetica Neue"/>
              </a:rPr>
              <a:t>Paso de Argumentos y Arreglos en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2000">
                <a:solidFill>
                  <a:srgbClr val="9FC4C4"/>
                </a:solidFill>
                <a:latin typeface="Helvetica Neue"/>
              </a:rPr>
              <a:t>Curso Básico e Intermedio: Funciones, Valor, Referencia, Punteros y Arreglos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700">
                <a:solidFill>
                  <a:srgbClr val="FFFFFF"/>
                </a:solidFill>
                <a:latin typeface="Helvetica Neue"/>
              </a:rPr>
              <a:t>Alberto López García</a:t>
            </a:r>
          </a:p>
          <a:p>
            <a:pPr>
              <a:spcBef>
                <a:spcPts val="600"/>
              </a:spcBef>
            </a:pPr>
            <a:r>
              <a:rPr b="0" sz="1400">
                <a:solidFill>
                  <a:srgbClr val="8E9EAB"/>
                </a:solidFill>
                <a:latin typeface="Helvetica Neue"/>
              </a:rPr>
              <a:t>Exposición y Taller Práctico · 4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La Gran Pregunta de la Sesión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El hilo conductor de las 4 horas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Una sola pregunta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sostiene las 4 horas de clase: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¿Qué recibe realmente una función en C++ cuando la llamas?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Hay exactamente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tres respuestas posibles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1. Una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copia independiente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del valor original (paso por valor).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2. Un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alias directo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de la variable del llamador (paso por referencia).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3. Una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dirección de memoria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donde reside el dato (punteros y decaimiento de arreglos).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Entender esto a nivel de memoria elimina el 90% de los errores y bugs en C y C++.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Estructura y Tiempos de la Exposición (4 Horas)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Distribución del tiempo minuto a minuto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3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434"/>
                <a:gridCol w="5318607"/>
                <a:gridCol w="1772869"/>
                <a:gridCol w="2659303"/>
              </a:tblGrid>
              <a:tr h="326571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Bloque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Tema / Actividad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Duración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Ejemplos src/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Apertura y Repaso de Funciones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10 min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01, 02, 03, 04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¿Cómo viaja un argumento? La Pila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15 min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05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Paso por Valor: Copias y Límites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25 min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06, 07, 08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Práctica Guiada 1: Funciones y Valor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15 min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ejercicios/practica-1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Receso Intermedio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10 min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4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Paso por Referencia: Alias y Eficiencia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30 min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09, 10, 11, 12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Punteros Básicos y Comparativa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20 min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6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Práctica Guiada 2: Referencias y Punteros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15 min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ejercicios/practica-2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Receso Intermedio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10 min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7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Arreglos Unidimensionales y Recorridos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25 min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14, 15, 16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8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Arreglos a Funciones: El Decaimiento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20 min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17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9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Arreglos Bidimensionales (Matrices)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20 min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18, 19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  <a:tr h="32657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Repaso Final, Buenas Prácticas y Cierre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15 min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20, practica-3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Vocabulario Preciso: Parámetro vs. Argumento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Distinción fundamental para evitar ambigüedades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2" cy="128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6494"/>
                <a:gridCol w="4091236"/>
                <a:gridCol w="2454741"/>
                <a:gridCol w="2454741"/>
              </a:tblGrid>
              <a:tr h="42976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</a:rPr>
                        <a:t>Término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</a:rPr>
                        <a:t>¿Qué es?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</a:rPr>
                        <a:t>¿Dónde se declara?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Helvetica Neue"/>
                        </a:rPr>
                        <a:t>¿Dónde vive en memoria?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42638"/>
                          </a:solidFill>
                          <a:latin typeface="Helvetica Neue"/>
                        </a:rPr>
                        <a:t>Parámetro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E3A46"/>
                          </a:solidFill>
                          <a:latin typeface="Helvetica Neue"/>
                        </a:rPr>
                        <a:t>Variable formal declarada en la firma de la función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E3A46"/>
                          </a:solidFill>
                          <a:latin typeface="Helvetica Neue"/>
                        </a:rPr>
                        <a:t>En la cabecera de la función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E3A46"/>
                          </a:solidFill>
                          <a:latin typeface="Helvetica Neue"/>
                        </a:rPr>
                        <a:t>En el marco de pila de la función llamada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142638"/>
                          </a:solidFill>
                          <a:latin typeface="Helvetica Neue"/>
                        </a:rPr>
                        <a:t>Argumento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E3A46"/>
                          </a:solidFill>
                          <a:latin typeface="Helvetica Neue"/>
                        </a:rPr>
                        <a:t>Expresión o valor concreto transferido en la llamada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E3A46"/>
                          </a:solidFill>
                          <a:latin typeface="Helvetica Neue"/>
                        </a:rPr>
                        <a:t>En el sitio de invocación (llamada)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300">
                          <a:solidFill>
                            <a:srgbClr val="2E3A46"/>
                          </a:solidFill>
                          <a:latin typeface="Helvetica Neue"/>
                        </a:rPr>
                        <a:t>En el marco del llamador (main u otra)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346704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0B6E6E"/>
                </a:solidFill>
                <a:latin typeface="Helvetica Neue"/>
              </a:rPr>
              <a:t>Regla de oro: El argumento inicializa al parámetro al entrar en la llamada.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Parámetro vs. Argumento en Código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0637215" cy="3968496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01952"/>
            <a:ext cx="50292" cy="3822192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75104"/>
            <a:ext cx="10225735" cy="3694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'a' y 'b' son PARÁMETROS (variables locales de la función suma)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int suma(int a, int b)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return a + b;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}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int main()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x = 10;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y = 20;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    // 'x' e 'y' son ARGUMENTOS (expresiones que producen valores)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res1 = suma(x, y);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    // Los argumentos pueden ser literales o expresiones complejas: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res2 = suma(5, 7);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res3 = suma(x * 2, y + 15);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98464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0B6E6E"/>
                </a:solidFill>
                <a:latin typeface="Helvetica Neue"/>
              </a:rPr>
              <a:t>El parámetro se crea y se destruye con la función. El argumento pertenece al llamador.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2024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0B6E6E"/>
                </a:solidFill>
                <a:latin typeface="Helvetica Neue"/>
              </a:rP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800">
                <a:solidFill>
                  <a:srgbClr val="FFFFFF"/>
                </a:solidFill>
                <a:latin typeface="Helvetica Neue"/>
              </a:rPr>
              <a:t>Anatomía de una Función en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9FC4C4"/>
                </a:solidFill>
                <a:latin typeface="Helvetica Neue"/>
              </a:rPr>
              <a:t>30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Definición, declaración y prototipos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Tipo de retorno: void vs. valores calculados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Ámbito (scope) y ciclo de vida de variables locales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Las Tres Partes de una Función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Estructura fundamental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Una función es un bloque estructurado de instrucciones con nombre propio: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1.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Tipo de Retorno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qué tipo de dato produce (</a:t>
            </a:r>
            <a:r>
              <a:rPr sz="1800">
                <a:solidFill>
                  <a:srgbClr val="0B6E6E"/>
                </a:solidFill>
                <a:latin typeface="Menlo"/>
              </a:rPr>
              <a:t>int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</a:t>
            </a:r>
            <a:r>
              <a:rPr sz="1800">
                <a:solidFill>
                  <a:srgbClr val="0B6E6E"/>
                </a:solidFill>
                <a:latin typeface="Menlo"/>
              </a:rPr>
              <a:t>double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</a:t>
            </a:r>
            <a:r>
              <a:rPr sz="1800">
                <a:solidFill>
                  <a:srgbClr val="0B6E6E"/>
                </a:solidFill>
                <a:latin typeface="Menlo"/>
              </a:rPr>
              <a:t>void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etc.).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2.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Nombre o Identificador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verbo o acción que describe lo que hace (</a:t>
            </a:r>
            <a:r>
              <a:rPr sz="1800">
                <a:solidFill>
                  <a:srgbClr val="0B6E6E"/>
                </a:solidFill>
                <a:latin typeface="Menlo"/>
              </a:rPr>
              <a:t>calcular_total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</a:t>
            </a:r>
            <a:r>
              <a:rPr sz="1800">
                <a:solidFill>
                  <a:srgbClr val="0B6E6E"/>
                </a:solidFill>
                <a:latin typeface="Menlo"/>
              </a:rPr>
              <a:t>imprimir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3.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Lista de Parámetros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insumos que requiere entre paréntesis </a:t>
            </a:r>
            <a:r>
              <a:rPr sz="1800">
                <a:solidFill>
                  <a:srgbClr val="0B6E6E"/>
                </a:solidFill>
                <a:latin typeface="Menlo"/>
              </a:rPr>
              <a:t>(tipo1 param1, tipo2 param2)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Cuerpo de la Función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delimitado entre llaves </a:t>
            </a:r>
            <a:r>
              <a:rPr sz="1800">
                <a:solidFill>
                  <a:srgbClr val="0B6E6E"/>
                </a:solidFill>
                <a:latin typeface="Menlo"/>
              </a:rPr>
              <a:t>{ ... }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donde reside la lógica.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Instrucción `return`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devuelve el control y el resultado calculado al llamador.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01 · Función Básica: Definir vs. Llamar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./build/bin/bas_01_funcion_basica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Definir una función </a:t>
            </a:r>
            <a:r>
              <a:rPr b="1" sz="1800">
                <a:solidFill>
                  <a:srgbClr val="142638"/>
                </a:solidFill>
                <a:latin typeface="Helvetica Neue"/>
              </a:rPr>
              <a:t>no ejecuta nada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; es solo la receta escrita.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El código de la función cobra vida únicamente cuando es invocada.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La llamada puede usarse directamente dentro de expresiones matemáticas.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Prototipos vs. Definición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10512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500">
                <a:solidFill>
                  <a:srgbClr val="A8431B"/>
                </a:solidFill>
                <a:latin typeface="Helvetica Neue"/>
              </a:rPr>
              <a:t>Problema: El compilador lee de arriba abajo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5135727" cy="288036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67712"/>
            <a:ext cx="50292" cy="273405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340864"/>
            <a:ext cx="4724247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int main()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6B7A74"/>
                </a:solidFill>
                <a:latin typeface="Menlo"/>
              </a:rPr>
              <a:t>    // ERROR de compilación: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6B7A74"/>
                </a:solidFill>
                <a:latin typeface="Menlo"/>
              </a:rPr>
              <a:t>    // 'cuadrado' was not declared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    int r = cuadrado(5);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}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int cuadrado(int n)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    return n * n;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810512"/>
            <a:ext cx="51357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500">
                <a:solidFill>
                  <a:srgbClr val="0B6E6E"/>
                </a:solidFill>
                <a:latin typeface="Helvetica Neue"/>
              </a:rPr>
              <a:t>Solución: Prototipo previo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194560"/>
            <a:ext cx="5135727" cy="288036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2267712"/>
            <a:ext cx="50292" cy="273405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4759" y="2340864"/>
            <a:ext cx="4724247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6B7A74"/>
                </a:solidFill>
                <a:latin typeface="Menlo"/>
              </a:rPr>
              <a:t>// PROTOTIPO (declaración anticipada)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int cuadrado(int n);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int main()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    int r = cuadrado(5); </a:t>
            </a:r>
            <a:r>
              <a:rPr sz="1300" b="0">
                <a:solidFill>
                  <a:srgbClr val="6B7A74"/>
                </a:solidFill>
                <a:latin typeface="Menlo"/>
              </a:rPr>
              <a:t>// OK!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    return 0;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}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6B7A74"/>
                </a:solidFill>
                <a:latin typeface="Menlo"/>
              </a:rPr>
              <a:t>// DEFINICIÓN completa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int cuadrado(int n)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    return n * n;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300" b="0">
                <a:solidFill>
                  <a:srgbClr val="1E2B33"/>
                </a:solidFill>
                <a:latin typeface="Menl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0B6E6E"/>
                </a:solidFill>
                <a:latin typeface="Helvetica Neue"/>
              </a:rPr>
              <a:t>El prototipo avisa al compilador qué tipos entran y salen antes de que lea la definición.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02 · Prototipo y Definición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./build/bin/bas_02_prototipo_y_definicion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Permite ordenar el archivo colocando </a:t>
            </a:r>
            <a:r>
              <a:rPr sz="1700">
                <a:solidFill>
                  <a:srgbClr val="0B6E6E"/>
                </a:solidFill>
                <a:latin typeface="Menlo"/>
              </a:rPr>
              <a:t>main()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arriba como índice de lectura.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Es la base técnica de los archivos de cabecera </a:t>
            </a:r>
            <a:r>
              <a:rPr sz="1700">
                <a:solidFill>
                  <a:srgbClr val="0B6E6E"/>
                </a:solidFill>
                <a:latin typeface="Menlo"/>
              </a:rPr>
              <a:t>.h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y </a:t>
            </a:r>
            <a:r>
              <a:rPr sz="1700">
                <a:solidFill>
                  <a:srgbClr val="0B6E6E"/>
                </a:solidFill>
                <a:latin typeface="Menlo"/>
              </a:rPr>
              <a:t>.hpp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en proyectos grandes.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Funciones void frente a Funciones con Retorno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¿Calcular un valor o ejecutar una acción?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Funciones con Retorno (`int`, `double`, etc.)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Su misión principal es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calcular y transformar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información.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Terminan obligatoriamente con </a:t>
            </a:r>
            <a:r>
              <a:rPr sz="1800">
                <a:solidFill>
                  <a:srgbClr val="0B6E6E"/>
                </a:solidFill>
                <a:latin typeface="Menlo"/>
              </a:rPr>
              <a:t>return expresion;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Devuelven un único resultado al punto de invocación.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Funciones `void` (procedimientos)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Su misión es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realizar una acción o efecto colateral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(imprimir, escribir en archivo).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No devuelven ningún dato evaluable. El </a:t>
            </a:r>
            <a:r>
              <a:rPr sz="1800">
                <a:solidFill>
                  <a:srgbClr val="0B6E6E"/>
                </a:solidFill>
                <a:latin typeface="Menlo"/>
              </a:rPr>
              <a:t>return;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es opcional o actúa como salida anticipada.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03 · void y Retorno de Valores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./build/bin/bas_03_void_y_retorno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Comprobación del uso de </a:t>
            </a:r>
            <a:r>
              <a:rPr sz="1700">
                <a:solidFill>
                  <a:srgbClr val="0B6E6E"/>
                </a:solidFill>
                <a:latin typeface="Menlo"/>
              </a:rPr>
              <a:t>void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para rutinas de impresión.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Salida anticipada con </a:t>
            </a:r>
            <a:r>
              <a:rPr sz="1700">
                <a:solidFill>
                  <a:srgbClr val="0B6E6E"/>
                </a:solidFill>
                <a:latin typeface="Menlo"/>
              </a:rPr>
              <a:t>return;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para validar datos incorrectos (cláusulas de guarda).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04 · Ámbito de las Variables (Scope)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0637215" cy="3072384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01952"/>
            <a:ext cx="50292" cy="2926080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75104"/>
            <a:ext cx="10225735" cy="2798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#include &lt;iostream&gt;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void f()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x = 99; </a:t>
            </a:r>
            <a:r>
              <a:rPr sz="1400" b="0">
                <a:solidFill>
                  <a:srgbClr val="6B7A74"/>
                </a:solidFill>
                <a:latin typeface="Menlo"/>
              </a:rPr>
              <a:t>// 'x' local de f()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std::cout &lt;&lt; "f(): x = " &lt;&lt; x &lt;&lt; '\n';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}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int main()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x = 10; </a:t>
            </a:r>
            <a:r>
              <a:rPr sz="1400" b="0">
                <a:solidFill>
                  <a:srgbClr val="6B7A74"/>
                </a:solidFill>
                <a:latin typeface="Menlo"/>
              </a:rPr>
              <a:t>// 'x' local de main()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f();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std::cout &lt;&lt; "main(): x = " &lt;&lt; x &lt;&lt; '\n'; </a:t>
            </a:r>
            <a:r>
              <a:rPr sz="1400" b="0">
                <a:solidFill>
                  <a:srgbClr val="6B7A74"/>
                </a:solidFill>
                <a:latin typeface="Menlo"/>
              </a:rPr>
              <a:t>// sigue valiendo 10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0235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0B6E6E"/>
                </a:solidFill>
                <a:latin typeface="Helvetica Neue"/>
              </a:rPr>
              <a:t>Lo que nace dentro de las llaves { }, muere al llegar a la llave de cierre }.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2024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0B6E6E"/>
                </a:solidFill>
                <a:latin typeface="Helvetica Neue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800">
                <a:solidFill>
                  <a:srgbClr val="FFFFFF"/>
                </a:solidFill>
                <a:latin typeface="Helvetica Neue"/>
              </a:rPr>
              <a:t>¿Cómo Viaja un Argumento?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9FC4C4"/>
                </a:solidFill>
                <a:latin typeface="Helvetica Neue"/>
              </a:rPr>
              <a:t>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La memoria del programa: Pila (Stack) y Montículo (Heap)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Marcos de llamada (Stack Frames)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Inspección de direcciones de memoria en vivo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La Pila de Llamadas (Call Stack)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El mecanismo físico de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Cada vez que se llama a una función, la CPU reserva un bloque en la memoria llamado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Marco de Pila (Stack Frame)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El marco de pila contiene: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1. Las variables locales de la función.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2. Los parámetros recibidos.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3. La dirección de retorno a la que debe volver la ejecución al terminar.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La pila funciona en régimen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LIFO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(Last In, First Out):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Al llamar, se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apila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un marco nuevo.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Al retornar (</a:t>
            </a:r>
            <a:r>
              <a:rPr sz="1800">
                <a:solidFill>
                  <a:srgbClr val="0B6E6E"/>
                </a:solidFill>
                <a:latin typeface="Menlo"/>
              </a:rPr>
              <a:t>return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), el marco se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desapila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y esa memoria queda libre.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05 · Llamadas Anidadas y Direcciones en la Pila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./build/bin/bas_05_llamadas_anidadas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Al anidar llamadas (</a:t>
            </a:r>
            <a:r>
              <a:rPr sz="1700">
                <a:solidFill>
                  <a:srgbClr val="0B6E6E"/>
                </a:solidFill>
                <a:latin typeface="Menlo"/>
              </a:rPr>
              <a:t>main -&gt; nivel_1 -&gt; nivel_2 -&gt; nivel_3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), las direcciones </a:t>
            </a:r>
            <a:r>
              <a:rPr b="1" sz="1800">
                <a:solidFill>
                  <a:srgbClr val="142638"/>
                </a:solidFill>
                <a:latin typeface="Helvetica Neue"/>
              </a:rPr>
              <a:t>bajan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progresivamente.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Al retornar, los marcos se destruyen y las direcciones se reutilizan limpiamente.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Los parámetros son simplemente variables locales ubicadas dentro de ese marco.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2024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0B6E6E"/>
                </a:solidFill>
                <a:latin typeface="Helvetica Neue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800">
                <a:solidFill>
                  <a:srgbClr val="FFFFFF"/>
                </a:solidFill>
                <a:latin typeface="Helvetica Neue"/>
              </a:rPr>
              <a:t>Paso de Argumentos por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9FC4C4"/>
                </a:solidFill>
                <a:latin typeface="Helvetica Neue"/>
              </a:rPr>
              <a:t>25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Mecánica: la copia exacta en el marco llamado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Independencia absoluta de variables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El problema clásico de swap_roto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¿Cuándo es el paso por valor la decisión correcta?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¿Qué es el Paso por Valor?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Copia independiente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En el paso por valor, el argumento se evalúa y su resultado se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copia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en el parámetro.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El parámetro es una variable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completamente nueva e independiente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Propiedades clave: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Tiene su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propia dirección de memoria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distinta a la del argumento.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Cualquier modificación dentro de la función afecta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únicamente a la copia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La variable original en el llamador queda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100% blindada e intacta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06 · Demostración con Direcciones de Memoria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./build/bin/bas_06_paso_por_valor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Imprimimos </a:t>
            </a:r>
            <a:r>
              <a:rPr sz="1700">
                <a:solidFill>
                  <a:srgbClr val="0B6E6E"/>
                </a:solidFill>
                <a:latin typeface="Menlo"/>
              </a:rPr>
              <a:t>&amp;original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en main y </a:t>
            </a:r>
            <a:r>
              <a:rPr sz="1700">
                <a:solidFill>
                  <a:srgbClr val="0B6E6E"/>
                </a:solidFill>
                <a:latin typeface="Menlo"/>
              </a:rPr>
              <a:t>&amp;copia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dentro de la función: </a:t>
            </a:r>
            <a:r>
              <a:rPr b="1" sz="1800">
                <a:solidFill>
                  <a:srgbClr val="142638"/>
                </a:solidFill>
                <a:latin typeface="Helvetica Neue"/>
              </a:rPr>
              <a:t>son direcciones distintas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Asignar </a:t>
            </a:r>
            <a:r>
              <a:rPr sz="1700">
                <a:solidFill>
                  <a:srgbClr val="0B6E6E"/>
                </a:solidFill>
                <a:latin typeface="Menlo"/>
              </a:rPr>
              <a:t>copia = 999;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no altera el valor 42 original.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Para que un cálculo salga de una función por valor, debe usarse </a:t>
            </a:r>
            <a:r>
              <a:rPr sz="1700">
                <a:solidFill>
                  <a:srgbClr val="0B6E6E"/>
                </a:solidFill>
                <a:latin typeface="Menlo"/>
              </a:rPr>
              <a:t>return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07 · El Intercambio que NO Intercambia (swap_roto)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0637215" cy="3072384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01952"/>
            <a:ext cx="50292" cy="2926080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75104"/>
            <a:ext cx="10225735" cy="2798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void intercambia_mal(int a, int b)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temp = a;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a = b;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b = temp;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    // Dentro de la función, 'a' y 'b' SÍ cambiaron...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} </a:t>
            </a:r>
            <a:r>
              <a:rPr sz="1400" b="0">
                <a:solidFill>
                  <a:srgbClr val="6B7A74"/>
                </a:solidFill>
                <a:latin typeface="Menlo"/>
              </a:rPr>
              <a:t>// ...pero aquí mueren 'a' y 'b', que eran copias de la pila.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int main()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x = 1, y = 2;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intercambia_mal(x, y);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std::cout &lt;&lt; "x=" &lt;&lt; x &lt;&lt; " y=" &lt;&lt; y &lt;&lt; '\n'; </a:t>
            </a:r>
            <a:r>
              <a:rPr sz="1400" b="0">
                <a:solidFill>
                  <a:srgbClr val="6B7A74"/>
                </a:solidFill>
                <a:latin typeface="Menlo"/>
              </a:rPr>
              <a:t>// Imprime: x=1 y=2 (¡Sin cambios!)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0235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0B6E6E"/>
                </a:solidFill>
                <a:latin typeface="Helvetica Neue"/>
              </a:rPr>
              <a:t>La lógica del intercambio es perfecta. Lo que falló fue el canal de comunicación.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08 · ¿Cuándo Usar Paso por Valor?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El valor cuando conviene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Regla de oro de diseño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El paso por valor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NO es un error ni una mala práctica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; es la opción óptima para: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1.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Tipos fundamentales pequeños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</a:t>
            </a:r>
            <a:r>
              <a:rPr sz="1800">
                <a:solidFill>
                  <a:srgbClr val="0B6E6E"/>
                </a:solidFill>
                <a:latin typeface="Menlo"/>
              </a:rPr>
              <a:t>int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</a:t>
            </a:r>
            <a:r>
              <a:rPr sz="1800">
                <a:solidFill>
                  <a:srgbClr val="0B6E6E"/>
                </a:solidFill>
                <a:latin typeface="Menlo"/>
              </a:rPr>
              <a:t>float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</a:t>
            </a:r>
            <a:r>
              <a:rPr sz="1800">
                <a:solidFill>
                  <a:srgbClr val="0B6E6E"/>
                </a:solidFill>
                <a:latin typeface="Menlo"/>
              </a:rPr>
              <a:t>double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</a:t>
            </a:r>
            <a:r>
              <a:rPr sz="1800">
                <a:solidFill>
                  <a:srgbClr val="0B6E6E"/>
                </a:solidFill>
                <a:latin typeface="Menlo"/>
              </a:rPr>
              <a:t>char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</a:t>
            </a:r>
            <a:r>
              <a:rPr sz="1800">
                <a:solidFill>
                  <a:srgbClr val="0B6E6E"/>
                </a:solidFill>
                <a:latin typeface="Menlo"/>
              </a:rPr>
              <a:t>bool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(ocupan 1 a 8 bytes).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2.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Funciones matemáticas puras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cálculo de áreas, raíces, conversiones de unidades.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3.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Copias de trabajo intencionales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algoritmos donde modificamos el contador dentro de la función (ej. </a:t>
            </a:r>
            <a:r>
              <a:rPr sz="1800">
                <a:solidFill>
                  <a:srgbClr val="0B6E6E"/>
                </a:solidFill>
                <a:latin typeface="Menlo"/>
              </a:rPr>
              <a:t>cuenta_digitos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4.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Protección absoluta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cuando el llamador exige que sus datos jamás sean alterados.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Helvetica Neue"/>
              </a:rPr>
              <a:t>Práctica 1 · Funciones y Paso por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9FC4C4"/>
                </a:solidFill>
                <a:latin typeface="Helvetica Neue"/>
              </a:rPr>
              <a:t>15 minutos   ·   ejercicios/practica-1-funciones-y-valor.md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6372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</a:pPr>
            <a:r>
              <a:rPr sz="1900" b="1">
                <a:solidFill>
                  <a:srgbClr val="0B6E6E"/>
                </a:solidFill>
                <a:latin typeface="Helvetica Neue"/>
              </a:rPr>
              <a:t>1.  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Ejercicio 1: Predecir la salida de la función </a:t>
            </a:r>
            <a:r>
              <a:rPr sz="1800">
                <a:solidFill>
                  <a:srgbClr val="0B6E6E"/>
                </a:solidFill>
                <a:latin typeface="Menlo"/>
              </a:rPr>
              <a:t>misterio(a, b)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 sin compilar.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0B6E6E"/>
                </a:solidFill>
                <a:latin typeface="Helvetica Neue"/>
              </a:rPr>
              <a:t>2.  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Ejercicio 2: Encontrar por qué </a:t>
            </a:r>
            <a:r>
              <a:rPr sz="1800">
                <a:solidFill>
                  <a:srgbClr val="0B6E6E"/>
                </a:solidFill>
                <a:latin typeface="Menlo"/>
              </a:rPr>
              <a:t>duplica(n)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 no modifica el original y corregirla con </a:t>
            </a:r>
            <a:r>
              <a:rPr sz="1800">
                <a:solidFill>
                  <a:srgbClr val="0B6E6E"/>
                </a:solidFill>
                <a:latin typeface="Menlo"/>
              </a:rPr>
              <a:t>return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.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0B6E6E"/>
                </a:solidFill>
                <a:latin typeface="Helvetica Neue"/>
              </a:rPr>
              <a:t>3.  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Ejercicio 3: Implementar </a:t>
            </a:r>
            <a:r>
              <a:rPr sz="1800">
                <a:solidFill>
                  <a:srgbClr val="0B6E6E"/>
                </a:solidFill>
                <a:latin typeface="Menlo"/>
              </a:rPr>
              <a:t>perimetro_rectangulo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, </a:t>
            </a:r>
            <a:r>
              <a:rPr sz="1800">
                <a:solidFill>
                  <a:srgbClr val="0B6E6E"/>
                </a:solidFill>
                <a:latin typeface="Menlo"/>
              </a:rPr>
              <a:t>es_multiplo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 e </a:t>
            </a:r>
            <a:r>
              <a:rPr sz="1800">
                <a:solidFill>
                  <a:srgbClr val="0B6E6E"/>
                </a:solidFill>
                <a:latin typeface="Menlo"/>
              </a:rPr>
              <a:t>imprime_cuenta_atras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.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0B6E6E"/>
                </a:solidFill>
                <a:latin typeface="Helvetica Neue"/>
              </a:rPr>
              <a:t>4.  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Reto: Escribir </a:t>
            </a:r>
            <a:r>
              <a:rPr sz="1800">
                <a:solidFill>
                  <a:srgbClr val="0B6E6E"/>
                </a:solidFill>
                <a:latin typeface="Menlo"/>
              </a:rPr>
              <a:t>factorial(n)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 iterativo usando el parámetro como copia de trabajo.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2194560"/>
            <a:ext cx="981425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b="0" sz="3400">
                <a:solidFill>
                  <a:srgbClr val="FFFFFF"/>
                </a:solidFill>
                <a:latin typeface="Helvetica Neue"/>
              </a:rPr>
              <a:t>Receso Intermedio: 10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9FC4C4"/>
                </a:solidFill>
                <a:latin typeface="Helvetica Neue"/>
              </a:rPr>
              <a:t>Estirar las piernas, tomar agua y despejar la mente antes de entrar a referencias y punteros.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2024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0B6E6E"/>
                </a:solidFill>
                <a:latin typeface="Helvetica Neue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800">
                <a:solidFill>
                  <a:srgbClr val="FFFFFF"/>
                </a:solidFill>
                <a:latin typeface="Helvetica Neue"/>
              </a:rPr>
              <a:t>Paso de Argumentos por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9FC4C4"/>
                </a:solidFill>
                <a:latin typeface="Helvetica Neue"/>
              </a:rPr>
              <a:t>30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¿Qué es una referencia? El concepto de alias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Resolución definitiva de swap mediante referencias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Devolver múltiples resultados mediante parámetros de salida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La referencia constante (</a:t>
            </a:r>
            <a:r>
              <a:rPr sz="1400">
                <a:solidFill>
                  <a:srgbClr val="0B6E6E"/>
                </a:solidFill>
                <a:latin typeface="Menlo"/>
              </a:rPr>
              <a:t>const T&amp;</a:t>
            </a:r>
            <a:r>
              <a:rPr b="0" sz="1500">
                <a:solidFill>
                  <a:srgbClr val="C5D0D8"/>
                </a:solidFill>
                <a:latin typeface="Helvetica Neue"/>
              </a:rPr>
              <a:t>): eficiencia y seguridad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09 · La Referencia: Un Segundo Nombre para un Mismo Objeto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Sintaxis y semántica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En C++, </a:t>
            </a:r>
            <a:r>
              <a:rPr sz="1800">
                <a:solidFill>
                  <a:srgbClr val="0B6E6E"/>
                </a:solidFill>
                <a:latin typeface="Menlo"/>
              </a:rPr>
              <a:t>int&amp; ref = original;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no reserva un nuevo entero: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Crea un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alias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o apodo que referencia directamente a </a:t>
            </a:r>
            <a:r>
              <a:rPr sz="1800">
                <a:solidFill>
                  <a:srgbClr val="0B6E6E"/>
                </a:solidFill>
                <a:latin typeface="Menlo"/>
              </a:rPr>
              <a:t>original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Reglas estrictas de las referencias: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1. Comparten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exactamente la misma dirección de memoria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(</a:t>
            </a:r>
            <a:r>
              <a:rPr sz="1800">
                <a:solidFill>
                  <a:srgbClr val="0B6E6E"/>
                </a:solidFill>
                <a:latin typeface="Menlo"/>
              </a:rPr>
              <a:t>&amp;ref == &amp;original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2.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Deben inicializarse obligatoriamente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al declararse.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3.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No se pueden reapuntar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una vez atada a una variable, cualquier asignación modifica el valor del objeto referenciado.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09 · Referencias y Direcciones en Vivo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./build/bin/bas_09_referencia_alias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Demostración: </a:t>
            </a:r>
            <a:r>
              <a:rPr sz="1700">
                <a:solidFill>
                  <a:srgbClr val="0B6E6E"/>
                </a:solidFill>
                <a:latin typeface="Menlo"/>
              </a:rPr>
              <a:t>&amp;alias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y </a:t>
            </a:r>
            <a:r>
              <a:rPr sz="1700">
                <a:solidFill>
                  <a:srgbClr val="0B6E6E"/>
                </a:solidFill>
                <a:latin typeface="Menlo"/>
              </a:rPr>
              <a:t>&amp;valor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imprimen exactamente el mismo valor hexadecimal.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Modificar </a:t>
            </a:r>
            <a:r>
              <a:rPr sz="1700">
                <a:solidFill>
                  <a:srgbClr val="0B6E6E"/>
                </a:solidFill>
                <a:latin typeface="Menlo"/>
              </a:rPr>
              <a:t>alias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cambia a </a:t>
            </a:r>
            <a:r>
              <a:rPr sz="1700">
                <a:solidFill>
                  <a:srgbClr val="0B6E6E"/>
                </a:solidFill>
                <a:latin typeface="Menlo"/>
              </a:rPr>
              <a:t>valor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instantáneamente.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Asignar </a:t>
            </a:r>
            <a:r>
              <a:rPr sz="1700">
                <a:solidFill>
                  <a:srgbClr val="0B6E6E"/>
                </a:solidFill>
                <a:latin typeface="Menlo"/>
              </a:rPr>
              <a:t>alias = otro;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no reasigna la referencia: copia el valor dentro de la variable ligada.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10 · El Swap Correcto con Referencias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0637215" cy="3296412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01952"/>
            <a:ext cx="50292" cy="315010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75104"/>
            <a:ext cx="10225735" cy="3022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Recibe ALIAS de las variables del llamador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void intercambia(int&amp; a, int&amp; b)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temp = a;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a = b;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b = temp;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} </a:t>
            </a:r>
            <a:r>
              <a:rPr sz="1400" b="0">
                <a:solidFill>
                  <a:srgbClr val="6B7A74"/>
                </a:solidFill>
                <a:latin typeface="Menlo"/>
              </a:rPr>
              <a:t>// 'a' y 'b' modifican directamente a 'x' e 'y' de main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int main()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 x = 1, y = 2;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intercambia(x, y);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    // ¡Ahora sí! Imprime: x=2, y=1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std::cout &lt;&lt; "x=" &lt;&lt; x &lt;&lt; " y=" &lt;&lt; y &lt;&lt; '\n';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2638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0B6E6E"/>
                </a:solidFill>
                <a:latin typeface="Helvetica Neue"/>
              </a:rPr>
              <a:t>Dos caracteres '&amp;' en los parámetros cambiaron todo el comportamiento del programa.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11 · Devolver Varios Resultados (Parámetros de Salida)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Patrón de diseño clásico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Una función en C++ tradicionalmente solo puede devolver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un único valor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con </a:t>
            </a:r>
            <a:r>
              <a:rPr sz="1800">
                <a:solidFill>
                  <a:srgbClr val="0B6E6E"/>
                </a:solidFill>
                <a:latin typeface="Menlo"/>
              </a:rPr>
              <a:t>return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¿Qué pasa si necesitamos calcular el cociente y el residuo a la vez?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¿O calcular el mínimo y el máximo de una sola pasada?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Solución con referencias de salida: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Los parámetros de entrada se leen.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Los parámetros de salida van como referencias no constantes </a:t>
            </a:r>
            <a:r>
              <a:rPr sz="1800">
                <a:solidFill>
                  <a:srgbClr val="0B6E6E"/>
                </a:solidFill>
                <a:latin typeface="Menlo"/>
              </a:rPr>
              <a:t>int&amp; out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para ser rellenados por la función.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11 · Varios Resultados en una Sola Llamada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./build/bin/bas_11_varios_resultados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Función </a:t>
            </a:r>
            <a:r>
              <a:rPr sz="1700">
                <a:solidFill>
                  <a:srgbClr val="0B6E6E"/>
                </a:solidFill>
                <a:latin typeface="Menlo"/>
              </a:rPr>
              <a:t>division_entera(dividendo, divisor, cociente, resto)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Función </a:t>
            </a:r>
            <a:r>
              <a:rPr sz="1700">
                <a:solidFill>
                  <a:srgbClr val="0B6E6E"/>
                </a:solidFill>
                <a:latin typeface="Menlo"/>
              </a:rPr>
              <a:t>min_max(a, b, menor, mayor)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El llamador pasa sus variables y recibe los resultados calculados en un solo viaje.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12 · Referencia Constante (</a:t>
            </a:r>
            <a:r>
              <a:rPr sz="2900" b="1">
                <a:solidFill>
                  <a:srgbClr val="0B6E6E"/>
                </a:solidFill>
                <a:latin typeface="Menlo"/>
              </a:rPr>
              <a:t>const T&amp;</a:t>
            </a:r>
            <a:r>
              <a:rPr b="1" sz="3000">
                <a:solidFill>
                  <a:srgbClr val="142638"/>
                </a:solidFill>
                <a:latin typeface="Helvetica Neue"/>
              </a:rPr>
              <a:t>): La Mejor Opción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Eficiencia +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¿Qué ocurre cuando queremos la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eficiencia de no copiar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pero la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seguridad de no modificar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?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Usamos la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referencia constante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</a:t>
            </a:r>
            <a:r>
              <a:rPr sz="1800">
                <a:solidFill>
                  <a:srgbClr val="0B6E6E"/>
                </a:solidFill>
                <a:latin typeface="Menlo"/>
              </a:rPr>
              <a:t>const Tipo&amp; param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Ventajas de </a:t>
            </a:r>
            <a:r>
              <a:rPr sz="1800">
                <a:solidFill>
                  <a:srgbClr val="0B6E6E"/>
                </a:solidFill>
                <a:latin typeface="Menlo"/>
              </a:rPr>
              <a:t>const T&amp;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1.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Cero costo de copia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no duplica memoria (vital para </a:t>
            </a:r>
            <a:r>
              <a:rPr sz="1800">
                <a:solidFill>
                  <a:srgbClr val="0B6E6E"/>
                </a:solidFill>
                <a:latin typeface="Menlo"/>
              </a:rPr>
              <a:t>std::string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vectores o estructuras grandes).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2.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Seguridad garantizada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el compilador prohíbe cualquier intento de modificación dentro de la función.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3.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Acepta literales y temporales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permite llamadas como </a:t>
            </a:r>
            <a:r>
              <a:rPr sz="1800">
                <a:solidFill>
                  <a:srgbClr val="0B6E6E"/>
                </a:solidFill>
                <a:latin typeface="Menlo"/>
              </a:rPr>
              <a:t>imprime(42)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o </a:t>
            </a:r>
            <a:r>
              <a:rPr sz="1800">
                <a:solidFill>
                  <a:srgbClr val="0B6E6E"/>
                </a:solidFill>
                <a:latin typeface="Menlo"/>
              </a:rPr>
              <a:t>f(x + 5)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cosa que </a:t>
            </a:r>
            <a:r>
              <a:rPr sz="1800">
                <a:solidFill>
                  <a:srgbClr val="0B6E6E"/>
                </a:solidFill>
                <a:latin typeface="Menlo"/>
              </a:rPr>
              <a:t>int&amp;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rechaza.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12 · const en Parámetros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./build/bin/bas_12_const_en_parametros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Demostración de cómo el compilador bloquea la asignación si se intenta modificar un parámetro </a:t>
            </a:r>
            <a:r>
              <a:rPr sz="1700">
                <a:solidFill>
                  <a:srgbClr val="0B6E6E"/>
                </a:solidFill>
                <a:latin typeface="Menlo"/>
              </a:rPr>
              <a:t>const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Comprobación de que </a:t>
            </a:r>
            <a:r>
              <a:rPr sz="1700">
                <a:solidFill>
                  <a:srgbClr val="0B6E6E"/>
                </a:solidFill>
                <a:latin typeface="Menlo"/>
              </a:rPr>
              <a:t>const T&amp;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acepta tanto variables como expresiones temporales.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2024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0B6E6E"/>
                </a:solidFill>
                <a:latin typeface="Helvetica Neue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800">
                <a:solidFill>
                  <a:srgbClr val="FFFFFF"/>
                </a:solidFill>
                <a:latin typeface="Helvetica Neue"/>
              </a:rPr>
              <a:t>Punteros Básicos y Comparativa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9FC4C4"/>
                </a:solidFill>
                <a:latin typeface="Helvetica Neue"/>
              </a:rPr>
              <a:t>20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El puntero: una variable que almacena una dirección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Operador de dirección </a:t>
            </a:r>
            <a:r>
              <a:rPr sz="1400">
                <a:solidFill>
                  <a:srgbClr val="0B6E6E"/>
                </a:solidFill>
                <a:latin typeface="Menlo"/>
              </a:rPr>
              <a:t>&amp;</a:t>
            </a:r>
            <a:r>
              <a:rPr b="0" sz="1500">
                <a:solidFill>
                  <a:srgbClr val="C5D0D8"/>
                </a:solidFill>
                <a:latin typeface="Helvetica Neue"/>
              </a:rPr>
              <a:t> y operador de indirección </a:t>
            </a:r>
            <a:r>
              <a:rPr sz="1400">
                <a:solidFill>
                  <a:srgbClr val="0B6E6E"/>
                </a:solidFill>
                <a:latin typeface="Menlo"/>
              </a:rPr>
              <a:t>*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Comparativa práctica: Valor vs. Referencia vs. Puntero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13 · ¿Qué es un Puntero?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La tercera forma de comunicar funciones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Un puntero es una variable cuyo valor es la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dirección de memoria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de otra variable.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Dos operadores fundamentales: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sz="1800">
                <a:solidFill>
                  <a:srgbClr val="0B6E6E"/>
                </a:solidFill>
                <a:latin typeface="Menlo"/>
              </a:rPr>
              <a:t>&amp;variable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obtiene la dirección de memoria de la variable.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sz="1800">
                <a:solidFill>
                  <a:srgbClr val="0B6E6E"/>
                </a:solidFill>
                <a:latin typeface="Menlo"/>
              </a:rPr>
              <a:t>*puntero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desreferencia o accede al dato que reside en esa dirección.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Diferencias clave con las referencias: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El puntero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puede ser nulo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(</a:t>
            </a:r>
            <a:r>
              <a:rPr sz="1800">
                <a:solidFill>
                  <a:srgbClr val="0B6E6E"/>
                </a:solidFill>
                <a:latin typeface="Menlo"/>
              </a:rPr>
              <a:t>nullptr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El puntero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puede cambiar de dirección (reapuntarse)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a lo largo del tiempo.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En la llamada, el llamador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hace explícito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que pasa una dirección: </a:t>
            </a:r>
            <a:r>
              <a:rPr sz="1800">
                <a:solidFill>
                  <a:srgbClr val="0B6E6E"/>
                </a:solidFill>
                <a:latin typeface="Menlo"/>
              </a:rPr>
              <a:t>f(&amp;x)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Tabla Maestra: Valor vs. Referencia vs. Puntero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Matriz de decisión para el programador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2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4069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Característica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Paso por Valor (`int n`)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Paso por Referencia (`int&amp; n`)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Paso por Puntero (`int* p`)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¿Copia el dato?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Sí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 (duplica valor)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No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 (es un alias)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No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 (copia la dirección de 8B)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¿Puede modificar original?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Sí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 (o solo lectura con </a:t>
                      </a:r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const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)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Sí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 (desreferenciando </a:t>
                      </a:r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*p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)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Sintaxis en la llamada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B33"/>
                          </a:solidFill>
                          <a:latin typeface="Menlo"/>
                        </a:rPr>
                        <a:t>f(x)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f(x)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 (transparente)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f(&amp;x)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 (explícito con </a:t>
                      </a:r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&amp;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¿Puede ser nulo?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No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No (siempre atado)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Sí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 (puede ser </a:t>
                      </a:r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nullptr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)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¿Cuándo se usa?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Tipos fundamentales pequeños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Uso general preferido en C++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Opcionalidad (</a:t>
                      </a:r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nullptr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) o arreglos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13 · Punteros Básicos en Ejecución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./build/bin/bas_13_punteros_basicos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Declaración de puntero: </a:t>
            </a:r>
            <a:r>
              <a:rPr sz="1700">
                <a:solidFill>
                  <a:srgbClr val="0B6E6E"/>
                </a:solidFill>
                <a:latin typeface="Menlo"/>
              </a:rPr>
              <a:t>int* ptr = &amp;x;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Lectura y modificación a través de </a:t>
            </a:r>
            <a:r>
              <a:rPr sz="1700">
                <a:solidFill>
                  <a:srgbClr val="0B6E6E"/>
                </a:solidFill>
                <a:latin typeface="Menlo"/>
              </a:rPr>
              <a:t>*ptr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Manejo seguro de punteros nulos con </a:t>
            </a:r>
            <a:r>
              <a:rPr sz="1700">
                <a:solidFill>
                  <a:srgbClr val="0B6E6E"/>
                </a:solidFill>
                <a:latin typeface="Menlo"/>
              </a:rPr>
              <a:t>if (ptr != nullptr)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7160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600">
                <a:solidFill>
                  <a:srgbClr val="FFFFFF"/>
                </a:solidFill>
                <a:latin typeface="Helvetica Neue"/>
              </a:rPr>
              <a:t>Práctica 2 · Referencias y Punteros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402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9FC4C4"/>
                </a:solidFill>
                <a:latin typeface="Helvetica Neue"/>
              </a:rPr>
              <a:t>15 minutos   ·   ejercicios/practica-2-referencias-y-punteros.md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6372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</a:pPr>
            <a:r>
              <a:rPr sz="1900" b="1">
                <a:solidFill>
                  <a:srgbClr val="0B6E6E"/>
                </a:solidFill>
                <a:latin typeface="Helvetica Neue"/>
              </a:rPr>
              <a:t>1.  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Ejercicio 1: Elegir la forma de paso adecuada (</a:t>
            </a:r>
            <a:r>
              <a:rPr sz="1800">
                <a:solidFill>
                  <a:srgbClr val="0B6E6E"/>
                </a:solidFill>
                <a:latin typeface="Menlo"/>
              </a:rPr>
              <a:t>T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, </a:t>
            </a:r>
            <a:r>
              <a:rPr sz="1800">
                <a:solidFill>
                  <a:srgbClr val="0B6E6E"/>
                </a:solidFill>
                <a:latin typeface="Menlo"/>
              </a:rPr>
              <a:t>T&amp;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, </a:t>
            </a:r>
            <a:r>
              <a:rPr sz="1800">
                <a:solidFill>
                  <a:srgbClr val="0B6E6E"/>
                </a:solidFill>
                <a:latin typeface="Menlo"/>
              </a:rPr>
              <a:t>const T&amp;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) para 5 firmas de funciones.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0B6E6E"/>
                </a:solidFill>
                <a:latin typeface="Helvetica Neue"/>
              </a:rPr>
              <a:t>2.  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Ejercicio 2: Predecir la salida de un programa con referencias y asignaciones cruzadas.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0B6E6E"/>
                </a:solidFill>
                <a:latin typeface="Helvetica Neue"/>
              </a:rPr>
              <a:t>3.  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Ejercicio 3: Implementar </a:t>
            </a:r>
            <a:r>
              <a:rPr sz="1800">
                <a:solidFill>
                  <a:srgbClr val="0B6E6E"/>
                </a:solidFill>
                <a:latin typeface="Menlo"/>
              </a:rPr>
              <a:t>divide(a, b, cociente, resto)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 primero con referencias y luego con punteros.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0B6E6E"/>
                </a:solidFill>
                <a:latin typeface="Helvetica Neue"/>
              </a:rPr>
              <a:t>4.  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Reto: Corregir </a:t>
            </a:r>
            <a:r>
              <a:rPr sz="1800">
                <a:solidFill>
                  <a:srgbClr val="0B6E6E"/>
                </a:solidFill>
                <a:latin typeface="Menlo"/>
              </a:rPr>
              <a:t>pon_a_cero(n)</a:t>
            </a:r>
            <a:r>
              <a:rPr b="0" sz="1900">
                <a:solidFill>
                  <a:srgbClr val="E4EAEE"/>
                </a:solidFill>
                <a:latin typeface="Helvetica Neue"/>
              </a:rPr>
              <a:t> para que modifique la variable del llamador.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2194560"/>
            <a:ext cx="981425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b="0" sz="3400">
                <a:solidFill>
                  <a:srgbClr val="FFFFFF"/>
                </a:solidFill>
                <a:latin typeface="Helvetica Neue"/>
              </a:rPr>
              <a:t>Segundo Receso: 10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9FC4C4"/>
                </a:solidFill>
                <a:latin typeface="Helvetica Neue"/>
              </a:rPr>
              <a:t>Tomar café y estirarse. Al volver: el puente entre funciones y arreglos.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2024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0B6E6E"/>
                </a:solidFill>
                <a:latin typeface="Helvetica Neue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800">
                <a:solidFill>
                  <a:srgbClr val="FFFFFF"/>
                </a:solidFill>
                <a:latin typeface="Helvetica Neue"/>
              </a:rPr>
              <a:t>Arreglos Unidimensionales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9FC4C4"/>
                </a:solidFill>
                <a:latin typeface="Helvetica Neue"/>
              </a:rPr>
              <a:t>25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¿Qué es un arreglo en memoria? Bloques contiguos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Declaración, inicialización e indexación con corchetes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Algoritmos de recorrido: suma, promedio, búsqueda y extremos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Peligro mortal en C++: acceso fuera de rango (Out of Bounds)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14 · Anatomía de un Arreglo en C++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Contigüidad e indexación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Un arreglo es una colección finita de elementos del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mismo tipo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, almacenados de forma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estrictamente contigua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en la memoria.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Sintaxis: </a:t>
            </a:r>
            <a:r>
              <a:rPr sz="1800">
                <a:solidFill>
                  <a:srgbClr val="0B6E6E"/>
                </a:solidFill>
                <a:latin typeface="Menlo"/>
              </a:rPr>
              <a:t>Tipo nombre[TAMANO];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(ej. </a:t>
            </a:r>
            <a:r>
              <a:rPr sz="1800">
                <a:solidFill>
                  <a:srgbClr val="0B6E6E"/>
                </a:solidFill>
                <a:latin typeface="Menlo"/>
              </a:rPr>
              <a:t>int notas[5];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La indexación comienza siempre en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cero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(</a:t>
            </a:r>
            <a:r>
              <a:rPr sz="1800">
                <a:solidFill>
                  <a:srgbClr val="0B6E6E"/>
                </a:solidFill>
                <a:latin typeface="Menlo"/>
              </a:rPr>
              <a:t>0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a </a:t>
            </a:r>
            <a:r>
              <a:rPr sz="1800">
                <a:solidFill>
                  <a:srgbClr val="0B6E6E"/>
                </a:solidFill>
                <a:latin typeface="Menlo"/>
              </a:rPr>
              <a:t>TAMANO - 1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Cálculo directo de memoria: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Dirección del elemento </a:t>
            </a:r>
            <a:r>
              <a:rPr sz="1800">
                <a:solidFill>
                  <a:srgbClr val="0B6E6E"/>
                </a:solidFill>
                <a:latin typeface="Menlo"/>
              </a:rPr>
              <a:t>i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</a:t>
            </a:r>
            <a:r>
              <a:rPr sz="1800">
                <a:solidFill>
                  <a:srgbClr val="0B6E6E"/>
                </a:solidFill>
                <a:latin typeface="Menlo"/>
              </a:rPr>
              <a:t>dir(v[i]) = dir_base + i * sizeof(Tipo)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Acceder a </a:t>
            </a:r>
            <a:r>
              <a:rPr sz="1800">
                <a:solidFill>
                  <a:srgbClr val="0B6E6E"/>
                </a:solidFill>
                <a:latin typeface="Menlo"/>
              </a:rPr>
              <a:t>v[i]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es una operación matemática inmediata de tiempo constante $\mathcal{O}(1)$.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14 · Arreglo Básico y Direcciones Contiguas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./build/bin/bas_14_arreglo_basico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Inspeccionamos las direcciones de </a:t>
            </a:r>
            <a:r>
              <a:rPr sz="1700">
                <a:solidFill>
                  <a:srgbClr val="0B6E6E"/>
                </a:solidFill>
                <a:latin typeface="Menlo"/>
              </a:rPr>
              <a:t>v[0], v[1], v[2]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: cada una dista exactamente </a:t>
            </a:r>
            <a:r>
              <a:rPr b="1" sz="1800">
                <a:solidFill>
                  <a:srgbClr val="142638"/>
                </a:solidFill>
                <a:latin typeface="Helvetica Neue"/>
              </a:rPr>
              <a:t>4 bytes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de la anterior.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Inicialización con lista de valores </a:t>
            </a:r>
            <a:r>
              <a:rPr sz="1700">
                <a:solidFill>
                  <a:srgbClr val="0B6E6E"/>
                </a:solidFill>
                <a:latin typeface="Menlo"/>
              </a:rPr>
              <a:t>{10, 20, 30}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e inicialización en ceros </a:t>
            </a:r>
            <a:r>
              <a:rPr sz="1700">
                <a:solidFill>
                  <a:srgbClr val="0B6E6E"/>
                </a:solidFill>
                <a:latin typeface="Menlo"/>
              </a:rPr>
              <a:t>{0}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Recorrido clásico con bucle </a:t>
            </a:r>
            <a:r>
              <a:rPr sz="1700">
                <a:solidFill>
                  <a:srgbClr val="0B6E6E"/>
                </a:solidFill>
                <a:latin typeface="Menlo"/>
              </a:rPr>
              <a:t>for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15 · Algoritmos Fundamentales sobre Arreglos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Patrones de programación estándar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Todo recorrido sobre un arreglo sigue el mismo esqueleto de bucle </a:t>
            </a:r>
            <a:r>
              <a:rPr sz="1800">
                <a:solidFill>
                  <a:srgbClr val="0B6E6E"/>
                </a:solidFill>
                <a:latin typeface="Menlo"/>
              </a:rPr>
              <a:t>for (int i = 0; i &lt; n; ++i)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1.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Acumulación / Suma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variable acumuladora inicializada en 0.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2.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Cálculo de la Media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suma dividida entre el total de elementos </a:t>
            </a:r>
            <a:r>
              <a:rPr sz="1800">
                <a:solidFill>
                  <a:srgbClr val="0B6E6E"/>
                </a:solidFill>
                <a:latin typeface="Menlo"/>
              </a:rPr>
              <a:t>static_cast&lt;double&gt;(suma) / n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3.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Búsqueda de Extremos (Máximo y Mínimo)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inicializar </a:t>
            </a:r>
            <a:r>
              <a:rPr sz="1800">
                <a:solidFill>
                  <a:srgbClr val="0B6E6E"/>
                </a:solidFill>
                <a:latin typeface="Menlo"/>
              </a:rPr>
              <a:t>maximo = v[0]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y comparar con cada elemento.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4.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Búsqueda Lineal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: recorrer hasta encontrar el valor y devolver su posición, o </a:t>
            </a:r>
            <a:r>
              <a:rPr sz="1800">
                <a:solidFill>
                  <a:srgbClr val="0B6E6E"/>
                </a:solidFill>
                <a:latin typeface="Menlo"/>
              </a:rPr>
              <a:t>-1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si no existe.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15 · Recorridos y Estadísticas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./build/bin/bas_15_arreglo_recorridos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Cálculo de suma, promedio, valor máximo y conteo de aprobados.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Demostración de búsqueda de un elemento con parada temprana (</a:t>
            </a:r>
            <a:r>
              <a:rPr sz="1700">
                <a:solidFill>
                  <a:srgbClr val="0B6E6E"/>
                </a:solidFill>
                <a:latin typeface="Menlo"/>
              </a:rPr>
              <a:t>break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16 · El Peligro: Fuera de Rango (Undefined Behavior)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0637215" cy="2624328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01952"/>
            <a:ext cx="50292" cy="2478024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75104"/>
            <a:ext cx="10225735" cy="2350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int v[5] = {10, 20, 30, 40, 50}; </a:t>
            </a:r>
            <a:r>
              <a:rPr sz="1400" b="0">
                <a:solidFill>
                  <a:srgbClr val="6B7A74"/>
                </a:solidFill>
                <a:latin typeface="Menlo"/>
              </a:rPr>
              <a:t>// Índices válidos: 0, 1, 2, 3, 4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ERROR GRAVE: el bucle llega hasta i = 5 (error de uno en uno)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for (int i = 0; i &lt;= 5; ++i) {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   std::cout &lt;&lt; v[i] &lt;&lt; '\n';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}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v[5] NO EXISTE: accede a memoria adyacente no reservada.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En C++ esto NO lanza excepción automática; es COMPORTAMIENTO INDEFINIDO.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Puede imprimir basura, corromper otras variables o abortar (Segfault).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5429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0B6E6E"/>
                </a:solidFill>
                <a:latin typeface="Helvetica Neue"/>
              </a:rPr>
              <a:t>En C++, el programador es el único responsable de no salirse de los límites del arreglo.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2024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0B6E6E"/>
                </a:solidFill>
                <a:latin typeface="Helvetica Neue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800">
                <a:solidFill>
                  <a:srgbClr val="FFFFFF"/>
                </a:solidFill>
                <a:latin typeface="Helvetica Neue"/>
              </a:rPr>
              <a:t>Arreglos como Parámetros: El Decaimiento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9FC4C4"/>
                </a:solidFill>
                <a:latin typeface="Helvetica Neue"/>
              </a:rPr>
              <a:t>20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La gran sorpresa: ¿un arreglo se copia al llamar a una función?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El fenómeno del decaimiento a puntero (Array Decay)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Por qué el tamaño SIEMPRE debe pasarse aparte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Proteger arreglos de solo lectura con </a:t>
            </a:r>
            <a:r>
              <a:rPr sz="1400">
                <a:solidFill>
                  <a:srgbClr val="0B6E6E"/>
                </a:solidFill>
                <a:latin typeface="Menlo"/>
              </a:rPr>
              <a:t>const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17 · La Gran Regla: Un Arreglo NUNCA se Copia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La bisagra teórica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Cuando pasas un arreglo a una función en C y C++: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El arreglo NO se copia elemento por elemento.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El identificador del arreglo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decae automáticamente a un puntero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al primer elemento: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sz="1800">
                <a:solidFill>
                  <a:srgbClr val="0B6E6E"/>
                </a:solidFill>
                <a:latin typeface="Menlo"/>
              </a:rPr>
              <a:t>void f(int v[10])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 es idéntico a  </a:t>
            </a:r>
            <a:r>
              <a:rPr sz="1800">
                <a:solidFill>
                  <a:srgbClr val="0B6E6E"/>
                </a:solidFill>
                <a:latin typeface="Menlo"/>
              </a:rPr>
              <a:t>void f(int v[])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 y a  </a:t>
            </a:r>
            <a:r>
              <a:rPr sz="1800">
                <a:solidFill>
                  <a:srgbClr val="0B6E6E"/>
                </a:solidFill>
                <a:latin typeface="Menlo"/>
              </a:rPr>
              <a:t>void f(int* v)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Consecuencias inmediatas: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1. La función recibe la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dirección de memoria de inicio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2. Cualquier modificación </a:t>
            </a:r>
            <a:r>
              <a:rPr sz="1800">
                <a:solidFill>
                  <a:srgbClr val="0B6E6E"/>
                </a:solidFill>
                <a:latin typeface="Menlo"/>
              </a:rPr>
              <a:t>v[i] = x;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modifica el arreglo original del llamador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3. Dentro de la función, </a:t>
            </a:r>
            <a:r>
              <a:rPr sz="1800">
                <a:solidFill>
                  <a:srgbClr val="0B6E6E"/>
                </a:solidFill>
                <a:latin typeface="Menlo"/>
              </a:rPr>
              <a:t>sizeof(v)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mide 8 bytes (el puntero),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NO el tamaño del arreglo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17 · Demostración del Decaimiento y sizeof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./build/bin/bas_17_arreglo_a_funcion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En main: </a:t>
            </a:r>
            <a:r>
              <a:rPr sz="1700">
                <a:solidFill>
                  <a:srgbClr val="0B6E6E"/>
                </a:solidFill>
                <a:latin typeface="Menlo"/>
              </a:rPr>
              <a:t>sizeof(datos)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vale </a:t>
            </a:r>
            <a:r>
              <a:rPr b="1" sz="1800">
                <a:solidFill>
                  <a:srgbClr val="142638"/>
                </a:solidFill>
                <a:latin typeface="Helvetica Neue"/>
              </a:rPr>
              <a:t>40 bytes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(10 enteros × 4 bytes).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Dentro de la función: </a:t>
            </a:r>
            <a:r>
              <a:rPr sz="1700">
                <a:solidFill>
                  <a:srgbClr val="0B6E6E"/>
                </a:solidFill>
                <a:latin typeface="Menlo"/>
              </a:rPr>
              <a:t>sizeof(v)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vale </a:t>
            </a:r>
            <a:r>
              <a:rPr b="1" sz="1800">
                <a:solidFill>
                  <a:srgbClr val="142638"/>
                </a:solidFill>
                <a:latin typeface="Helvetica Neue"/>
              </a:rPr>
              <a:t>8 bytes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(el tamaño de una dirección de 64 bits).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La función puede modificar </a:t>
            </a:r>
            <a:r>
              <a:rPr sz="1700">
                <a:solidFill>
                  <a:srgbClr val="0B6E6E"/>
                </a:solidFill>
                <a:latin typeface="Menlo"/>
              </a:rPr>
              <a:t>datos[0]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directamente porque tiene su dirección física.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Para protegerlo de modificaciones accidentales, se declara como </a:t>
            </a:r>
            <a:r>
              <a:rPr sz="1700">
                <a:solidFill>
                  <a:srgbClr val="0B6E6E"/>
                </a:solidFill>
                <a:latin typeface="Menlo"/>
              </a:rPr>
              <a:t>const int v[]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La Firma Estándar de una Función con Arreglos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0637215" cy="3296412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01952"/>
            <a:ext cx="50292" cy="315010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75104"/>
            <a:ext cx="10225735" cy="30220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REGLA FUNDAMENTAL DE DISEÑO EN C/C++: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Como el arreglo pierde su tamaño al decaer,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el número de elementos DEBE pasarse como segundo parámetro.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1. Si la función solo lee el arreglo: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double promedio(const int v[], int n);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2. Si la función necesita modificar el arreglo: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void ordenar(int v[], int n);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3. En la llamada: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int notas[30];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double p = promedio(notas, 30); </a:t>
            </a:r>
            <a:r>
              <a:rPr sz="1400" b="0">
                <a:solidFill>
                  <a:srgbClr val="6B7A74"/>
                </a:solidFill>
                <a:latin typeface="Menlo"/>
              </a:rPr>
              <a:t>// se pasa el arreglo y su tamaño aparte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2638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0B6E6E"/>
                </a:solidFill>
                <a:latin typeface="Helvetica Neue"/>
              </a:rPr>
              <a:t>Fórmula universal: 'const T v[], int n' para leer; 'T v[], int n' para modificar.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2024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0B6E6E"/>
                </a:solidFill>
                <a:latin typeface="Helvetica Neue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800">
                <a:solidFill>
                  <a:srgbClr val="FFFFFF"/>
                </a:solidFill>
                <a:latin typeface="Helvetica Neue"/>
              </a:rPr>
              <a:t>Arreglos Multidimensionales (Matrices)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9FC4C4"/>
                </a:solidFill>
                <a:latin typeface="Helvetica Neue"/>
              </a:rPr>
              <a:t>20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Concepto de matriz: filas y columnas en memoria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El orden Row-Major: almacenamiento lineal contiguo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Fórmula de indexación física: i * COLUMNAS + j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Pasar una matriz a una función: por qué el número de columnas es obligatorio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18 · Matrices en C++: Filas y Columnas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Representación conceptual vs. física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Una matriz se declara como: </a:t>
            </a:r>
            <a:r>
              <a:rPr sz="1800">
                <a:solidFill>
                  <a:srgbClr val="0B6E6E"/>
                </a:solidFill>
                <a:latin typeface="Menlo"/>
              </a:rPr>
              <a:t>Tipo matriz[FILAS][COLUMNAS];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Visualmente la pensamos como una tabla 2D con coordenadas </a:t>
            </a:r>
            <a:r>
              <a:rPr sz="1800">
                <a:solidFill>
                  <a:srgbClr val="0B6E6E"/>
                </a:solidFill>
                <a:latin typeface="Menlo"/>
              </a:rPr>
              <a:t>[fila][columna]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Pero la memoria RAM de la computadora es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estrictamente lineal (1D)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En C++, las matrices se almacenan en </a:t>
            </a:r>
            <a:r>
              <a:rPr b="1" sz="1900">
                <a:solidFill>
                  <a:srgbClr val="142638"/>
                </a:solidFill>
                <a:latin typeface="Helvetica Neue"/>
              </a:rPr>
              <a:t>Row-Major Order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(fila tras fila contigua):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Primero se guardan todos los elementos de la Fila 0.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Inmediatamente después, todos los elementos de la Fila 1, y así sucesivamente.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18 · Matriz Básica y Fórmula de Indexación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./build/bin/bas_18_matriz_basica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Inspección de direcciones: </a:t>
            </a:r>
            <a:r>
              <a:rPr sz="1700">
                <a:solidFill>
                  <a:srgbClr val="0B6E6E"/>
                </a:solidFill>
                <a:latin typeface="Menlo"/>
              </a:rPr>
              <a:t>m[0][3]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y </a:t>
            </a:r>
            <a:r>
              <a:rPr sz="1700">
                <a:solidFill>
                  <a:srgbClr val="0B6E6E"/>
                </a:solidFill>
                <a:latin typeface="Menlo"/>
              </a:rPr>
              <a:t>m[1][0]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están pegados consecutivamente en memoria.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Fórmula que calcula el compilador entre bastidores: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$$\text{dir}(m[i][j]) = \text{dir\_base} + (i \times \text{COLUMNAS} + j) \times \text{sizeof}(Tipo)$$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Recorrido estándar con dos bucles anidados </a:t>
            </a:r>
            <a:r>
              <a:rPr sz="1700">
                <a:solidFill>
                  <a:srgbClr val="0B6E6E"/>
                </a:solidFill>
                <a:latin typeface="Menlo"/>
              </a:rPr>
              <a:t>for (int i...) for (int j...)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19 · Pasar una Matriz a una Función: ¿Por qué [ ][C]?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0637215" cy="3072384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01952"/>
            <a:ext cx="50292" cy="2926080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975104"/>
            <a:ext cx="10225735" cy="2798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¿Por qué esto COMPILA: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void imprime(const int m[][4], int filas);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...pero esto da ERROR de compilación: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void imprime(const int m[][], int filas); // ¡ERROR!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1E2B3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EXPLICACIÓN MATEMÁTICA: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Para calcular dónde empieza la fila 'i', el compilador NECESITA saber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cuántos elementos mide cada fila: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    desplazamiento = (i * COLUMNAS + j)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Sin el número de columnas, el compilador NO PUEDE saltar a la siguiente fila.</a:t>
            </a:r>
          </a:p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400" b="0">
                <a:solidFill>
                  <a:srgbClr val="6B7A74"/>
                </a:solidFill>
                <a:latin typeface="Menlo"/>
              </a:rPr>
              <a:t>// El número de filas no hace falta para el salto; por eso se pasa como parámetro aparte.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02352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0B6E6E"/>
                </a:solidFill>
                <a:latin typeface="Helvetica Neue"/>
              </a:rPr>
              <a:t>Todas las dimensiones salvo la primera son obligatorias en la firma del parámetro.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19 · Matriz como Parámetro en Vivo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./build/bin/bas_19_matriz_a_funcion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Implementación de </a:t>
            </a:r>
            <a:r>
              <a:rPr sz="1700">
                <a:solidFill>
                  <a:srgbClr val="0B6E6E"/>
                </a:solidFill>
                <a:latin typeface="Menlo"/>
              </a:rPr>
              <a:t>imprime_matriz(const int m[][4], int filas)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Cálculo de suma por filas y suma por columnas pasando matrices a funciones.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Protección con </a:t>
            </a:r>
            <a:r>
              <a:rPr sz="1700">
                <a:solidFill>
                  <a:srgbClr val="0B6E6E"/>
                </a:solidFill>
                <a:latin typeface="Menlo"/>
              </a:rPr>
              <a:t>const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para evitar alteraciones accidentales.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92024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200" b="1">
                <a:solidFill>
                  <a:srgbClr val="0B6E6E"/>
                </a:solidFill>
                <a:latin typeface="Helvetica Neue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6372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800">
                <a:solidFill>
                  <a:srgbClr val="FFFFFF"/>
                </a:solidFill>
                <a:latin typeface="Helvetica Neue"/>
              </a:rPr>
              <a:t>Repaso Final, Práctica 3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20624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600">
                <a:solidFill>
                  <a:srgbClr val="9FC4C4"/>
                </a:solidFill>
                <a:latin typeface="Helvetica Neue"/>
              </a:rPr>
              <a:t>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006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Las 4 firmas esenciales del lenguaje en un solo programa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Presentación de la Práctica 3 (tarea / laboratorio)</a:t>
            </a:r>
          </a:p>
          <a:p>
            <a:pPr>
              <a:spcBef>
                <a:spcPts val="500"/>
              </a:spcBef>
            </a:pPr>
            <a:r>
              <a:rPr b="0" sz="1500">
                <a:solidFill>
                  <a:srgbClr val="C5D0D8"/>
                </a:solidFill>
                <a:latin typeface="Helvetica Neue"/>
              </a:rPr>
              <a:t>·  Resumen para llevar y sesión de preguntas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Demostración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20 · El Gran Resumen en un Solo Código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0637215" cy="502920"/>
          </a:xfrm>
          <a:prstGeom prst="roundRect">
            <a:avLst>
              <a:gd name="adj" fmla="val 3000"/>
            </a:avLst>
          </a:prstGeom>
          <a:solidFill>
            <a:srgbClr val="F0F2F1"/>
          </a:solidFill>
          <a:ln w="9525">
            <a:solidFill>
              <a:srgbClr val="DDE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47672"/>
            <a:ext cx="50292" cy="356616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020824"/>
            <a:ext cx="102257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</a:pPr>
            <a:r>
              <a:rPr sz="1500" b="0">
                <a:solidFill>
                  <a:srgbClr val="1E2B33"/>
                </a:solidFill>
                <a:latin typeface="Menlo"/>
              </a:rPr>
              <a:t>./build/bin/bas_20_repaso_final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199"/>
            <a:ext cx="10637215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1. </a:t>
            </a:r>
            <a:r>
              <a:rPr sz="1700">
                <a:solidFill>
                  <a:srgbClr val="0B6E6E"/>
                </a:solidFill>
                <a:latin typeface="Menlo"/>
              </a:rPr>
              <a:t>void f(int n)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         -&gt; COPIA. La función no altera el original.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2. </a:t>
            </a:r>
            <a:r>
              <a:rPr sz="1700">
                <a:solidFill>
                  <a:srgbClr val="0B6E6E"/>
                </a:solidFill>
                <a:latin typeface="Menlo"/>
              </a:rPr>
              <a:t>void f(int&amp; n)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        -&gt; ALIAS. La función modifica directamente al llamador.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3. </a:t>
            </a:r>
            <a:r>
              <a:rPr sz="1700">
                <a:solidFill>
                  <a:srgbClr val="0B6E6E"/>
                </a:solidFill>
                <a:latin typeface="Menlo"/>
              </a:rPr>
              <a:t>void f(const int&amp; n)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  -&gt; LECTURA. Cero copias, máxima protección.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0B6E6E"/>
                </a:solidFill>
                <a:latin typeface="Helvetica Neue"/>
              </a:rPr>
              <a:t>→  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4. </a:t>
            </a:r>
            <a:r>
              <a:rPr sz="1700">
                <a:solidFill>
                  <a:srgbClr val="0B6E6E"/>
                </a:solidFill>
                <a:latin typeface="Menlo"/>
              </a:rPr>
              <a:t>void f(int v[], int n)</a:t>
            </a:r>
            <a:r>
              <a:rPr b="0" sz="1800">
                <a:solidFill>
                  <a:srgbClr val="2E3A46"/>
                </a:solidFill>
                <a:latin typeface="Helvetica Neue"/>
              </a:rPr>
              <a:t> -&gt; DIRECCIÓN. El arreglo decae y viaja sin copiarse.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Guía Rápida de Decisión para el Diseñador de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Árbol de decisiones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4" cy="2825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2173"/>
                <a:gridCol w="2659303"/>
                <a:gridCol w="3545738"/>
              </a:tblGrid>
              <a:tr h="40364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Situación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¿Qué tipo de paso elegir?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elvetica Neue"/>
                        </a:rPr>
                        <a:t>Ejemplo de firma</a:t>
                      </a:r>
                    </a:p>
                  </a:txBody>
                  <a:tcPr anchor="ctr" marL="109728" marR="109728">
                    <a:solidFill>
                      <a:srgbClr val="142638"/>
                    </a:solidFill>
                  </a:tcPr>
                </a:tc>
              </a:tr>
              <a:tr h="40364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Dato primitivo pequeño (</a:t>
                      </a:r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int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, </a:t>
                      </a:r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double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, </a:t>
                      </a:r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bool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) que solo se lee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Por valor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B33"/>
                          </a:solidFill>
                          <a:latin typeface="Menlo"/>
                        </a:rPr>
                        <a:t>double seno(double x);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0364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Dato primitivo que la función debe modificar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Por referencia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B33"/>
                          </a:solidFill>
                          <a:latin typeface="Menlo"/>
                        </a:rPr>
                        <a:t>void duplica(int&amp; x);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  <a:tr h="40364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Múltiples resultados calculados simultáneamente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Por referencia (salida)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B33"/>
                          </a:solidFill>
                          <a:latin typeface="Menlo"/>
                        </a:rPr>
                        <a:t>void divide(int a, int b, int&amp; c, int&amp; r);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0364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Tipo grande (</a:t>
                      </a:r>
                      <a:r>
                        <a:rPr sz="1100">
                          <a:solidFill>
                            <a:srgbClr val="0B6E6E"/>
                          </a:solidFill>
                          <a:latin typeface="Menlo"/>
                        </a:rPr>
                        <a:t>string</a:t>
                      </a:r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, clase, vector) solo para lectura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Por referencia constante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B33"/>
                          </a:solidFill>
                          <a:latin typeface="Menlo"/>
                        </a:rPr>
                        <a:t>void imprime(const std::string&amp; msg);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  <a:tr h="403642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Colección fija de elementos (arreglo)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Dirección + tamaño aparte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B33"/>
                          </a:solidFill>
                          <a:latin typeface="Menlo"/>
                        </a:rPr>
                        <a:t>int suma(const int v[], int n);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03644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2E3A46"/>
                          </a:solidFill>
                          <a:latin typeface="Helvetica Neue"/>
                        </a:rPr>
                        <a:t>Puntero opcional que puede no existir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142638"/>
                          </a:solidFill>
                          <a:latin typeface="Helvetica Neue"/>
                        </a:rPr>
                        <a:t>Por puntero (revisar `nullptr`)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B33"/>
                          </a:solidFill>
                          <a:latin typeface="Menlo"/>
                        </a:rPr>
                        <a:t>void configurar(const Config* cfg);</a:t>
                      </a:r>
                    </a:p>
                  </a:txBody>
                  <a:tcPr anchor="ctr" marL="109728" marR="109728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3000">
                <a:solidFill>
                  <a:srgbClr val="142638"/>
                </a:solidFill>
                <a:latin typeface="Helvetica Neue"/>
              </a:rPr>
              <a:t>Práctica 3 · Arreglos y Matrices (Para Llevar)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8"/>
            <a:ext cx="1371600" cy="41148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533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500">
                <a:solidFill>
                  <a:srgbClr val="74828C"/>
                </a:solidFill>
                <a:latin typeface="Helvetica Neue"/>
              </a:rPr>
              <a:t>Laboratorio de consolidación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Archivo de trabajo: </a:t>
            </a:r>
            <a:r>
              <a:rPr sz="1800">
                <a:solidFill>
                  <a:srgbClr val="0B6E6E"/>
                </a:solidFill>
                <a:latin typeface="Menlo"/>
              </a:rPr>
              <a:t>ejercicios/practica-3-arreglos.md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Contenido de los ejercicios: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1. Estadísticas de calificaciones: media, máximo, mínimo y conteo de aprobados.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2. Modificar un arreglo desde una función (</a:t>
            </a:r>
            <a:r>
              <a:rPr sz="1800">
                <a:solidFill>
                  <a:srgbClr val="0B6E6E"/>
                </a:solidFill>
                <a:latin typeface="Menlo"/>
              </a:rPr>
              <a:t>suma_a_todos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).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3. Corregir el error de uno en bucles de recorrido.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4. Invertir un arreglo en su propio sitio (*in-place*) usando </a:t>
            </a:r>
            <a:r>
              <a:rPr sz="1800">
                <a:solidFill>
                  <a:srgbClr val="0B6E6E"/>
                </a:solidFill>
                <a:latin typeface="Menlo"/>
              </a:rPr>
              <a:t>intercambia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 por referencia.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5. Suma de filas y columnas en una matriz bidimensional.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6. Reto opcional: cálculo de la matriz transpuesta $M^T$ de $3 \times 3$.</a:t>
            </a:r>
          </a:p>
          <a:p>
            <a:pPr marL="301752" indent="-301752">
              <a:spcBef>
                <a:spcPts val="1100"/>
              </a:spcBef>
            </a:pPr>
            <a:r>
              <a:rPr sz="1900">
                <a:solidFill>
                  <a:srgbClr val="0B6E6E"/>
                </a:solidFill>
                <a:latin typeface="Helvetica Neue"/>
              </a:rPr>
              <a:t>•  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Soluciones de referencia disponibles en </a:t>
            </a:r>
            <a:r>
              <a:rPr sz="1800">
                <a:solidFill>
                  <a:srgbClr val="0B6E6E"/>
                </a:solidFill>
                <a:latin typeface="Menlo"/>
              </a:rPr>
              <a:t>ejercicios/soluciones/</a:t>
            </a:r>
            <a:r>
              <a:rPr b="0" sz="1900">
                <a:solidFill>
                  <a:srgbClr val="2E3A46"/>
                </a:solidFill>
                <a:latin typeface="Helvetica Neue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7255" y="62910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>
                <a:solidFill>
                  <a:srgbClr val="74828C"/>
                </a:solidFill>
                <a:latin typeface="Helvetica Neue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148840"/>
            <a:ext cx="1828800" cy="54864"/>
          </a:xfrm>
          <a:prstGeom prst="rect">
            <a:avLst/>
          </a:prstGeom>
          <a:solidFill>
            <a:srgbClr val="0B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6372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Helvetica Neue"/>
              </a:rPr>
              <a:t>¡Muchas Gracias!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2000">
                <a:solidFill>
                  <a:srgbClr val="9FC4C4"/>
                </a:solidFill>
                <a:latin typeface="Helvetica Neue"/>
              </a:rPr>
              <a:t>Paso de Argumentos y Arreglos en C++ · Sesión Concluida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206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sz="1700">
                <a:solidFill>
                  <a:srgbClr val="FFFFFF"/>
                </a:solidFill>
                <a:latin typeface="Helvetica Neue"/>
              </a:rPr>
              <a:t>Alberto López García</a:t>
            </a:r>
          </a:p>
          <a:p>
            <a:pPr>
              <a:spcBef>
                <a:spcPts val="600"/>
              </a:spcBef>
            </a:pPr>
            <a:r>
              <a:rPr b="0" sz="1400">
                <a:solidFill>
                  <a:srgbClr val="8E9EAB"/>
                </a:solidFill>
                <a:latin typeface="Helvetica Neue"/>
              </a:rPr>
              <a:t>Repositorio: exposicion-basica · Ejemplos compilados con CMake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